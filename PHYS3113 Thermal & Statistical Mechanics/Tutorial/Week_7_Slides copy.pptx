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2" r:id="rId3"/>
    <p:sldId id="260" r:id="rId4"/>
    <p:sldId id="277" r:id="rId5"/>
    <p:sldId id="278" r:id="rId6"/>
    <p:sldId id="279" r:id="rId7"/>
    <p:sldId id="288" r:id="rId8"/>
    <p:sldId id="281" r:id="rId9"/>
    <p:sldId id="285" r:id="rId10"/>
    <p:sldId id="286" r:id="rId11"/>
    <p:sldId id="287" r:id="rId12"/>
    <p:sldId id="289" r:id="rId13"/>
    <p:sldId id="290" r:id="rId14"/>
    <p:sldId id="283" r:id="rId15"/>
    <p:sldId id="284" r:id="rId16"/>
    <p:sldId id="291" r:id="rId17"/>
    <p:sldId id="293" r:id="rId18"/>
    <p:sldId id="29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0"/>
    <p:restoredTop sz="94726"/>
  </p:normalViewPr>
  <p:slideViewPr>
    <p:cSldViewPr snapToGrid="0">
      <p:cViewPr varScale="1">
        <p:scale>
          <a:sx n="120" d="100"/>
          <a:sy n="120" d="100"/>
        </p:scale>
        <p:origin x="9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5B9BCB-FE9A-924F-A00D-59D12CCC4877}" type="datetimeFigureOut">
              <a:rPr lang="en-US" smtClean="0"/>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56E01-0120-A440-B718-AE135B258F56}" type="slidenum">
              <a:rPr lang="en-US" smtClean="0"/>
              <a:t>‹#›</a:t>
            </a:fld>
            <a:endParaRPr lang="en-US"/>
          </a:p>
        </p:txBody>
      </p:sp>
    </p:spTree>
    <p:extLst>
      <p:ext uri="{BB962C8B-B14F-4D97-AF65-F5344CB8AC3E}">
        <p14:creationId xmlns:p14="http://schemas.microsoft.com/office/powerpoint/2010/main" val="1710844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56E01-0120-A440-B718-AE135B258F56}" type="slidenum">
              <a:rPr lang="en-US" smtClean="0"/>
              <a:t>6</a:t>
            </a:fld>
            <a:endParaRPr lang="en-US"/>
          </a:p>
        </p:txBody>
      </p:sp>
    </p:spTree>
    <p:extLst>
      <p:ext uri="{BB962C8B-B14F-4D97-AF65-F5344CB8AC3E}">
        <p14:creationId xmlns:p14="http://schemas.microsoft.com/office/powerpoint/2010/main" val="3560570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E56CE-09C8-91AD-71C6-73FD3123CEB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8BEB8B1-E908-CB32-1EC1-0330C6D619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09C35C-7FB9-E74D-7C47-40A2611AA602}"/>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3B3C2C2A-84D4-0AEC-13D3-D709D24F9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5C964A-F110-DBDB-ACF3-E93AEB4A0F8E}"/>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4224752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763FC-027E-9320-2484-E571E35690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9CFC811-52EB-7C1D-DF73-AD120C2B89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8295B16-AB57-96E8-E853-61E977BA9395}"/>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8048CE6E-6118-BB63-F348-6207C16C3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F7087A-C0CB-CE21-5C87-D6934B8C3EEF}"/>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4240346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0D2E-CC3B-A7E1-1A59-AC55B76E9E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BDE008C-0642-D9C9-D96B-A6A25C230F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433CDC-E2C4-CBB6-32DD-89DA3618E80C}"/>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A0E58AF6-0A90-008A-B377-2A77CF3CE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32B30-2FF9-F858-1D57-B3ABD4D731E0}"/>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2500849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A914-34C9-5851-1387-422B5099EEE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ED5674-B387-7A21-C6EC-D158184A94C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2DBE3DE-2360-B0DE-B52E-15FA3865194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20305DC-75BF-83C4-BDF4-C85266829F03}"/>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6" name="Footer Placeholder 5">
            <a:extLst>
              <a:ext uri="{FF2B5EF4-FFF2-40B4-BE49-F238E27FC236}">
                <a16:creationId xmlns:a16="http://schemas.microsoft.com/office/drawing/2014/main" id="{E5533B3E-E59A-F7BE-B0D6-4CC8F37939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6CCAD-C4C9-1A85-DD43-D9E0F7DEB148}"/>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109962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974A1-3374-D168-2C79-26F7A0CA4DA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DCD9436-C721-8992-1CE7-B1428F9851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0667F38-0EDA-5A79-7F6A-82810697F1A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9B9DF78-F8E4-376B-7926-9E1D3B2CEC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52BA35-410A-8774-F19F-B86D52743E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9FBC69C-014E-2CED-8CAB-EA7D70EE36F7}"/>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8" name="Footer Placeholder 7">
            <a:extLst>
              <a:ext uri="{FF2B5EF4-FFF2-40B4-BE49-F238E27FC236}">
                <a16:creationId xmlns:a16="http://schemas.microsoft.com/office/drawing/2014/main" id="{D5D75C04-6B7E-16AF-E2AC-428D43AEE2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F876AC-7007-7E0E-2603-88119C58525F}"/>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279274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4344-4439-F700-4853-B02C5ED3A0A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D896377-30E5-BB9F-538B-643640C8A080}"/>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4" name="Footer Placeholder 3">
            <a:extLst>
              <a:ext uri="{FF2B5EF4-FFF2-40B4-BE49-F238E27FC236}">
                <a16:creationId xmlns:a16="http://schemas.microsoft.com/office/drawing/2014/main" id="{9EFBC320-5384-83B9-E9C6-F6EEFB7DF9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BF8D26-FEE9-0F45-8D4B-878E4BCD4A85}"/>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2559783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2C9E6-7ED8-0D32-DDFA-E08BD7D14FEE}"/>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3" name="Footer Placeholder 2">
            <a:extLst>
              <a:ext uri="{FF2B5EF4-FFF2-40B4-BE49-F238E27FC236}">
                <a16:creationId xmlns:a16="http://schemas.microsoft.com/office/drawing/2014/main" id="{6992583C-630E-9995-A1F7-D1AD94E77D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D6E1D4-F8E8-582D-5FC5-38FBE9F98B75}"/>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55049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545E-F711-48BB-EEB5-ED2950EFC25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C4C7EFE-C9D0-F607-C4A0-FA715D708E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BE613B5-CD99-229C-8BC1-D12901A2B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8931D8F-B43C-C6EF-A79E-CFCD3510E1FF}"/>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6" name="Footer Placeholder 5">
            <a:extLst>
              <a:ext uri="{FF2B5EF4-FFF2-40B4-BE49-F238E27FC236}">
                <a16:creationId xmlns:a16="http://schemas.microsoft.com/office/drawing/2014/main" id="{CCDF2637-C545-DE1E-922F-A250C35155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2570D4-C0E3-E940-2442-95E892841A14}"/>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1649947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F5FA-B90F-0B97-9EDB-1FCD03770B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CAF2F80-332F-D377-9F4F-DE0EAF5888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D3A496-6A15-A6F4-B3A1-77DBFEBA2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8C58DF-FD57-230D-402F-0BB1EC98A536}"/>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6" name="Footer Placeholder 5">
            <a:extLst>
              <a:ext uri="{FF2B5EF4-FFF2-40B4-BE49-F238E27FC236}">
                <a16:creationId xmlns:a16="http://schemas.microsoft.com/office/drawing/2014/main" id="{85BFA652-98AD-F718-D223-C8FE0600A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DB0428-DAEE-3451-D5A7-B7E5A6A92958}"/>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3246806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6F55A-F1A2-330E-814B-421D5790C63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279FEE-0D98-C9C0-DE18-34279BB5CB8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A4917F-F9E1-C66F-7125-789ABB619663}"/>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4391E5D2-528F-2C58-D22C-48FA574111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E6E21-541D-659B-C868-C2DD6393F6C5}"/>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2802690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B197A1-1EA4-714C-68C7-B32DE739938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EDD94DF-C903-9527-A311-F60F564FBF7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FB0B914-5603-BBC4-E40A-C3C2A9AEDB63}"/>
              </a:ext>
            </a:extLst>
          </p:cNvPr>
          <p:cNvSpPr>
            <a:spLocks noGrp="1"/>
          </p:cNvSpPr>
          <p:nvPr>
            <p:ph type="dt" sz="half" idx="10"/>
          </p:nvPr>
        </p:nvSpPr>
        <p:spPr/>
        <p:txBody>
          <a:body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836F7E7A-B381-0284-598E-970C0C8B4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16079F-71B5-EC6F-A34D-0AE7552B038B}"/>
              </a:ext>
            </a:extLst>
          </p:cNvPr>
          <p:cNvSpPr>
            <a:spLocks noGrp="1"/>
          </p:cNvSpPr>
          <p:nvPr>
            <p:ph type="sldNum" sz="quarter" idx="12"/>
          </p:nvPr>
        </p:nvSpPr>
        <p:spPr/>
        <p:txBody>
          <a:bodyPr/>
          <a:lstStyle/>
          <a:p>
            <a:fld id="{F7B26100-0B7E-E942-8009-3426EEB01272}" type="slidenum">
              <a:rPr lang="en-US" smtClean="0"/>
              <a:t>‹#›</a:t>
            </a:fld>
            <a:endParaRPr lang="en-US"/>
          </a:p>
        </p:txBody>
      </p:sp>
    </p:spTree>
    <p:extLst>
      <p:ext uri="{BB962C8B-B14F-4D97-AF65-F5344CB8AC3E}">
        <p14:creationId xmlns:p14="http://schemas.microsoft.com/office/powerpoint/2010/main" val="549128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2913D4-8286-98E8-0AAB-198DD8369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959CED-D623-B727-BFC4-462D2B779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D77EDD-2DA4-5952-4123-5424C8A19E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A8932C-4E60-8F46-AD96-A2426EFD1021}" type="datetimeFigureOut">
              <a:rPr lang="en-US" smtClean="0"/>
              <a:t>4/9/26</a:t>
            </a:fld>
            <a:endParaRPr lang="en-US"/>
          </a:p>
        </p:txBody>
      </p:sp>
      <p:sp>
        <p:nvSpPr>
          <p:cNvPr id="5" name="Footer Placeholder 4">
            <a:extLst>
              <a:ext uri="{FF2B5EF4-FFF2-40B4-BE49-F238E27FC236}">
                <a16:creationId xmlns:a16="http://schemas.microsoft.com/office/drawing/2014/main" id="{E3FE57E2-E761-AB89-41EA-90BCAC682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94BAC8-FDB0-A001-8F3E-86CDCA2266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B26100-0B7E-E942-8009-3426EEB01272}" type="slidenum">
              <a:rPr lang="en-US" smtClean="0"/>
              <a:t>‹#›</a:t>
            </a:fld>
            <a:endParaRPr lang="en-US"/>
          </a:p>
        </p:txBody>
      </p:sp>
    </p:spTree>
    <p:extLst>
      <p:ext uri="{BB962C8B-B14F-4D97-AF65-F5344CB8AC3E}">
        <p14:creationId xmlns:p14="http://schemas.microsoft.com/office/powerpoint/2010/main" val="929467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F86A-5A2D-7DE6-C78A-6F160C4361CA}"/>
              </a:ext>
            </a:extLst>
          </p:cNvPr>
          <p:cNvSpPr>
            <a:spLocks noGrp="1"/>
          </p:cNvSpPr>
          <p:nvPr>
            <p:ph type="ctrTitle"/>
          </p:nvPr>
        </p:nvSpPr>
        <p:spPr/>
        <p:txBody>
          <a:bodyPr/>
          <a:lstStyle/>
          <a:p>
            <a:r>
              <a:rPr lang="en-US" dirty="0"/>
              <a:t>Week 8</a:t>
            </a:r>
          </a:p>
        </p:txBody>
      </p:sp>
    </p:spTree>
    <p:extLst>
      <p:ext uri="{BB962C8B-B14F-4D97-AF65-F5344CB8AC3E}">
        <p14:creationId xmlns:p14="http://schemas.microsoft.com/office/powerpoint/2010/main" val="3490995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11F0F-AFEC-D81E-40C7-747ED17A5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4012-F610-203F-A683-37F4FBED9191}"/>
              </a:ext>
            </a:extLst>
          </p:cNvPr>
          <p:cNvSpPr>
            <a:spLocks noGrp="1"/>
          </p:cNvSpPr>
          <p:nvPr>
            <p:ph type="ctrTitle"/>
          </p:nvPr>
        </p:nvSpPr>
        <p:spPr>
          <a:xfrm>
            <a:off x="1640958" y="2190306"/>
            <a:ext cx="9144000" cy="1037813"/>
          </a:xfrm>
        </p:spPr>
        <p:txBody>
          <a:bodyPr>
            <a:normAutofit/>
          </a:bodyPr>
          <a:lstStyle/>
          <a:p>
            <a:r>
              <a:rPr lang="en-US" dirty="0"/>
              <a:t>Warm up questions!</a:t>
            </a:r>
          </a:p>
        </p:txBody>
      </p:sp>
    </p:spTree>
    <p:extLst>
      <p:ext uri="{BB962C8B-B14F-4D97-AF65-F5344CB8AC3E}">
        <p14:creationId xmlns:p14="http://schemas.microsoft.com/office/powerpoint/2010/main" val="485817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876F2-E75A-F8C1-DCE2-E5C2EE535B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427594-FC35-7829-96C6-8C527C09E122}"/>
              </a:ext>
            </a:extLst>
          </p:cNvPr>
          <p:cNvSpPr txBox="1"/>
          <p:nvPr/>
        </p:nvSpPr>
        <p:spPr>
          <a:xfrm>
            <a:off x="2515244" y="1616149"/>
            <a:ext cx="7559749" cy="1754326"/>
          </a:xfrm>
          <a:prstGeom prst="rect">
            <a:avLst/>
          </a:prstGeom>
          <a:noFill/>
        </p:spPr>
        <p:txBody>
          <a:bodyPr wrap="square" rtlCol="0">
            <a:spAutoFit/>
          </a:bodyPr>
          <a:lstStyle/>
          <a:p>
            <a:pPr algn="ctr"/>
            <a:r>
              <a:rPr lang="en-US" sz="3600" dirty="0"/>
              <a:t>What is the difference between Gibbs Entropy and Boltzmann’s Entropy? When would you use either?</a:t>
            </a:r>
          </a:p>
        </p:txBody>
      </p:sp>
      <p:sp>
        <p:nvSpPr>
          <p:cNvPr id="5" name="TextBox 4">
            <a:extLst>
              <a:ext uri="{FF2B5EF4-FFF2-40B4-BE49-F238E27FC236}">
                <a16:creationId xmlns:a16="http://schemas.microsoft.com/office/drawing/2014/main" id="{F0E6B9DD-2763-B68F-F870-4236156D1EB8}"/>
              </a:ext>
            </a:extLst>
          </p:cNvPr>
          <p:cNvSpPr txBox="1"/>
          <p:nvPr/>
        </p:nvSpPr>
        <p:spPr>
          <a:xfrm>
            <a:off x="942754" y="481433"/>
            <a:ext cx="7187609" cy="461665"/>
          </a:xfrm>
          <a:prstGeom prst="rect">
            <a:avLst/>
          </a:prstGeom>
          <a:noFill/>
        </p:spPr>
        <p:txBody>
          <a:bodyPr wrap="square" rtlCol="0">
            <a:spAutoFit/>
          </a:bodyPr>
          <a:lstStyle/>
          <a:p>
            <a:r>
              <a:rPr lang="en-US" sz="2400" dirty="0"/>
              <a:t>From the quiz…</a:t>
            </a:r>
          </a:p>
        </p:txBody>
      </p:sp>
    </p:spTree>
    <p:extLst>
      <p:ext uri="{BB962C8B-B14F-4D97-AF65-F5344CB8AC3E}">
        <p14:creationId xmlns:p14="http://schemas.microsoft.com/office/powerpoint/2010/main" val="269223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14D58-B3D4-B5E4-4063-40336F2F25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1DD26B-83BB-AC80-C195-5B6A3BFCFF91}"/>
              </a:ext>
            </a:extLst>
          </p:cNvPr>
          <p:cNvSpPr txBox="1"/>
          <p:nvPr/>
        </p:nvSpPr>
        <p:spPr>
          <a:xfrm>
            <a:off x="2302513" y="1471608"/>
            <a:ext cx="7586974" cy="1754326"/>
          </a:xfrm>
          <a:prstGeom prst="rect">
            <a:avLst/>
          </a:prstGeom>
          <a:noFill/>
        </p:spPr>
        <p:txBody>
          <a:bodyPr wrap="square" rtlCol="0">
            <a:spAutoFit/>
          </a:bodyPr>
          <a:lstStyle/>
          <a:p>
            <a:pPr algn="ctr"/>
            <a:r>
              <a:rPr lang="en-US" sz="3600" dirty="0"/>
              <a:t>What is the difference between Gibbs Entropy and Boltzmann’s Entropy? When would you use either?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0CED369-35B1-442C-EEB2-E408889970A9}"/>
                  </a:ext>
                </a:extLst>
              </p:cNvPr>
              <p:cNvSpPr txBox="1"/>
              <p:nvPr/>
            </p:nvSpPr>
            <p:spPr>
              <a:xfrm>
                <a:off x="818708" y="3429000"/>
                <a:ext cx="11174818" cy="3046988"/>
              </a:xfrm>
              <a:prstGeom prst="rect">
                <a:avLst/>
              </a:prstGeom>
              <a:noFill/>
            </p:spPr>
            <p:txBody>
              <a:bodyPr wrap="square" rtlCol="0">
                <a:spAutoFit/>
              </a:bodyPr>
              <a:lstStyle/>
              <a:p>
                <a:r>
                  <a:rPr lang="en-US" sz="2400" dirty="0">
                    <a:solidFill>
                      <a:schemeClr val="accent1"/>
                    </a:solidFill>
                  </a:rPr>
                  <a:t>Nothing, as long as you are counting things correctly!</a:t>
                </a:r>
              </a:p>
              <a:p>
                <a:r>
                  <a:rPr lang="en-US" sz="2400" dirty="0"/>
                  <a:t>Boltzmann Entropy: </a:t>
                </a:r>
                <a14:m>
                  <m:oMath xmlns:m="http://schemas.openxmlformats.org/officeDocument/2006/math">
                    <m:r>
                      <a:rPr lang="en-AU" sz="2400" i="1">
                        <a:solidFill>
                          <a:schemeClr val="accent1"/>
                        </a:solidFill>
                        <a:latin typeface="Cambria Math" panose="02040503050406030204" pitchFamily="18" charset="0"/>
                      </a:rPr>
                      <m:t>𝑆</m:t>
                    </m:r>
                    <m:r>
                      <a:rPr lang="en-AU" sz="2400" i="1">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func>
                      <m:funcPr>
                        <m:ctrlPr>
                          <a:rPr lang="en-AU" sz="2400" i="1">
                            <a:solidFill>
                              <a:schemeClr val="accent1"/>
                            </a:solidFill>
                            <a:latin typeface="Cambria Math" panose="02040503050406030204" pitchFamily="18" charset="0"/>
                          </a:rPr>
                        </m:ctrlPr>
                      </m:funcPr>
                      <m:fName>
                        <m:r>
                          <m:rPr>
                            <m:sty m:val="p"/>
                          </m:rPr>
                          <a:rPr lang="en-AU" sz="2400">
                            <a:solidFill>
                              <a:schemeClr val="accent1"/>
                            </a:solidFill>
                            <a:latin typeface="Cambria Math" panose="02040503050406030204" pitchFamily="18" charset="0"/>
                          </a:rPr>
                          <m:t>ln</m:t>
                        </m:r>
                      </m:fName>
                      <m:e>
                        <m:r>
                          <m:rPr>
                            <m:sty m:val="p"/>
                          </m:rPr>
                          <a:rPr lang="en-AU" sz="2400">
                            <a:solidFill>
                              <a:schemeClr val="accent1"/>
                            </a:solidFill>
                            <a:latin typeface="Cambria Math" panose="02040503050406030204" pitchFamily="18" charset="0"/>
                          </a:rPr>
                          <m:t>Ω</m:t>
                        </m:r>
                      </m:e>
                    </m:func>
                  </m:oMath>
                </a14:m>
                <a:r>
                  <a:rPr lang="en-US" sz="2400" dirty="0"/>
                  <a:t>     </a:t>
                </a:r>
                <a:r>
                  <a:rPr lang="en-US" sz="2400" dirty="0">
                    <a:solidFill>
                      <a:schemeClr val="accent1"/>
                    </a:solidFill>
                  </a:rPr>
                  <a:t>- used for when microstates have an equal 							probability (microcanonical case)</a:t>
                </a:r>
                <a:endParaRPr lang="en-US" sz="2400" dirty="0"/>
              </a:p>
              <a:p>
                <a:r>
                  <a:rPr lang="en-US" sz="2400" dirty="0"/>
                  <a:t>Gibbs Entropy: </a:t>
                </a:r>
                <a14:m>
                  <m:oMath xmlns:m="http://schemas.openxmlformats.org/officeDocument/2006/math">
                    <m:r>
                      <a:rPr lang="en-AU" sz="2400" b="0" i="1" smtClean="0">
                        <a:solidFill>
                          <a:schemeClr val="accent1"/>
                        </a:solidFill>
                        <a:latin typeface="Cambria Math" panose="02040503050406030204" pitchFamily="18" charset="0"/>
                      </a:rPr>
                      <m:t>𝑆</m:t>
                    </m:r>
                    <m:r>
                      <a:rPr lang="en-AU" sz="2400" b="0" i="1" smtClean="0">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r>
                      <a:rPr lang="en-AU" sz="2400" b="0" i="1" smtClean="0">
                        <a:solidFill>
                          <a:schemeClr val="accent1"/>
                        </a:solidFill>
                        <a:latin typeface="Cambria Math" panose="02040503050406030204" pitchFamily="18" charset="0"/>
                      </a:rPr>
                      <m:t> </m:t>
                    </m:r>
                    <m:nary>
                      <m:naryPr>
                        <m:chr m:val="∑"/>
                        <m:subHide m:val="on"/>
                        <m:supHide m:val="on"/>
                        <m:ctrlPr>
                          <a:rPr lang="en-AU" sz="2400" b="0" i="1" smtClean="0">
                            <a:solidFill>
                              <a:schemeClr val="accent1"/>
                            </a:solidFill>
                            <a:latin typeface="Cambria Math" panose="02040503050406030204" pitchFamily="18" charset="0"/>
                          </a:rPr>
                        </m:ctrlPr>
                      </m:naryPr>
                      <m:sub/>
                      <m:sup/>
                      <m:e>
                        <m:sSub>
                          <m:sSubPr>
                            <m:ctrlPr>
                              <a:rPr lang="en-AU" sz="2400" b="0" i="1" smtClean="0">
                                <a:solidFill>
                                  <a:schemeClr val="accent1"/>
                                </a:solidFill>
                                <a:latin typeface="Cambria Math" panose="02040503050406030204" pitchFamily="18" charset="0"/>
                              </a:rPr>
                            </m:ctrlPr>
                          </m:sSubPr>
                          <m:e>
                            <m:r>
                              <a:rPr lang="en-AU" sz="2400" b="0" i="1" smtClean="0">
                                <a:solidFill>
                                  <a:schemeClr val="accent1"/>
                                </a:solidFill>
                                <a:latin typeface="Cambria Math" panose="02040503050406030204" pitchFamily="18" charset="0"/>
                              </a:rPr>
                              <m:t>𝑝</m:t>
                            </m:r>
                          </m:e>
                          <m:sub>
                            <m:r>
                              <a:rPr lang="en-AU" sz="2400" b="0" i="1" smtClean="0">
                                <a:solidFill>
                                  <a:schemeClr val="accent1"/>
                                </a:solidFill>
                                <a:latin typeface="Cambria Math" panose="02040503050406030204" pitchFamily="18" charset="0"/>
                              </a:rPr>
                              <m:t>𝑖</m:t>
                            </m:r>
                          </m:sub>
                        </m:sSub>
                      </m:e>
                    </m:nary>
                    <m:func>
                      <m:funcPr>
                        <m:ctrlPr>
                          <a:rPr lang="en-AU" sz="2400" b="0" i="1" smtClean="0">
                            <a:solidFill>
                              <a:schemeClr val="accent1"/>
                            </a:solidFill>
                            <a:latin typeface="Cambria Math" panose="02040503050406030204" pitchFamily="18" charset="0"/>
                          </a:rPr>
                        </m:ctrlPr>
                      </m:funcPr>
                      <m:fName>
                        <m:r>
                          <m:rPr>
                            <m:sty m:val="p"/>
                          </m:rPr>
                          <a:rPr lang="en-AU" sz="2400" b="0" i="0" smtClean="0">
                            <a:solidFill>
                              <a:schemeClr val="accent1"/>
                            </a:solidFill>
                            <a:latin typeface="Cambria Math" panose="02040503050406030204" pitchFamily="18" charset="0"/>
                          </a:rPr>
                          <m:t>ln</m:t>
                        </m:r>
                      </m:fName>
                      <m:e>
                        <m:sSub>
                          <m:sSubPr>
                            <m:ctrlPr>
                              <a:rPr lang="en-AU" sz="2400" b="0" i="1" smtClean="0">
                                <a:solidFill>
                                  <a:schemeClr val="accent1"/>
                                </a:solidFill>
                                <a:latin typeface="Cambria Math" panose="02040503050406030204" pitchFamily="18" charset="0"/>
                              </a:rPr>
                            </m:ctrlPr>
                          </m:sSubPr>
                          <m:e>
                            <m:r>
                              <a:rPr lang="en-AU" sz="2400" b="0" i="1" smtClean="0">
                                <a:solidFill>
                                  <a:schemeClr val="accent1"/>
                                </a:solidFill>
                                <a:latin typeface="Cambria Math" panose="02040503050406030204" pitchFamily="18" charset="0"/>
                              </a:rPr>
                              <m:t>𝑝</m:t>
                            </m:r>
                          </m:e>
                          <m:sub>
                            <m:r>
                              <a:rPr lang="en-AU" sz="2400" b="0" i="1" smtClean="0">
                                <a:solidFill>
                                  <a:schemeClr val="accent1"/>
                                </a:solidFill>
                                <a:latin typeface="Cambria Math" panose="02040503050406030204" pitchFamily="18" charset="0"/>
                              </a:rPr>
                              <m:t>𝑖</m:t>
                            </m:r>
                          </m:sub>
                        </m:sSub>
                      </m:e>
                    </m:func>
                  </m:oMath>
                </a14:m>
                <a:r>
                  <a:rPr lang="en-US" sz="2400" dirty="0"/>
                  <a:t> </a:t>
                </a:r>
                <a:r>
                  <a:rPr lang="en-US" sz="2400" dirty="0">
                    <a:solidFill>
                      <a:schemeClr val="accent1"/>
                    </a:solidFill>
                  </a:rPr>
                  <a:t>- Generalized case, when microstates don’t have						equal probability- </a:t>
                </a:r>
                <a:r>
                  <a:rPr lang="en-US" sz="2400" dirty="0" err="1">
                    <a:solidFill>
                      <a:schemeClr val="accent1"/>
                    </a:solidFill>
                  </a:rPr>
                  <a:t>eg</a:t>
                </a:r>
                <a:r>
                  <a:rPr lang="en-US" sz="2400" dirty="0">
                    <a:solidFill>
                      <a:schemeClr val="accent1"/>
                    </a:solidFill>
                  </a:rPr>
                  <a:t> when they are dependent 						on temperature.  Then we would get out the 						partition function </a:t>
                </a:r>
                <a:r>
                  <a:rPr lang="en-US" sz="2400" dirty="0">
                    <a:solidFill>
                      <a:schemeClr val="accent1"/>
                    </a:solidFill>
                    <a:sym typeface="Wingdings" pitchFamily="2" charset="2"/>
                  </a:rPr>
                  <a:t>, and it becomes</a:t>
                </a:r>
              </a:p>
              <a:p>
                <a:r>
                  <a:rPr lang="en-US" sz="2400" dirty="0">
                    <a:solidFill>
                      <a:schemeClr val="accent1"/>
                    </a:solidFill>
                    <a:sym typeface="Wingdings" pitchFamily="2" charset="2"/>
                  </a:rPr>
                  <a:t>					 </a:t>
                </a:r>
                <a14:m>
                  <m:oMath xmlns:m="http://schemas.openxmlformats.org/officeDocument/2006/math">
                    <m:r>
                      <m:rPr>
                        <m:sty m:val="p"/>
                      </m:rPr>
                      <a:rPr lang="en-AU" sz="2400" b="0" i="0" smtClean="0">
                        <a:solidFill>
                          <a:schemeClr val="accent1"/>
                        </a:solidFill>
                        <a:latin typeface="Cambria Math" panose="02040503050406030204" pitchFamily="18" charset="0"/>
                      </a:rPr>
                      <m:t>S</m:t>
                    </m:r>
                    <m:r>
                      <a:rPr lang="en-AU" sz="2400" b="0" i="0" smtClean="0">
                        <a:solidFill>
                          <a:schemeClr val="accent1"/>
                        </a:solidFill>
                        <a:latin typeface="Cambria Math" panose="02040503050406030204" pitchFamily="18" charset="0"/>
                      </a:rPr>
                      <m:t>=</m:t>
                    </m:r>
                    <m:r>
                      <a:rPr lang="en-AU" sz="2400" i="1">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r>
                      <a:rPr lang="en-AU" sz="2400" b="0" i="1" smtClean="0">
                        <a:solidFill>
                          <a:schemeClr val="accent1"/>
                        </a:solidFill>
                        <a:latin typeface="Cambria Math" panose="02040503050406030204" pitchFamily="18" charset="0"/>
                      </a:rPr>
                      <m:t> </m:t>
                    </m:r>
                    <m:r>
                      <a:rPr lang="en-AU" sz="2400" b="0" i="1" smtClean="0">
                        <a:solidFill>
                          <a:schemeClr val="accent1"/>
                        </a:solidFill>
                        <a:latin typeface="Cambria Math" panose="02040503050406030204" pitchFamily="18" charset="0"/>
                      </a:rPr>
                      <m:t>𝛽</m:t>
                    </m:r>
                    <m:r>
                      <a:rPr lang="en-AU" sz="2400" i="1">
                        <a:solidFill>
                          <a:schemeClr val="accent1"/>
                        </a:solidFill>
                        <a:latin typeface="Cambria Math" panose="02040503050406030204" pitchFamily="18" charset="0"/>
                      </a:rPr>
                      <m:t> </m:t>
                    </m:r>
                    <m:acc>
                      <m:accPr>
                        <m:chr m:val="̅"/>
                        <m:ctrlPr>
                          <a:rPr lang="en-AU" sz="2400" b="0" i="1" smtClean="0">
                            <a:solidFill>
                              <a:schemeClr val="accent1"/>
                            </a:solidFill>
                            <a:latin typeface="Cambria Math" panose="02040503050406030204" pitchFamily="18" charset="0"/>
                          </a:rPr>
                        </m:ctrlPr>
                      </m:accPr>
                      <m:e>
                        <m:r>
                          <a:rPr lang="en-AU" sz="2400" b="0" i="1" smtClean="0">
                            <a:solidFill>
                              <a:schemeClr val="accent1"/>
                            </a:solidFill>
                            <a:latin typeface="Cambria Math" panose="02040503050406030204" pitchFamily="18" charset="0"/>
                          </a:rPr>
                          <m:t>𝐸</m:t>
                        </m:r>
                      </m:e>
                    </m:acc>
                    <m:r>
                      <a:rPr lang="en-AU" sz="2400" b="0" i="1" smtClean="0">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func>
                      <m:funcPr>
                        <m:ctrlPr>
                          <a:rPr lang="en-AU" sz="2400" b="0" i="1" smtClean="0">
                            <a:solidFill>
                              <a:schemeClr val="accent1"/>
                            </a:solidFill>
                            <a:latin typeface="Cambria Math" panose="02040503050406030204" pitchFamily="18" charset="0"/>
                          </a:rPr>
                        </m:ctrlPr>
                      </m:funcPr>
                      <m:fName>
                        <m:r>
                          <m:rPr>
                            <m:sty m:val="p"/>
                          </m:rPr>
                          <a:rPr lang="en-AU" sz="2400" b="0" i="0" smtClean="0">
                            <a:solidFill>
                              <a:schemeClr val="accent1"/>
                            </a:solidFill>
                            <a:latin typeface="Cambria Math" panose="02040503050406030204" pitchFamily="18" charset="0"/>
                          </a:rPr>
                          <m:t>ln</m:t>
                        </m:r>
                      </m:fName>
                      <m:e>
                        <m:r>
                          <a:rPr lang="en-AU" sz="2400" b="0" i="1" smtClean="0">
                            <a:solidFill>
                              <a:schemeClr val="accent1"/>
                            </a:solidFill>
                            <a:latin typeface="Cambria Math" panose="02040503050406030204" pitchFamily="18" charset="0"/>
                          </a:rPr>
                          <m:t>𝑍</m:t>
                        </m:r>
                      </m:e>
                    </m:func>
                  </m:oMath>
                </a14:m>
                <a:endParaRPr lang="en-US" sz="2400" dirty="0">
                  <a:solidFill>
                    <a:schemeClr val="accent1"/>
                  </a:solidFill>
                </a:endParaRPr>
              </a:p>
            </p:txBody>
          </p:sp>
        </mc:Choice>
        <mc:Fallback xmlns="">
          <p:sp>
            <p:nvSpPr>
              <p:cNvPr id="3" name="TextBox 2">
                <a:extLst>
                  <a:ext uri="{FF2B5EF4-FFF2-40B4-BE49-F238E27FC236}">
                    <a16:creationId xmlns:a16="http://schemas.microsoft.com/office/drawing/2014/main" id="{80CED369-35B1-442C-EEB2-E408889970A9}"/>
                  </a:ext>
                </a:extLst>
              </p:cNvPr>
              <p:cNvSpPr txBox="1">
                <a:spLocks noRot="1" noChangeAspect="1" noMove="1" noResize="1" noEditPoints="1" noAdjustHandles="1" noChangeArrowheads="1" noChangeShapeType="1" noTextEdit="1"/>
              </p:cNvSpPr>
              <p:nvPr/>
            </p:nvSpPr>
            <p:spPr>
              <a:xfrm>
                <a:off x="818708" y="3429000"/>
                <a:ext cx="11174818" cy="3046988"/>
              </a:xfrm>
              <a:prstGeom prst="rect">
                <a:avLst/>
              </a:prstGeom>
              <a:blipFill>
                <a:blip r:embed="rId2"/>
                <a:stretch>
                  <a:fillRect l="-795" t="-2083" b="-250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C9FBEBF-79EF-D10B-0DCF-FC05D7F8EAAE}"/>
              </a:ext>
            </a:extLst>
          </p:cNvPr>
          <p:cNvSpPr txBox="1"/>
          <p:nvPr/>
        </p:nvSpPr>
        <p:spPr>
          <a:xfrm>
            <a:off x="942754" y="481433"/>
            <a:ext cx="7187609" cy="461665"/>
          </a:xfrm>
          <a:prstGeom prst="rect">
            <a:avLst/>
          </a:prstGeom>
          <a:noFill/>
        </p:spPr>
        <p:txBody>
          <a:bodyPr wrap="square" rtlCol="0">
            <a:spAutoFit/>
          </a:bodyPr>
          <a:lstStyle/>
          <a:p>
            <a:r>
              <a:rPr lang="en-US" sz="2400" dirty="0"/>
              <a:t>From the quiz…</a:t>
            </a:r>
          </a:p>
        </p:txBody>
      </p:sp>
    </p:spTree>
    <p:extLst>
      <p:ext uri="{BB962C8B-B14F-4D97-AF65-F5344CB8AC3E}">
        <p14:creationId xmlns:p14="http://schemas.microsoft.com/office/powerpoint/2010/main" val="3924705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9FCB7-39B2-3E64-E9D5-252BAD322C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A87980-A4AA-9673-EF3C-59F2FA85B204}"/>
              </a:ext>
            </a:extLst>
          </p:cNvPr>
          <p:cNvSpPr txBox="1"/>
          <p:nvPr/>
        </p:nvSpPr>
        <p:spPr>
          <a:xfrm>
            <a:off x="818708" y="492066"/>
            <a:ext cx="7187609" cy="461665"/>
          </a:xfrm>
          <a:prstGeom prst="rect">
            <a:avLst/>
          </a:prstGeom>
          <a:noFill/>
        </p:spPr>
        <p:txBody>
          <a:bodyPr wrap="square" rtlCol="0">
            <a:spAutoFit/>
          </a:bodyPr>
          <a:lstStyle/>
          <a:p>
            <a:r>
              <a:rPr lang="en-US" sz="2400" dirty="0"/>
              <a:t>Let’s put it into practice!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05B941F-4064-9123-820C-BA460B1F370A}"/>
                  </a:ext>
                </a:extLst>
              </p:cNvPr>
              <p:cNvSpPr txBox="1"/>
              <p:nvPr/>
            </p:nvSpPr>
            <p:spPr>
              <a:xfrm>
                <a:off x="266457" y="2934587"/>
                <a:ext cx="7187609" cy="830997"/>
              </a:xfrm>
              <a:prstGeom prst="rect">
                <a:avLst/>
              </a:prstGeom>
              <a:noFill/>
            </p:spPr>
            <p:txBody>
              <a:bodyPr wrap="square" rtlCol="0">
                <a:spAutoFit/>
              </a:bodyPr>
              <a:lstStyle/>
              <a:p>
                <a:r>
                  <a:rPr lang="en-US" sz="2400" dirty="0"/>
                  <a:t>Boltzmann Entropy: </a:t>
                </a:r>
                <a14:m>
                  <m:oMath xmlns:m="http://schemas.openxmlformats.org/officeDocument/2006/math">
                    <m:r>
                      <a:rPr lang="en-AU" sz="2400" i="1">
                        <a:solidFill>
                          <a:schemeClr val="accent1"/>
                        </a:solidFill>
                        <a:latin typeface="Cambria Math" panose="02040503050406030204" pitchFamily="18" charset="0"/>
                      </a:rPr>
                      <m:t>𝑆</m:t>
                    </m:r>
                    <m:r>
                      <a:rPr lang="en-AU" sz="2400" i="1">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func>
                      <m:funcPr>
                        <m:ctrlPr>
                          <a:rPr lang="en-AU" sz="2400" b="0" i="1" smtClean="0">
                            <a:solidFill>
                              <a:schemeClr val="accent1"/>
                            </a:solidFill>
                            <a:latin typeface="Cambria Math" panose="02040503050406030204" pitchFamily="18" charset="0"/>
                          </a:rPr>
                        </m:ctrlPr>
                      </m:funcPr>
                      <m:fName>
                        <m:r>
                          <m:rPr>
                            <m:sty m:val="p"/>
                          </m:rPr>
                          <a:rPr lang="en-AU" sz="2400" b="0" i="0" smtClean="0">
                            <a:solidFill>
                              <a:schemeClr val="accent1"/>
                            </a:solidFill>
                            <a:latin typeface="Cambria Math" panose="02040503050406030204" pitchFamily="18" charset="0"/>
                          </a:rPr>
                          <m:t>ln</m:t>
                        </m:r>
                      </m:fName>
                      <m:e>
                        <m:r>
                          <m:rPr>
                            <m:sty m:val="p"/>
                          </m:rPr>
                          <a:rPr lang="en-AU" sz="2400" b="0" i="0" smtClean="0">
                            <a:solidFill>
                              <a:schemeClr val="accent1"/>
                            </a:solidFill>
                            <a:latin typeface="Cambria Math" panose="02040503050406030204" pitchFamily="18" charset="0"/>
                          </a:rPr>
                          <m:t>Ω</m:t>
                        </m:r>
                      </m:e>
                    </m:func>
                  </m:oMath>
                </a14:m>
                <a:endParaRPr lang="en-AU" sz="2400" b="0" dirty="0">
                  <a:solidFill>
                    <a:schemeClr val="accent1"/>
                  </a:solidFill>
                </a:endParaRPr>
              </a:p>
              <a:p>
                <a:r>
                  <a:rPr lang="en-US" sz="2400" dirty="0"/>
                  <a:t>Gibbs Entropy: </a:t>
                </a:r>
                <a14:m>
                  <m:oMath xmlns:m="http://schemas.openxmlformats.org/officeDocument/2006/math">
                    <m:r>
                      <a:rPr lang="en-AU" sz="2400" i="1">
                        <a:solidFill>
                          <a:schemeClr val="accent1"/>
                        </a:solidFill>
                        <a:latin typeface="Cambria Math" panose="02040503050406030204" pitchFamily="18" charset="0"/>
                      </a:rPr>
                      <m:t>𝑆</m:t>
                    </m:r>
                    <m:r>
                      <a:rPr lang="en-AU" sz="2400" i="1">
                        <a:solidFill>
                          <a:schemeClr val="accent1"/>
                        </a:solidFill>
                        <a:latin typeface="Cambria Math" panose="02040503050406030204" pitchFamily="18" charset="0"/>
                      </a:rPr>
                      <m:t>=−</m:t>
                    </m:r>
                    <m:r>
                      <a:rPr lang="en-AU" sz="2400" b="0" i="1" smtClean="0">
                        <a:solidFill>
                          <a:schemeClr val="accent1"/>
                        </a:solidFill>
                        <a:latin typeface="Cambria Math" panose="02040503050406030204" pitchFamily="18" charset="0"/>
                      </a:rPr>
                      <m:t>𝑘</m:t>
                    </m:r>
                    <m:r>
                      <a:rPr lang="en-AU" sz="2400" i="1">
                        <a:solidFill>
                          <a:schemeClr val="accent1"/>
                        </a:solidFill>
                        <a:latin typeface="Cambria Math" panose="02040503050406030204" pitchFamily="18" charset="0"/>
                      </a:rPr>
                      <m:t> </m:t>
                    </m:r>
                    <m:nary>
                      <m:naryPr>
                        <m:chr m:val="∑"/>
                        <m:subHide m:val="on"/>
                        <m:supHide m:val="on"/>
                        <m:ctrlPr>
                          <a:rPr lang="en-AU" sz="2400" i="1">
                            <a:solidFill>
                              <a:schemeClr val="accent1"/>
                            </a:solidFill>
                            <a:latin typeface="Cambria Math" panose="02040503050406030204" pitchFamily="18" charset="0"/>
                          </a:rPr>
                        </m:ctrlPr>
                      </m:naryPr>
                      <m:sub/>
                      <m:sup/>
                      <m:e>
                        <m:sSub>
                          <m:sSubPr>
                            <m:ctrlPr>
                              <a:rPr lang="en-AU" sz="2400" i="1">
                                <a:solidFill>
                                  <a:schemeClr val="accent1"/>
                                </a:solidFill>
                                <a:latin typeface="Cambria Math" panose="02040503050406030204" pitchFamily="18" charset="0"/>
                              </a:rPr>
                            </m:ctrlPr>
                          </m:sSubPr>
                          <m:e>
                            <m:r>
                              <a:rPr lang="en-AU" sz="2400" i="1">
                                <a:solidFill>
                                  <a:schemeClr val="accent1"/>
                                </a:solidFill>
                                <a:latin typeface="Cambria Math" panose="02040503050406030204" pitchFamily="18" charset="0"/>
                              </a:rPr>
                              <m:t>𝑝</m:t>
                            </m:r>
                          </m:e>
                          <m:sub>
                            <m:r>
                              <a:rPr lang="en-AU" sz="2400" i="1">
                                <a:solidFill>
                                  <a:schemeClr val="accent1"/>
                                </a:solidFill>
                                <a:latin typeface="Cambria Math" panose="02040503050406030204" pitchFamily="18" charset="0"/>
                              </a:rPr>
                              <m:t>𝑖</m:t>
                            </m:r>
                          </m:sub>
                        </m:sSub>
                      </m:e>
                    </m:nary>
                    <m:func>
                      <m:funcPr>
                        <m:ctrlPr>
                          <a:rPr lang="en-AU" sz="2400" i="1">
                            <a:solidFill>
                              <a:schemeClr val="accent1"/>
                            </a:solidFill>
                            <a:latin typeface="Cambria Math" panose="02040503050406030204" pitchFamily="18" charset="0"/>
                          </a:rPr>
                        </m:ctrlPr>
                      </m:funcPr>
                      <m:fName>
                        <m:r>
                          <m:rPr>
                            <m:sty m:val="p"/>
                          </m:rPr>
                          <a:rPr lang="en-AU" sz="2400">
                            <a:solidFill>
                              <a:schemeClr val="accent1"/>
                            </a:solidFill>
                            <a:latin typeface="Cambria Math" panose="02040503050406030204" pitchFamily="18" charset="0"/>
                          </a:rPr>
                          <m:t>ln</m:t>
                        </m:r>
                      </m:fName>
                      <m:e>
                        <m:sSub>
                          <m:sSubPr>
                            <m:ctrlPr>
                              <a:rPr lang="en-AU" sz="2400" i="1">
                                <a:solidFill>
                                  <a:schemeClr val="accent1"/>
                                </a:solidFill>
                                <a:latin typeface="Cambria Math" panose="02040503050406030204" pitchFamily="18" charset="0"/>
                              </a:rPr>
                            </m:ctrlPr>
                          </m:sSubPr>
                          <m:e>
                            <m:r>
                              <a:rPr lang="en-AU" sz="2400" i="1">
                                <a:solidFill>
                                  <a:schemeClr val="accent1"/>
                                </a:solidFill>
                                <a:latin typeface="Cambria Math" panose="02040503050406030204" pitchFamily="18" charset="0"/>
                              </a:rPr>
                              <m:t>𝑝</m:t>
                            </m:r>
                          </m:e>
                          <m:sub>
                            <m:r>
                              <a:rPr lang="en-AU" sz="2400" i="1">
                                <a:solidFill>
                                  <a:schemeClr val="accent1"/>
                                </a:solidFill>
                                <a:latin typeface="Cambria Math" panose="02040503050406030204" pitchFamily="18" charset="0"/>
                              </a:rPr>
                              <m:t>𝑖</m:t>
                            </m:r>
                          </m:sub>
                        </m:sSub>
                      </m:e>
                    </m:func>
                  </m:oMath>
                </a14:m>
                <a:endParaRPr lang="en-US" sz="2400" dirty="0"/>
              </a:p>
            </p:txBody>
          </p:sp>
        </mc:Choice>
        <mc:Fallback xmlns="">
          <p:sp>
            <p:nvSpPr>
              <p:cNvPr id="4" name="TextBox 3">
                <a:extLst>
                  <a:ext uri="{FF2B5EF4-FFF2-40B4-BE49-F238E27FC236}">
                    <a16:creationId xmlns:a16="http://schemas.microsoft.com/office/drawing/2014/main" id="{705B941F-4064-9123-820C-BA460B1F370A}"/>
                  </a:ext>
                </a:extLst>
              </p:cNvPr>
              <p:cNvSpPr txBox="1">
                <a:spLocks noRot="1" noChangeAspect="1" noMove="1" noResize="1" noEditPoints="1" noAdjustHandles="1" noChangeArrowheads="1" noChangeShapeType="1" noTextEdit="1"/>
              </p:cNvSpPr>
              <p:nvPr/>
            </p:nvSpPr>
            <p:spPr>
              <a:xfrm>
                <a:off x="266457" y="2934587"/>
                <a:ext cx="7187609" cy="830997"/>
              </a:xfrm>
              <a:prstGeom prst="rect">
                <a:avLst/>
              </a:prstGeom>
              <a:blipFill>
                <a:blip r:embed="rId2"/>
                <a:stretch>
                  <a:fillRect l="-1411" t="-26866" b="-1044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067938-51FB-1030-E21E-80106D868DDC}"/>
                  </a:ext>
                </a:extLst>
              </p:cNvPr>
              <p:cNvSpPr txBox="1"/>
              <p:nvPr/>
            </p:nvSpPr>
            <p:spPr>
              <a:xfrm>
                <a:off x="1483807" y="953731"/>
                <a:ext cx="9382668" cy="1815882"/>
              </a:xfrm>
              <a:prstGeom prst="rect">
                <a:avLst/>
              </a:prstGeom>
              <a:noFill/>
            </p:spPr>
            <p:txBody>
              <a:bodyPr wrap="square" rtlCol="0">
                <a:spAutoFit/>
              </a:bodyPr>
              <a:lstStyle/>
              <a:p>
                <a:r>
                  <a:rPr lang="en-US" sz="2800" dirty="0"/>
                  <a:t>A system with N particles with spin ½ and magnetic moments </a:t>
                </a:r>
                <a14:m>
                  <m:oMath xmlns:m="http://schemas.openxmlformats.org/officeDocument/2006/math">
                    <m:r>
                      <a:rPr lang="en-AU" sz="2800" b="0" i="1" smtClean="0">
                        <a:latin typeface="Cambria Math" panose="02040503050406030204" pitchFamily="18" charset="0"/>
                      </a:rPr>
                      <m:t>𝜇</m:t>
                    </m:r>
                  </m:oMath>
                </a14:m>
                <a:r>
                  <a:rPr lang="en-US" sz="2800" dirty="0"/>
                  <a:t> are trapped together. What is the entropy of </a:t>
                </a:r>
                <a:r>
                  <a:rPr lang="en-US" sz="2800" b="1" dirty="0"/>
                  <a:t>each macrostate</a:t>
                </a:r>
                <a:r>
                  <a:rPr lang="en-US" sz="2800" dirty="0"/>
                  <a:t>, found using a) Boltzmann and b) Gibbs entropy formula?</a:t>
                </a:r>
              </a:p>
            </p:txBody>
          </p:sp>
        </mc:Choice>
        <mc:Fallback xmlns="">
          <p:sp>
            <p:nvSpPr>
              <p:cNvPr id="6" name="TextBox 5">
                <a:extLst>
                  <a:ext uri="{FF2B5EF4-FFF2-40B4-BE49-F238E27FC236}">
                    <a16:creationId xmlns:a16="http://schemas.microsoft.com/office/drawing/2014/main" id="{B3067938-51FB-1030-E21E-80106D868DDC}"/>
                  </a:ext>
                </a:extLst>
              </p:cNvPr>
              <p:cNvSpPr txBox="1">
                <a:spLocks noRot="1" noChangeAspect="1" noMove="1" noResize="1" noEditPoints="1" noAdjustHandles="1" noChangeArrowheads="1" noChangeShapeType="1" noTextEdit="1"/>
              </p:cNvSpPr>
              <p:nvPr/>
            </p:nvSpPr>
            <p:spPr>
              <a:xfrm>
                <a:off x="1483807" y="953731"/>
                <a:ext cx="9382668" cy="1815882"/>
              </a:xfrm>
              <a:prstGeom prst="rect">
                <a:avLst/>
              </a:prstGeom>
              <a:blipFill>
                <a:blip r:embed="rId3"/>
                <a:stretch>
                  <a:fillRect l="-1351" t="-2778" b="-9028"/>
                </a:stretch>
              </a:blipFill>
            </p:spPr>
            <p:txBody>
              <a:bodyPr/>
              <a:lstStyle/>
              <a:p>
                <a:r>
                  <a:rPr lang="en-US">
                    <a:noFill/>
                  </a:rPr>
                  <a:t> </a:t>
                </a:r>
              </a:p>
            </p:txBody>
          </p:sp>
        </mc:Fallback>
      </mc:AlternateContent>
    </p:spTree>
    <p:extLst>
      <p:ext uri="{BB962C8B-B14F-4D97-AF65-F5344CB8AC3E}">
        <p14:creationId xmlns:p14="http://schemas.microsoft.com/office/powerpoint/2010/main" val="1907703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37A74-A97F-0DCF-9D5A-104B0DCD465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6F29F85-18BC-6475-C517-6BCCA6A675C1}"/>
                  </a:ext>
                </a:extLst>
              </p:cNvPr>
              <p:cNvSpPr txBox="1"/>
              <p:nvPr/>
            </p:nvSpPr>
            <p:spPr>
              <a:xfrm>
                <a:off x="1505072" y="709183"/>
                <a:ext cx="9382668" cy="1815882"/>
              </a:xfrm>
              <a:prstGeom prst="rect">
                <a:avLst/>
              </a:prstGeom>
              <a:noFill/>
            </p:spPr>
            <p:txBody>
              <a:bodyPr wrap="square" rtlCol="0">
                <a:spAutoFit/>
              </a:bodyPr>
              <a:lstStyle/>
              <a:p>
                <a:r>
                  <a:rPr lang="en-US" sz="2800" dirty="0"/>
                  <a:t>A system with N particles with spin ½ and magnetic moments </a:t>
                </a:r>
                <a14:m>
                  <m:oMath xmlns:m="http://schemas.openxmlformats.org/officeDocument/2006/math">
                    <m:r>
                      <a:rPr lang="en-AU" sz="2800" b="0" i="1" smtClean="0">
                        <a:latin typeface="Cambria Math" panose="02040503050406030204" pitchFamily="18" charset="0"/>
                      </a:rPr>
                      <m:t>𝜇</m:t>
                    </m:r>
                  </m:oMath>
                </a14:m>
                <a:r>
                  <a:rPr lang="en-US" sz="2800" dirty="0"/>
                  <a:t> are trapped together. What is the entropy of </a:t>
                </a:r>
                <a:r>
                  <a:rPr lang="en-US" sz="2800" b="1" dirty="0"/>
                  <a:t>each macrostate</a:t>
                </a:r>
                <a:r>
                  <a:rPr lang="en-US" sz="2800" dirty="0"/>
                  <a:t>, found using a) Boltzmann and b)</a:t>
                </a:r>
                <a:r>
                  <a:rPr lang="en-US" sz="2800" dirty="0" err="1"/>
                  <a:t>gibbs</a:t>
                </a:r>
                <a:r>
                  <a:rPr lang="en-US" sz="2800" dirty="0"/>
                  <a:t> entropy formula?</a:t>
                </a:r>
              </a:p>
            </p:txBody>
          </p:sp>
        </mc:Choice>
        <mc:Fallback xmlns="">
          <p:sp>
            <p:nvSpPr>
              <p:cNvPr id="2" name="TextBox 1">
                <a:extLst>
                  <a:ext uri="{FF2B5EF4-FFF2-40B4-BE49-F238E27FC236}">
                    <a16:creationId xmlns:a16="http://schemas.microsoft.com/office/drawing/2014/main" id="{46F29F85-18BC-6475-C517-6BCCA6A675C1}"/>
                  </a:ext>
                </a:extLst>
              </p:cNvPr>
              <p:cNvSpPr txBox="1">
                <a:spLocks noRot="1" noChangeAspect="1" noMove="1" noResize="1" noEditPoints="1" noAdjustHandles="1" noChangeArrowheads="1" noChangeShapeType="1" noTextEdit="1"/>
              </p:cNvSpPr>
              <p:nvPr/>
            </p:nvSpPr>
            <p:spPr>
              <a:xfrm>
                <a:off x="1505072" y="709183"/>
                <a:ext cx="9382668" cy="1815882"/>
              </a:xfrm>
              <a:prstGeom prst="rect">
                <a:avLst/>
              </a:prstGeom>
              <a:blipFill>
                <a:blip r:embed="rId3"/>
                <a:stretch>
                  <a:fillRect l="-1351" t="-3472" b="-90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D9B16E8-066B-ED7A-3CD5-A651E8EA1A68}"/>
                  </a:ext>
                </a:extLst>
              </p:cNvPr>
              <p:cNvSpPr txBox="1"/>
              <p:nvPr/>
            </p:nvSpPr>
            <p:spPr>
              <a:xfrm>
                <a:off x="444194" y="2567658"/>
                <a:ext cx="11747806" cy="3907416"/>
              </a:xfrm>
              <a:prstGeom prst="rect">
                <a:avLst/>
              </a:prstGeom>
              <a:noFill/>
            </p:spPr>
            <p:txBody>
              <a:bodyPr wrap="square" rtlCol="0">
                <a:spAutoFit/>
              </a:bodyPr>
              <a:lstStyle/>
              <a:p>
                <a:r>
                  <a:rPr lang="en-US" sz="2000" dirty="0">
                    <a:solidFill>
                      <a:schemeClr val="tx1"/>
                    </a:solidFill>
                  </a:rPr>
                  <a:t>a) Boltzmann Entropy: </a:t>
                </a:r>
                <a14:m>
                  <m:oMath xmlns:m="http://schemas.openxmlformats.org/officeDocument/2006/math">
                    <m:r>
                      <a:rPr lang="en-AU" sz="2000" i="1">
                        <a:solidFill>
                          <a:schemeClr val="tx1"/>
                        </a:solidFill>
                        <a:latin typeface="Cambria Math" panose="02040503050406030204" pitchFamily="18" charset="0"/>
                      </a:rPr>
                      <m:t>𝑆</m:t>
                    </m:r>
                    <m:r>
                      <a:rPr lang="en-AU" sz="2000" i="1">
                        <a:solidFill>
                          <a:schemeClr val="tx1"/>
                        </a:solidFill>
                        <a:latin typeface="Cambria Math" panose="02040503050406030204" pitchFamily="18" charset="0"/>
                      </a:rPr>
                      <m:t>=</m:t>
                    </m:r>
                    <m:r>
                      <a:rPr lang="en-AU" sz="2000" b="0" i="1" smtClean="0">
                        <a:solidFill>
                          <a:schemeClr val="tx1"/>
                        </a:solidFill>
                        <a:latin typeface="Cambria Math" panose="02040503050406030204" pitchFamily="18" charset="0"/>
                      </a:rPr>
                      <m:t>𝑘</m:t>
                    </m:r>
                    <m:func>
                      <m:funcPr>
                        <m:ctrlPr>
                          <a:rPr lang="en-AU" sz="2000" b="0" i="1" smtClean="0">
                            <a:solidFill>
                              <a:schemeClr val="tx1"/>
                            </a:solidFill>
                            <a:latin typeface="Cambria Math" panose="02040503050406030204" pitchFamily="18" charset="0"/>
                          </a:rPr>
                        </m:ctrlPr>
                      </m:funcPr>
                      <m:fName>
                        <m:r>
                          <m:rPr>
                            <m:sty m:val="p"/>
                          </m:rPr>
                          <a:rPr lang="en-AU" sz="2000" b="0" i="0" smtClean="0">
                            <a:solidFill>
                              <a:schemeClr val="tx1"/>
                            </a:solidFill>
                            <a:latin typeface="Cambria Math" panose="02040503050406030204" pitchFamily="18" charset="0"/>
                          </a:rPr>
                          <m:t>ln</m:t>
                        </m:r>
                      </m:fName>
                      <m:e>
                        <m:r>
                          <m:rPr>
                            <m:sty m:val="p"/>
                          </m:rPr>
                          <a:rPr lang="en-AU" sz="2000" b="0" i="0" smtClean="0">
                            <a:solidFill>
                              <a:schemeClr val="tx1"/>
                            </a:solidFill>
                            <a:latin typeface="Cambria Math" panose="02040503050406030204" pitchFamily="18" charset="0"/>
                          </a:rPr>
                          <m:t>Ω</m:t>
                        </m:r>
                      </m:e>
                    </m:func>
                  </m:oMath>
                </a14:m>
                <a:r>
                  <a:rPr lang="en-AU" sz="2000" b="0" dirty="0">
                    <a:solidFill>
                      <a:schemeClr val="tx1"/>
                    </a:solidFill>
                  </a:rPr>
                  <a:t>, wher</a:t>
                </a:r>
                <a:r>
                  <a:rPr lang="en-AU" sz="2000" dirty="0"/>
                  <a:t>e </a:t>
                </a:r>
                <a14:m>
                  <m:oMath xmlns:m="http://schemas.openxmlformats.org/officeDocument/2006/math">
                    <m:r>
                      <m:rPr>
                        <m:sty m:val="p"/>
                      </m:rPr>
                      <a:rPr lang="en-AU" sz="2000" b="0" i="0" smtClean="0">
                        <a:latin typeface="Cambria Math" panose="02040503050406030204" pitchFamily="18" charset="0"/>
                      </a:rPr>
                      <m:t>Ω</m:t>
                    </m:r>
                    <m:r>
                      <a:rPr lang="en-AU" sz="2000" b="0" i="1" smtClean="0">
                        <a:latin typeface="Cambria Math" panose="02040503050406030204" pitchFamily="18" charset="0"/>
                      </a:rPr>
                      <m:t>=</m:t>
                    </m:r>
                    <m:d>
                      <m:dPr>
                        <m:ctrlPr>
                          <a:rPr lang="en-AU" sz="2000" i="1">
                            <a:latin typeface="Cambria Math" panose="02040503050406030204" pitchFamily="18" charset="0"/>
                          </a:rPr>
                        </m:ctrlPr>
                      </m:dPr>
                      <m:e>
                        <m:eqArr>
                          <m:eqArrPr>
                            <m:ctrlPr>
                              <a:rPr lang="en-AU" sz="2000" i="1">
                                <a:latin typeface="Cambria Math" panose="02040503050406030204" pitchFamily="18" charset="0"/>
                              </a:rPr>
                            </m:ctrlPr>
                          </m:eqArrPr>
                          <m:e>
                            <m:r>
                              <m:rPr>
                                <m:sty m:val="p"/>
                              </m:rPr>
                              <a:rPr lang="en-AU" sz="2000">
                                <a:latin typeface="Cambria Math" panose="02040503050406030204" pitchFamily="18" charset="0"/>
                              </a:rPr>
                              <m:t>N</m:t>
                            </m:r>
                          </m:e>
                          <m:e>
                            <m:r>
                              <a:rPr lang="en-AU" sz="2000" i="1">
                                <a:latin typeface="Cambria Math" panose="02040503050406030204" pitchFamily="18" charset="0"/>
                              </a:rPr>
                              <m:t>𝑛</m:t>
                            </m:r>
                          </m:e>
                        </m:eqArr>
                      </m:e>
                    </m:d>
                  </m:oMath>
                </a14:m>
                <a:endParaRPr lang="en-US" sz="2000" dirty="0"/>
              </a:p>
              <a:p>
                <a:r>
                  <a:rPr lang="en-US" sz="2000" dirty="0">
                    <a:solidFill>
                      <a:schemeClr val="tx1"/>
                    </a:solidFill>
                  </a:rPr>
                  <a:t>b) Gibbs Entropy </a:t>
                </a:r>
                <a14:m>
                  <m:oMath xmlns:m="http://schemas.openxmlformats.org/officeDocument/2006/math">
                    <m:r>
                      <a:rPr lang="en-AU" sz="2000" i="1">
                        <a:solidFill>
                          <a:schemeClr val="tx1"/>
                        </a:solidFill>
                        <a:latin typeface="Cambria Math" panose="02040503050406030204" pitchFamily="18" charset="0"/>
                      </a:rPr>
                      <m:t>𝑆</m:t>
                    </m:r>
                    <m:r>
                      <a:rPr lang="en-AU" sz="2000" i="1">
                        <a:solidFill>
                          <a:schemeClr val="tx1"/>
                        </a:solidFill>
                        <a:latin typeface="Cambria Math" panose="02040503050406030204" pitchFamily="18" charset="0"/>
                      </a:rPr>
                      <m:t>=−</m:t>
                    </m:r>
                    <m:r>
                      <a:rPr lang="en-AU" sz="2000" b="0" i="1" smtClean="0">
                        <a:solidFill>
                          <a:schemeClr val="tx1"/>
                        </a:solidFill>
                        <a:latin typeface="Cambria Math" panose="02040503050406030204" pitchFamily="18" charset="0"/>
                      </a:rPr>
                      <m:t>𝑘</m:t>
                    </m:r>
                    <m:r>
                      <a:rPr lang="en-AU" sz="2000" i="1">
                        <a:solidFill>
                          <a:schemeClr val="tx1"/>
                        </a:solidFill>
                        <a:latin typeface="Cambria Math" panose="02040503050406030204" pitchFamily="18" charset="0"/>
                      </a:rPr>
                      <m:t> </m:t>
                    </m:r>
                    <m:nary>
                      <m:naryPr>
                        <m:chr m:val="∑"/>
                        <m:subHide m:val="on"/>
                        <m:supHide m:val="on"/>
                        <m:ctrlPr>
                          <a:rPr lang="en-AU" sz="2000" i="1">
                            <a:solidFill>
                              <a:schemeClr val="tx1"/>
                            </a:solidFill>
                            <a:latin typeface="Cambria Math" panose="02040503050406030204" pitchFamily="18" charset="0"/>
                          </a:rPr>
                        </m:ctrlPr>
                      </m:naryPr>
                      <m:sub/>
                      <m:sup/>
                      <m:e>
                        <m:sSub>
                          <m:sSubPr>
                            <m:ctrlPr>
                              <a:rPr lang="en-AU" sz="2000" i="1">
                                <a:solidFill>
                                  <a:schemeClr val="tx1"/>
                                </a:solidFill>
                                <a:latin typeface="Cambria Math" panose="02040503050406030204" pitchFamily="18" charset="0"/>
                              </a:rPr>
                            </m:ctrlPr>
                          </m:sSubPr>
                          <m:e>
                            <m:r>
                              <a:rPr lang="en-AU" sz="2000" i="1">
                                <a:solidFill>
                                  <a:schemeClr val="tx1"/>
                                </a:solidFill>
                                <a:latin typeface="Cambria Math" panose="02040503050406030204" pitchFamily="18" charset="0"/>
                              </a:rPr>
                              <m:t>𝑝</m:t>
                            </m:r>
                          </m:e>
                          <m:sub>
                            <m:r>
                              <a:rPr lang="en-AU" sz="2000" i="1">
                                <a:solidFill>
                                  <a:schemeClr val="tx1"/>
                                </a:solidFill>
                                <a:latin typeface="Cambria Math" panose="02040503050406030204" pitchFamily="18" charset="0"/>
                              </a:rPr>
                              <m:t>𝑖</m:t>
                            </m:r>
                          </m:sub>
                        </m:sSub>
                      </m:e>
                    </m:nary>
                    <m:func>
                      <m:funcPr>
                        <m:ctrlPr>
                          <a:rPr lang="en-AU" sz="2000" i="1">
                            <a:solidFill>
                              <a:schemeClr val="tx1"/>
                            </a:solidFill>
                            <a:latin typeface="Cambria Math" panose="02040503050406030204" pitchFamily="18" charset="0"/>
                          </a:rPr>
                        </m:ctrlPr>
                      </m:funcPr>
                      <m:fName>
                        <m:r>
                          <m:rPr>
                            <m:sty m:val="p"/>
                          </m:rPr>
                          <a:rPr lang="en-AU" sz="2000">
                            <a:solidFill>
                              <a:schemeClr val="tx1"/>
                            </a:solidFill>
                            <a:latin typeface="Cambria Math" panose="02040503050406030204" pitchFamily="18" charset="0"/>
                          </a:rPr>
                          <m:t>ln</m:t>
                        </m:r>
                      </m:fName>
                      <m:e>
                        <m:sSub>
                          <m:sSubPr>
                            <m:ctrlPr>
                              <a:rPr lang="en-AU" sz="2000" i="1">
                                <a:solidFill>
                                  <a:schemeClr val="tx1"/>
                                </a:solidFill>
                                <a:latin typeface="Cambria Math" panose="02040503050406030204" pitchFamily="18" charset="0"/>
                              </a:rPr>
                            </m:ctrlPr>
                          </m:sSubPr>
                          <m:e>
                            <m:r>
                              <a:rPr lang="en-AU" sz="2000" i="1">
                                <a:solidFill>
                                  <a:schemeClr val="tx1"/>
                                </a:solidFill>
                                <a:latin typeface="Cambria Math" panose="02040503050406030204" pitchFamily="18" charset="0"/>
                              </a:rPr>
                              <m:t>𝑝</m:t>
                            </m:r>
                          </m:e>
                          <m:sub>
                            <m:r>
                              <a:rPr lang="en-AU" sz="2000" i="1">
                                <a:solidFill>
                                  <a:schemeClr val="tx1"/>
                                </a:solidFill>
                                <a:latin typeface="Cambria Math" panose="02040503050406030204" pitchFamily="18" charset="0"/>
                              </a:rPr>
                              <m:t>𝑖</m:t>
                            </m:r>
                          </m:sub>
                        </m:sSub>
                      </m:e>
                    </m:func>
                  </m:oMath>
                </a14:m>
                <a:endParaRPr lang="en-US" sz="2000" dirty="0">
                  <a:solidFill>
                    <a:schemeClr val="tx1"/>
                  </a:solidFill>
                </a:endParaRPr>
              </a:p>
              <a:p>
                <a:r>
                  <a:rPr lang="en-US" sz="2000" dirty="0">
                    <a:solidFill>
                      <a:schemeClr val="tx1"/>
                    </a:solidFill>
                  </a:rPr>
                  <a:t>Here, </a:t>
                </a:r>
                <a14:m>
                  <m:oMath xmlns:m="http://schemas.openxmlformats.org/officeDocument/2006/math">
                    <m:sSub>
                      <m:sSubPr>
                        <m:ctrlPr>
                          <a:rPr lang="en-AU" sz="2000" i="1">
                            <a:latin typeface="Cambria Math" panose="02040503050406030204" pitchFamily="18" charset="0"/>
                          </a:rPr>
                        </m:ctrlPr>
                      </m:sSubPr>
                      <m:e>
                        <m:r>
                          <a:rPr lang="en-AU" sz="2000" i="1">
                            <a:latin typeface="Cambria Math" panose="02040503050406030204" pitchFamily="18" charset="0"/>
                          </a:rPr>
                          <m:t>𝑝</m:t>
                        </m:r>
                      </m:e>
                      <m:sub>
                        <m:r>
                          <a:rPr lang="en-AU" sz="2000" i="1">
                            <a:latin typeface="Cambria Math" panose="02040503050406030204" pitchFamily="18" charset="0"/>
                          </a:rPr>
                          <m:t>𝑖</m:t>
                        </m:r>
                      </m:sub>
                    </m:sSub>
                    <m:r>
                      <a:rPr lang="en-AU" sz="2000" b="0" i="0" smtClean="0">
                        <a:latin typeface="Cambria Math" panose="02040503050406030204" pitchFamily="18" charset="0"/>
                      </a:rPr>
                      <m:t> </m:t>
                    </m:r>
                  </m:oMath>
                </a14:m>
                <a:r>
                  <a:rPr lang="en-US" sz="2000" dirty="0"/>
                  <a:t>is the conditional probability of a macrostate sitting at a specific microstate.  Since all microstates in a macrostate have equal probability, this becomes</a:t>
                </a:r>
              </a:p>
              <a:p>
                <a:pPr/>
                <a14:m>
                  <m:oMathPara xmlns:m="http://schemas.openxmlformats.org/officeDocument/2006/math">
                    <m:oMathParaPr>
                      <m:jc m:val="centerGroup"/>
                    </m:oMathParaPr>
                    <m:oMath xmlns:m="http://schemas.openxmlformats.org/officeDocument/2006/math">
                      <m:sSub>
                        <m:sSubPr>
                          <m:ctrlPr>
                            <a:rPr lang="en-AU" sz="2000" i="1" smtClean="0">
                              <a:latin typeface="Cambria Math" panose="02040503050406030204" pitchFamily="18" charset="0"/>
                            </a:rPr>
                          </m:ctrlPr>
                        </m:sSubPr>
                        <m:e>
                          <m:r>
                            <a:rPr lang="en-AU" sz="2000" i="1">
                              <a:latin typeface="Cambria Math" panose="02040503050406030204" pitchFamily="18" charset="0"/>
                            </a:rPr>
                            <m:t>𝑝</m:t>
                          </m:r>
                        </m:e>
                        <m:sub>
                          <m:r>
                            <a:rPr lang="en-AU" sz="2000" i="1">
                              <a:latin typeface="Cambria Math" panose="02040503050406030204" pitchFamily="18" charset="0"/>
                            </a:rPr>
                            <m:t>𝑖</m:t>
                          </m:r>
                        </m:sub>
                      </m:sSub>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1</m:t>
                          </m:r>
                        </m:num>
                        <m:den>
                          <m:r>
                            <m:rPr>
                              <m:sty m:val="p"/>
                            </m:rPr>
                            <a:rPr lang="en-AU" sz="2000" b="0" i="0" smtClean="0">
                              <a:latin typeface="Cambria Math" panose="02040503050406030204" pitchFamily="18" charset="0"/>
                            </a:rPr>
                            <m:t>Ω</m:t>
                          </m:r>
                        </m:den>
                      </m:f>
                    </m:oMath>
                  </m:oMathPara>
                </a14:m>
                <a:endParaRPr lang="en-US" sz="2000" dirty="0"/>
              </a:p>
              <a:p>
                <a:endParaRPr lang="en-US" sz="2000" dirty="0"/>
              </a:p>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 </m:t>
                      </m:r>
                      <m:r>
                        <a:rPr lang="en-AU" sz="2000" i="1">
                          <a:latin typeface="Cambria Math" panose="02040503050406030204" pitchFamily="18" charset="0"/>
                        </a:rPr>
                        <m:t>𝑆</m:t>
                      </m:r>
                      <m:r>
                        <a:rPr lang="en-AU" sz="2000" i="1">
                          <a:latin typeface="Cambria Math" panose="02040503050406030204" pitchFamily="18" charset="0"/>
                        </a:rPr>
                        <m:t>=−</m:t>
                      </m:r>
                      <m:r>
                        <a:rPr lang="en-AU" sz="2000" b="0" i="1" smtClean="0">
                          <a:latin typeface="Cambria Math" panose="02040503050406030204" pitchFamily="18" charset="0"/>
                        </a:rPr>
                        <m:t>𝑘</m:t>
                      </m:r>
                      <m:r>
                        <a:rPr lang="en-AU" sz="2000" i="1">
                          <a:latin typeface="Cambria Math" panose="02040503050406030204" pitchFamily="18" charset="0"/>
                        </a:rPr>
                        <m:t> </m:t>
                      </m:r>
                      <m:nary>
                        <m:naryPr>
                          <m:chr m:val="∑"/>
                          <m:subHide m:val="on"/>
                          <m:supHide m:val="on"/>
                          <m:ctrlPr>
                            <a:rPr lang="en-AU" sz="2000" i="1">
                              <a:latin typeface="Cambria Math" panose="02040503050406030204" pitchFamily="18" charset="0"/>
                            </a:rPr>
                          </m:ctrlPr>
                        </m:naryPr>
                        <m:sub/>
                        <m:sup/>
                        <m:e>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1</m:t>
                              </m:r>
                            </m:num>
                            <m:den>
                              <m:r>
                                <m:rPr>
                                  <m:sty m:val="p"/>
                                </m:rPr>
                                <a:rPr lang="en-AU" sz="2000" b="0" i="0" smtClean="0">
                                  <a:latin typeface="Cambria Math" panose="02040503050406030204" pitchFamily="18" charset="0"/>
                                </a:rPr>
                                <m:t>Ω</m:t>
                              </m:r>
                            </m:den>
                          </m:f>
                        </m:e>
                      </m:nary>
                      <m:func>
                        <m:funcPr>
                          <m:ctrlPr>
                            <a:rPr lang="en-AU" sz="2000" i="1">
                              <a:latin typeface="Cambria Math" panose="02040503050406030204" pitchFamily="18" charset="0"/>
                            </a:rPr>
                          </m:ctrlPr>
                        </m:funcPr>
                        <m:fName>
                          <m:r>
                            <m:rPr>
                              <m:sty m:val="p"/>
                            </m:rPr>
                            <a:rPr lang="en-AU" sz="2000">
                              <a:latin typeface="Cambria Math" panose="02040503050406030204" pitchFamily="18" charset="0"/>
                            </a:rPr>
                            <m:t>ln</m:t>
                          </m:r>
                        </m:fName>
                        <m:e>
                          <m:d>
                            <m:dPr>
                              <m:ctrlPr>
                                <a:rPr lang="en-AU" sz="2000" b="0" i="1" smtClean="0">
                                  <a:latin typeface="Cambria Math" panose="02040503050406030204" pitchFamily="18" charset="0"/>
                                </a:rPr>
                              </m:ctrlPr>
                            </m:dPr>
                            <m:e>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1</m:t>
                                  </m:r>
                                </m:num>
                                <m:den>
                                  <m:r>
                                    <m:rPr>
                                      <m:sty m:val="p"/>
                                    </m:rPr>
                                    <a:rPr lang="en-AU" sz="2000" b="0" i="0" smtClean="0">
                                      <a:latin typeface="Cambria Math" panose="02040503050406030204" pitchFamily="18" charset="0"/>
                                    </a:rPr>
                                    <m:t>Ω</m:t>
                                  </m:r>
                                </m:den>
                              </m:f>
                            </m:e>
                          </m:d>
                        </m:e>
                      </m:func>
                      <m:r>
                        <a:rPr lang="en-AU" sz="2000" b="0" i="1" smtClean="0">
                          <a:latin typeface="Cambria Math" panose="02040503050406030204" pitchFamily="18" charset="0"/>
                        </a:rPr>
                        <m:t>=</m:t>
                      </m:r>
                      <m:r>
                        <a:rPr lang="en-AU" sz="2000" i="1">
                          <a:latin typeface="Cambria Math" panose="02040503050406030204" pitchFamily="18" charset="0"/>
                        </a:rPr>
                        <m:t>𝑆</m:t>
                      </m:r>
                      <m:r>
                        <a:rPr lang="en-AU" sz="2000" i="1">
                          <a:latin typeface="Cambria Math" panose="02040503050406030204" pitchFamily="18" charset="0"/>
                        </a:rPr>
                        <m:t>=−</m:t>
                      </m:r>
                      <m:r>
                        <a:rPr lang="en-AU" sz="2000" b="0" i="1" smtClean="0">
                          <a:latin typeface="Cambria Math" panose="02040503050406030204" pitchFamily="18" charset="0"/>
                        </a:rPr>
                        <m:t>𝑘</m:t>
                      </m:r>
                      <m:r>
                        <a:rPr lang="en-AU" sz="2000" i="1">
                          <a:latin typeface="Cambria Math" panose="02040503050406030204" pitchFamily="18" charset="0"/>
                        </a:rPr>
                        <m:t> </m:t>
                      </m:r>
                      <m:r>
                        <m:rPr>
                          <m:sty m:val="p"/>
                        </m:rPr>
                        <a:rPr lang="en-AU" sz="2000" b="0" i="0" smtClean="0">
                          <a:latin typeface="Cambria Math" panose="02040503050406030204" pitchFamily="18" charset="0"/>
                        </a:rPr>
                        <m:t>Ω</m:t>
                      </m:r>
                      <m:r>
                        <a:rPr lang="en-AU" sz="2000" b="0" i="0" smtClean="0">
                          <a:latin typeface="Cambria Math" panose="02040503050406030204" pitchFamily="18" charset="0"/>
                        </a:rPr>
                        <m:t> </m:t>
                      </m:r>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1</m:t>
                          </m:r>
                        </m:num>
                        <m:den>
                          <m:r>
                            <m:rPr>
                              <m:sty m:val="p"/>
                            </m:rPr>
                            <a:rPr lang="en-AU" sz="2000" b="0" i="0" smtClean="0">
                              <a:latin typeface="Cambria Math" panose="02040503050406030204" pitchFamily="18" charset="0"/>
                            </a:rPr>
                            <m:t>Ω</m:t>
                          </m:r>
                        </m:den>
                      </m:f>
                      <m:func>
                        <m:funcPr>
                          <m:ctrlPr>
                            <a:rPr lang="en-AU" sz="2000" i="1">
                              <a:latin typeface="Cambria Math" panose="02040503050406030204" pitchFamily="18" charset="0"/>
                            </a:rPr>
                          </m:ctrlPr>
                        </m:funcPr>
                        <m:fName>
                          <m:r>
                            <m:rPr>
                              <m:sty m:val="p"/>
                            </m:rPr>
                            <a:rPr lang="en-AU" sz="2000">
                              <a:latin typeface="Cambria Math" panose="02040503050406030204" pitchFamily="18" charset="0"/>
                            </a:rPr>
                            <m:t>ln</m:t>
                          </m:r>
                        </m:fName>
                        <m:e>
                          <m:d>
                            <m:dPr>
                              <m:ctrlPr>
                                <a:rPr lang="en-AU" sz="2000" i="1">
                                  <a:latin typeface="Cambria Math" panose="02040503050406030204" pitchFamily="18" charset="0"/>
                                </a:rPr>
                              </m:ctrlPr>
                            </m:dPr>
                            <m:e>
                              <m:f>
                                <m:fPr>
                                  <m:ctrlPr>
                                    <a:rPr lang="en-AU" sz="2000" i="1">
                                      <a:latin typeface="Cambria Math" panose="02040503050406030204" pitchFamily="18" charset="0"/>
                                    </a:rPr>
                                  </m:ctrlPr>
                                </m:fPr>
                                <m:num>
                                  <m:r>
                                    <a:rPr lang="en-AU" sz="2000" i="1">
                                      <a:latin typeface="Cambria Math" panose="02040503050406030204" pitchFamily="18" charset="0"/>
                                    </a:rPr>
                                    <m:t>1</m:t>
                                  </m:r>
                                </m:num>
                                <m:den>
                                  <m:r>
                                    <m:rPr>
                                      <m:sty m:val="p"/>
                                    </m:rPr>
                                    <a:rPr lang="en-AU" sz="2000">
                                      <a:latin typeface="Cambria Math" panose="02040503050406030204" pitchFamily="18" charset="0"/>
                                    </a:rPr>
                                    <m:t>Ω</m:t>
                                  </m:r>
                                </m:den>
                              </m:f>
                            </m:e>
                          </m:d>
                        </m:e>
                      </m:func>
                      <m:r>
                        <a:rPr lang="en-AU" sz="2000" b="0" i="1" smtClean="0">
                          <a:latin typeface="Cambria Math" panose="02040503050406030204" pitchFamily="18" charset="0"/>
                        </a:rPr>
                        <m:t>=</m:t>
                      </m:r>
                      <m:r>
                        <a:rPr lang="en-AU" sz="2000" b="0" i="1" smtClean="0">
                          <a:latin typeface="Cambria Math" panose="02040503050406030204" pitchFamily="18" charset="0"/>
                        </a:rPr>
                        <m:t>𝑘</m:t>
                      </m:r>
                      <m:func>
                        <m:funcPr>
                          <m:ctrlPr>
                            <a:rPr lang="en-AU" sz="2000" i="1">
                              <a:latin typeface="Cambria Math" panose="02040503050406030204" pitchFamily="18" charset="0"/>
                            </a:rPr>
                          </m:ctrlPr>
                        </m:funcPr>
                        <m:fName>
                          <m:r>
                            <m:rPr>
                              <m:sty m:val="p"/>
                            </m:rPr>
                            <a:rPr lang="en-AU" sz="2000">
                              <a:latin typeface="Cambria Math" panose="02040503050406030204" pitchFamily="18" charset="0"/>
                            </a:rPr>
                            <m:t>ln</m:t>
                          </m:r>
                        </m:fName>
                        <m:e>
                          <m:r>
                            <m:rPr>
                              <m:sty m:val="p"/>
                            </m:rPr>
                            <a:rPr lang="en-AU" sz="2000">
                              <a:latin typeface="Cambria Math" panose="02040503050406030204" pitchFamily="18" charset="0"/>
                            </a:rPr>
                            <m:t>Ω</m:t>
                          </m:r>
                        </m:e>
                      </m:func>
                    </m:oMath>
                  </m:oMathPara>
                </a14:m>
                <a:endParaRPr lang="en-US" sz="2000" dirty="0"/>
              </a:p>
              <a:p>
                <a:r>
                  <a:rPr lang="en-US" sz="2000" dirty="0"/>
                  <a:t>Note that </a:t>
                </a:r>
                <a14:m>
                  <m:oMath xmlns:m="http://schemas.openxmlformats.org/officeDocument/2006/math">
                    <m:sSub>
                      <m:sSubPr>
                        <m:ctrlPr>
                          <a:rPr lang="en-AU" sz="2000" i="1">
                            <a:latin typeface="Cambria Math" panose="02040503050406030204" pitchFamily="18" charset="0"/>
                          </a:rPr>
                        </m:ctrlPr>
                      </m:sSubPr>
                      <m:e>
                        <m:r>
                          <a:rPr lang="en-AU" sz="2000" i="1">
                            <a:latin typeface="Cambria Math" panose="02040503050406030204" pitchFamily="18" charset="0"/>
                          </a:rPr>
                          <m:t>𝑝</m:t>
                        </m:r>
                      </m:e>
                      <m:sub>
                        <m:r>
                          <a:rPr lang="en-AU" sz="2000" i="1">
                            <a:latin typeface="Cambria Math" panose="02040503050406030204" pitchFamily="18" charset="0"/>
                          </a:rPr>
                          <m:t>𝑖</m:t>
                        </m:r>
                      </m:sub>
                    </m:sSub>
                    <m:r>
                      <a:rPr lang="en-AU" sz="2000" b="0" i="1" smtClean="0">
                        <a:latin typeface="Cambria Math" panose="02040503050406030204" pitchFamily="18" charset="0"/>
                      </a:rPr>
                      <m:t>≠</m:t>
                    </m:r>
                    <m:f>
                      <m:fPr>
                        <m:ctrlPr>
                          <a:rPr lang="en-AU" sz="2000" i="1">
                            <a:latin typeface="Cambria Math" panose="02040503050406030204" pitchFamily="18" charset="0"/>
                          </a:rPr>
                        </m:ctrlPr>
                      </m:fPr>
                      <m:num>
                        <m:r>
                          <m:rPr>
                            <m:sty m:val="p"/>
                          </m:rPr>
                          <a:rPr lang="en-AU" sz="2000" b="0" i="0" smtClean="0">
                            <a:latin typeface="Cambria Math" panose="02040503050406030204" pitchFamily="18" charset="0"/>
                          </a:rPr>
                          <m:t>Ω</m:t>
                        </m:r>
                      </m:num>
                      <m:den>
                        <m:sSup>
                          <m:sSupPr>
                            <m:ctrlPr>
                              <a:rPr lang="en-AU" sz="2000" b="0" i="1" smtClean="0">
                                <a:latin typeface="Cambria Math" panose="02040503050406030204" pitchFamily="18" charset="0"/>
                              </a:rPr>
                            </m:ctrlPr>
                          </m:sSupPr>
                          <m:e>
                            <m:r>
                              <a:rPr lang="en-AU" sz="2000" b="0" i="0" smtClean="0">
                                <a:latin typeface="Cambria Math" panose="02040503050406030204" pitchFamily="18" charset="0"/>
                              </a:rPr>
                              <m:t>2</m:t>
                            </m:r>
                          </m:e>
                          <m:sup>
                            <m:r>
                              <m:rPr>
                                <m:sty m:val="p"/>
                              </m:rPr>
                              <a:rPr lang="en-AU" sz="2000" b="0" i="0" smtClean="0">
                                <a:latin typeface="Cambria Math" panose="02040503050406030204" pitchFamily="18" charset="0"/>
                              </a:rPr>
                              <m:t>N</m:t>
                            </m:r>
                          </m:sup>
                        </m:sSup>
                      </m:den>
                    </m:f>
                  </m:oMath>
                </a14:m>
                <a:r>
                  <a:rPr lang="en-US" sz="2000" dirty="0"/>
                  <a:t>, which lots of people did in the quiz, because </a:t>
                </a:r>
                <a14:m>
                  <m:oMath xmlns:m="http://schemas.openxmlformats.org/officeDocument/2006/math">
                    <m:sSub>
                      <m:sSubPr>
                        <m:ctrlPr>
                          <a:rPr lang="en-AU" sz="2000" i="1">
                            <a:latin typeface="Cambria Math" panose="02040503050406030204" pitchFamily="18" charset="0"/>
                          </a:rPr>
                        </m:ctrlPr>
                      </m:sSubPr>
                      <m:e>
                        <m:r>
                          <a:rPr lang="en-AU" sz="2000" i="1">
                            <a:latin typeface="Cambria Math" panose="02040503050406030204" pitchFamily="18" charset="0"/>
                          </a:rPr>
                          <m:t>𝑝</m:t>
                        </m:r>
                      </m:e>
                      <m:sub>
                        <m:r>
                          <a:rPr lang="en-AU" sz="2000" i="1">
                            <a:latin typeface="Cambria Math" panose="02040503050406030204" pitchFamily="18" charset="0"/>
                          </a:rPr>
                          <m:t>𝑖</m:t>
                        </m:r>
                      </m:sub>
                    </m:sSub>
                    <m:r>
                      <a:rPr lang="en-AU" sz="2000" i="1">
                        <a:latin typeface="Cambria Math" panose="02040503050406030204" pitchFamily="18" charset="0"/>
                      </a:rPr>
                      <m:t> </m:t>
                    </m:r>
                  </m:oMath>
                </a14:m>
                <a:r>
                  <a:rPr lang="en-US" sz="2000" dirty="0"/>
                  <a:t>represents the probability of the </a:t>
                </a:r>
                <a:r>
                  <a:rPr lang="en-US" sz="2000" b="1" dirty="0"/>
                  <a:t>macrostate being at microstate </a:t>
                </a:r>
                <a:r>
                  <a:rPr lang="en-US" sz="2000" b="1" dirty="0" err="1"/>
                  <a:t>i</a:t>
                </a:r>
                <a:r>
                  <a:rPr lang="en-US" sz="2000" dirty="0"/>
                  <a:t>, not the probability of the</a:t>
                </a:r>
                <a:r>
                  <a:rPr lang="en-US" sz="2000" b="1" dirty="0"/>
                  <a:t> system being at the macrostate. </a:t>
                </a:r>
              </a:p>
            </p:txBody>
          </p:sp>
        </mc:Choice>
        <mc:Fallback xmlns="">
          <p:sp>
            <p:nvSpPr>
              <p:cNvPr id="3" name="TextBox 2">
                <a:extLst>
                  <a:ext uri="{FF2B5EF4-FFF2-40B4-BE49-F238E27FC236}">
                    <a16:creationId xmlns:a16="http://schemas.microsoft.com/office/drawing/2014/main" id="{1D9B16E8-066B-ED7A-3CD5-A651E8EA1A68}"/>
                  </a:ext>
                </a:extLst>
              </p:cNvPr>
              <p:cNvSpPr txBox="1">
                <a:spLocks noRot="1" noChangeAspect="1" noMove="1" noResize="1" noEditPoints="1" noAdjustHandles="1" noChangeArrowheads="1" noChangeShapeType="1" noTextEdit="1"/>
              </p:cNvSpPr>
              <p:nvPr/>
            </p:nvSpPr>
            <p:spPr>
              <a:xfrm>
                <a:off x="444194" y="2567658"/>
                <a:ext cx="11747806" cy="3907416"/>
              </a:xfrm>
              <a:prstGeom prst="rect">
                <a:avLst/>
              </a:prstGeom>
              <a:blipFill>
                <a:blip r:embed="rId4"/>
                <a:stretch>
                  <a:fillRect l="-648" b="-1785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341FB73-4DBD-E29A-8AC2-8BB25EAA5BFE}"/>
              </a:ext>
            </a:extLst>
          </p:cNvPr>
          <p:cNvSpPr txBox="1"/>
          <p:nvPr/>
        </p:nvSpPr>
        <p:spPr>
          <a:xfrm>
            <a:off x="744280" y="247518"/>
            <a:ext cx="7187609" cy="461665"/>
          </a:xfrm>
          <a:prstGeom prst="rect">
            <a:avLst/>
          </a:prstGeom>
          <a:noFill/>
        </p:spPr>
        <p:txBody>
          <a:bodyPr wrap="square" rtlCol="0">
            <a:spAutoFit/>
          </a:bodyPr>
          <a:lstStyle/>
          <a:p>
            <a:r>
              <a:rPr lang="en-US" sz="2400" dirty="0"/>
              <a:t>Let’s put it into practice!</a:t>
            </a:r>
          </a:p>
        </p:txBody>
      </p:sp>
    </p:spTree>
    <p:extLst>
      <p:ext uri="{BB962C8B-B14F-4D97-AF65-F5344CB8AC3E}">
        <p14:creationId xmlns:p14="http://schemas.microsoft.com/office/powerpoint/2010/main" val="334370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85A09-1CA7-960A-8E02-84B43903CD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89D288-3FEE-9E7A-C461-D97FA9A5401B}"/>
              </a:ext>
            </a:extLst>
          </p:cNvPr>
          <p:cNvSpPr txBox="1"/>
          <p:nvPr/>
        </p:nvSpPr>
        <p:spPr>
          <a:xfrm>
            <a:off x="2316125" y="896821"/>
            <a:ext cx="7559749" cy="1754326"/>
          </a:xfrm>
          <a:prstGeom prst="rect">
            <a:avLst/>
          </a:prstGeom>
          <a:noFill/>
        </p:spPr>
        <p:txBody>
          <a:bodyPr wrap="square" rtlCol="0">
            <a:spAutoFit/>
          </a:bodyPr>
          <a:lstStyle/>
          <a:p>
            <a:pPr algn="ctr"/>
            <a:r>
              <a:rPr lang="en-US" sz="3600" dirty="0"/>
              <a:t>Now we are going to do a bunch of questions, that keep getting harder, but all follow the same method:</a:t>
            </a:r>
          </a:p>
        </p:txBody>
      </p:sp>
      <p:sp>
        <p:nvSpPr>
          <p:cNvPr id="3" name="TextBox 2">
            <a:extLst>
              <a:ext uri="{FF2B5EF4-FFF2-40B4-BE49-F238E27FC236}">
                <a16:creationId xmlns:a16="http://schemas.microsoft.com/office/drawing/2014/main" id="{D39213B3-8C1A-EAF3-7568-844DF445B72C}"/>
              </a:ext>
            </a:extLst>
          </p:cNvPr>
          <p:cNvSpPr txBox="1"/>
          <p:nvPr/>
        </p:nvSpPr>
        <p:spPr>
          <a:xfrm>
            <a:off x="1826396" y="2821859"/>
            <a:ext cx="9611442" cy="1384995"/>
          </a:xfrm>
          <a:prstGeom prst="rect">
            <a:avLst/>
          </a:prstGeom>
          <a:noFill/>
        </p:spPr>
        <p:txBody>
          <a:bodyPr wrap="square" rtlCol="0">
            <a:spAutoFit/>
          </a:bodyPr>
          <a:lstStyle/>
          <a:p>
            <a:pPr marL="742950" indent="-742950">
              <a:buAutoNum type="arabicPeriod"/>
            </a:pPr>
            <a:r>
              <a:rPr lang="en-US" sz="2800" dirty="0"/>
              <a:t>Figure out the number of particles and degeneracies</a:t>
            </a:r>
          </a:p>
          <a:p>
            <a:pPr marL="742950" indent="-742950">
              <a:buAutoNum type="arabicPeriod"/>
            </a:pPr>
            <a:r>
              <a:rPr lang="en-US" sz="2800" dirty="0"/>
              <a:t>Find the Hamiltonian</a:t>
            </a:r>
          </a:p>
          <a:p>
            <a:pPr marL="742950" indent="-742950">
              <a:buAutoNum type="arabicPeriod"/>
            </a:pPr>
            <a:r>
              <a:rPr lang="en-US" sz="2800" dirty="0"/>
              <a:t>Find the density of states </a:t>
            </a:r>
          </a:p>
        </p:txBody>
      </p:sp>
    </p:spTree>
    <p:extLst>
      <p:ext uri="{BB962C8B-B14F-4D97-AF65-F5344CB8AC3E}">
        <p14:creationId xmlns:p14="http://schemas.microsoft.com/office/powerpoint/2010/main" val="1402795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34814-6032-D82B-1A4F-6C945D89D0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64AA46EA-2EC2-F63B-0FBA-001ACE1CA20E}"/>
                  </a:ext>
                </a:extLst>
              </p:cNvPr>
              <p:cNvSpPr>
                <a:spLocks noGrp="1"/>
              </p:cNvSpPr>
              <p:nvPr>
                <p:ph type="title"/>
              </p:nvPr>
            </p:nvSpPr>
            <p:spPr>
              <a:xfrm>
                <a:off x="426667" y="1015999"/>
                <a:ext cx="11338666" cy="4194629"/>
              </a:xfrm>
            </p:spPr>
            <p:txBody>
              <a:bodyPr>
                <a:noAutofit/>
              </a:bodyPr>
              <a:lstStyle/>
              <a:p>
                <a:pPr>
                  <a:lnSpc>
                    <a:spcPct val="100000"/>
                  </a:lnSpc>
                </a:pPr>
                <a:r>
                  <a:rPr lang="en-AU" sz="2800" dirty="0">
                    <a:latin typeface="+mn-lt"/>
                  </a:rPr>
                  <a:t>Consider two different types of gas particles in a box: red particles and green particles. They have no internal degrees of freedom and do not interact. </a:t>
                </a:r>
                <a:r>
                  <a:rPr lang="en-AU" sz="2800" b="1" dirty="0">
                    <a:latin typeface="+mn-lt"/>
                  </a:rPr>
                  <a:t>All red particles are indistinguishable from each other, as are all green ones</a:t>
                </a:r>
                <a:r>
                  <a:rPr lang="en-AU" sz="2800" dirty="0">
                    <a:latin typeface="+mn-lt"/>
                  </a:rPr>
                  <a:t>. However, with trichromatic vision, </a:t>
                </a:r>
                <a:r>
                  <a:rPr lang="en-AU" sz="2800" b="1" dirty="0">
                    <a:latin typeface="+mn-lt"/>
                  </a:rPr>
                  <a:t>red particles can be distinguished from green particles</a:t>
                </a:r>
                <a:r>
                  <a:rPr lang="en-AU" sz="2800" dirty="0">
                    <a:latin typeface="+mn-lt"/>
                  </a:rPr>
                  <a:t>. All particles are nonrelativistic and have quadratic dispersion</a:t>
                </a:r>
                <a:r>
                  <a:rPr lang="en-AU" sz="2800" b="1" dirty="0">
                    <a:latin typeface="+mn-lt"/>
                  </a:rPr>
                  <a:t> </a:t>
                </a:r>
                <a14:m>
                  <m:oMath xmlns:m="http://schemas.openxmlformats.org/officeDocument/2006/math">
                    <m:r>
                      <a:rPr lang="en-AU" sz="2800" b="1" i="1">
                        <a:latin typeface="Cambria Math" panose="02040503050406030204" pitchFamily="18" charset="0"/>
                      </a:rPr>
                      <m:t>𝝐</m:t>
                    </m:r>
                    <m:r>
                      <a:rPr lang="en-AU" sz="2800" b="1" i="1">
                        <a:latin typeface="Cambria Math" panose="02040503050406030204" pitchFamily="18" charset="0"/>
                      </a:rPr>
                      <m:t>=</m:t>
                    </m:r>
                    <m:sSup>
                      <m:sSupPr>
                        <m:ctrlPr>
                          <a:rPr lang="en-AU" sz="2800" b="1" i="1">
                            <a:latin typeface="Cambria Math" panose="02040503050406030204" pitchFamily="18" charset="0"/>
                          </a:rPr>
                        </m:ctrlPr>
                      </m:sSupPr>
                      <m:e>
                        <m:r>
                          <a:rPr lang="en-AU" sz="2800" b="1" i="1">
                            <a:latin typeface="Cambria Math" panose="02040503050406030204" pitchFamily="18" charset="0"/>
                          </a:rPr>
                          <m:t>𝒑</m:t>
                        </m:r>
                      </m:e>
                      <m:sup>
                        <m:r>
                          <a:rPr lang="en-AU" sz="2800" b="1" i="1">
                            <a:latin typeface="Cambria Math" panose="02040503050406030204" pitchFamily="18" charset="0"/>
                          </a:rPr>
                          <m:t>𝟐</m:t>
                        </m:r>
                      </m:sup>
                    </m:sSup>
                    <m:r>
                      <a:rPr lang="en-AU" sz="2800" b="1" i="1">
                        <a:latin typeface="Cambria Math" panose="02040503050406030204" pitchFamily="18" charset="0"/>
                      </a:rPr>
                      <m:t>/</m:t>
                    </m:r>
                    <m:r>
                      <a:rPr lang="en-AU" sz="2800" b="1" i="1">
                        <a:latin typeface="Cambria Math" panose="02040503050406030204" pitchFamily="18" charset="0"/>
                      </a:rPr>
                      <m:t>𝟐</m:t>
                    </m:r>
                    <m:r>
                      <a:rPr lang="en-AU" sz="2800" b="1" i="1">
                        <a:latin typeface="Cambria Math" panose="02040503050406030204" pitchFamily="18" charset="0"/>
                      </a:rPr>
                      <m:t>𝒎</m:t>
                    </m:r>
                    <m:r>
                      <a:rPr lang="en-AU" sz="2800" i="1">
                        <a:latin typeface="Cambria Math" panose="02040503050406030204" pitchFamily="18" charset="0"/>
                      </a:rPr>
                      <m:t>, </m:t>
                    </m:r>
                  </m:oMath>
                </a14:m>
                <a:r>
                  <a:rPr lang="en-AU" sz="2800" dirty="0">
                    <a:latin typeface="+mn-lt"/>
                  </a:rPr>
                  <a:t> where m is the mass of both red and green particles and p is the magnitude of the particle’s momentum. Inside the box are </a:t>
                </a:r>
                <a14:m>
                  <m:oMath xmlns:m="http://schemas.openxmlformats.org/officeDocument/2006/math">
                    <m:sSub>
                      <m:sSubPr>
                        <m:ctrlPr>
                          <a:rPr lang="en-AU" sz="2800" b="1" i="1">
                            <a:latin typeface="Cambria Math" panose="02040503050406030204" pitchFamily="18" charset="0"/>
                          </a:rPr>
                        </m:ctrlPr>
                      </m:sSubPr>
                      <m:e>
                        <m:r>
                          <a:rPr lang="en-AU" sz="2800" b="1" i="1">
                            <a:latin typeface="Cambria Math" panose="02040503050406030204" pitchFamily="18" charset="0"/>
                          </a:rPr>
                          <m:t>𝑵</m:t>
                        </m:r>
                      </m:e>
                      <m:sub>
                        <m:r>
                          <a:rPr lang="en-AU" sz="2800" b="1" i="1">
                            <a:latin typeface="Cambria Math" panose="02040503050406030204" pitchFamily="18" charset="0"/>
                          </a:rPr>
                          <m:t>𝒓</m:t>
                        </m:r>
                      </m:sub>
                    </m:sSub>
                  </m:oMath>
                </a14:m>
                <a:r>
                  <a:rPr lang="en-AU" sz="2800" b="1" dirty="0">
                    <a:latin typeface="+mn-lt"/>
                  </a:rPr>
                  <a:t> </a:t>
                </a:r>
                <a:r>
                  <a:rPr lang="en-AU" sz="2800" dirty="0">
                    <a:latin typeface="+mn-lt"/>
                  </a:rPr>
                  <a:t>red particles and </a:t>
                </a:r>
                <a14:m>
                  <m:oMath xmlns:m="http://schemas.openxmlformats.org/officeDocument/2006/math">
                    <m:sSub>
                      <m:sSubPr>
                        <m:ctrlPr>
                          <a:rPr lang="en-AU" sz="2800" b="1" i="1">
                            <a:latin typeface="Cambria Math" panose="02040503050406030204" pitchFamily="18" charset="0"/>
                          </a:rPr>
                        </m:ctrlPr>
                      </m:sSubPr>
                      <m:e>
                        <m:r>
                          <a:rPr lang="en-AU" sz="2800" b="1" i="1">
                            <a:latin typeface="Cambria Math" panose="02040503050406030204" pitchFamily="18" charset="0"/>
                          </a:rPr>
                          <m:t>𝑵</m:t>
                        </m:r>
                      </m:e>
                      <m:sub>
                        <m:r>
                          <a:rPr lang="en-AU" sz="2800" b="1" i="1">
                            <a:latin typeface="Cambria Math" panose="02040503050406030204" pitchFamily="18" charset="0"/>
                          </a:rPr>
                          <m:t>𝒈</m:t>
                        </m:r>
                      </m:sub>
                    </m:sSub>
                  </m:oMath>
                </a14:m>
                <a:r>
                  <a:rPr lang="en-AU" sz="2800" b="1" dirty="0">
                    <a:latin typeface="+mn-lt"/>
                  </a:rPr>
                  <a:t> </a:t>
                </a:r>
                <a:r>
                  <a:rPr lang="en-AU" sz="2800" dirty="0">
                    <a:latin typeface="+mn-lt"/>
                  </a:rPr>
                  <a:t>green particles. The box has volume V and is kept at temperature T. What is the partition function?</a:t>
                </a:r>
                <a:endParaRPr lang="en-US" sz="2800" dirty="0">
                  <a:latin typeface="+mn-lt"/>
                </a:endParaRPr>
              </a:p>
            </p:txBody>
          </p:sp>
        </mc:Choice>
        <mc:Fallback xmlns="">
          <p:sp>
            <p:nvSpPr>
              <p:cNvPr id="5" name="Title 4">
                <a:extLst>
                  <a:ext uri="{FF2B5EF4-FFF2-40B4-BE49-F238E27FC236}">
                    <a16:creationId xmlns:a16="http://schemas.microsoft.com/office/drawing/2014/main" id="{64AA46EA-2EC2-F63B-0FBA-001ACE1CA20E}"/>
                  </a:ext>
                </a:extLst>
              </p:cNvPr>
              <p:cNvSpPr>
                <a:spLocks noGrp="1" noRot="1" noChangeAspect="1" noMove="1" noResize="1" noEditPoints="1" noAdjustHandles="1" noChangeArrowheads="1" noChangeShapeType="1" noTextEdit="1"/>
              </p:cNvSpPr>
              <p:nvPr>
                <p:ph type="title"/>
              </p:nvPr>
            </p:nvSpPr>
            <p:spPr>
              <a:xfrm>
                <a:off x="426667" y="1015999"/>
                <a:ext cx="11338666" cy="4194629"/>
              </a:xfrm>
              <a:blipFill>
                <a:blip r:embed="rId2"/>
                <a:stretch>
                  <a:fillRect l="-1119" r="-1678" b="-1813"/>
                </a:stretch>
              </a:blipFill>
            </p:spPr>
            <p:txBody>
              <a:bodyPr/>
              <a:lstStyle/>
              <a:p>
                <a:r>
                  <a:rPr lang="en-US">
                    <a:noFill/>
                  </a:rPr>
                  <a:t> </a:t>
                </a:r>
              </a:p>
            </p:txBody>
          </p:sp>
        </mc:Fallback>
      </mc:AlternateContent>
    </p:spTree>
    <p:extLst>
      <p:ext uri="{BB962C8B-B14F-4D97-AF65-F5344CB8AC3E}">
        <p14:creationId xmlns:p14="http://schemas.microsoft.com/office/powerpoint/2010/main" val="2860058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CE8E-A7D3-7374-A7C9-035C6C53D73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840896B9-1B4B-C927-8C3E-92C510C597C2}"/>
                  </a:ext>
                </a:extLst>
              </p:cNvPr>
              <p:cNvSpPr>
                <a:spLocks noGrp="1"/>
              </p:cNvSpPr>
              <p:nvPr>
                <p:ph type="title"/>
              </p:nvPr>
            </p:nvSpPr>
            <p:spPr>
              <a:xfrm>
                <a:off x="426666" y="-154023"/>
                <a:ext cx="11338666" cy="2306471"/>
              </a:xfrm>
            </p:spPr>
            <p:txBody>
              <a:bodyPr>
                <a:noAutofit/>
              </a:bodyPr>
              <a:lstStyle/>
              <a:p>
                <a:pPr>
                  <a:lnSpc>
                    <a:spcPct val="100000"/>
                  </a:lnSpc>
                </a:pPr>
                <a:r>
                  <a:rPr lang="en-AU" sz="2000" dirty="0"/>
                  <a:t>Consider two different types of gas particles in a box: red particles and green particles. They have no internal degrees of freedom and do not interact. </a:t>
                </a:r>
                <a:r>
                  <a:rPr lang="en-AU" sz="2000" b="1" dirty="0"/>
                  <a:t>All red particles are indistinguishable from each other, as are all green ones</a:t>
                </a:r>
                <a:r>
                  <a:rPr lang="en-AU" sz="2000" dirty="0"/>
                  <a:t>. However, with trichromatic vision, red particles can be distinguished from green particles. All particles are nonrelativistic and have quadratic dispersion</a:t>
                </a:r>
                <a:r>
                  <a:rPr lang="en-AU" sz="2000" b="1" dirty="0"/>
                  <a:t> </a:t>
                </a:r>
                <a14:m>
                  <m:oMath xmlns:m="http://schemas.openxmlformats.org/officeDocument/2006/math">
                    <m:r>
                      <a:rPr lang="en-AU" sz="2000" b="1" i="1">
                        <a:latin typeface="Cambria Math" panose="02040503050406030204" pitchFamily="18" charset="0"/>
                      </a:rPr>
                      <m:t>𝝐</m:t>
                    </m:r>
                    <m:r>
                      <a:rPr lang="en-AU" sz="2000" b="1" i="1">
                        <a:latin typeface="Cambria Math" panose="02040503050406030204" pitchFamily="18" charset="0"/>
                      </a:rPr>
                      <m:t>=</m:t>
                    </m:r>
                    <m:sSup>
                      <m:sSupPr>
                        <m:ctrlPr>
                          <a:rPr lang="en-AU" sz="2000" b="1" i="1">
                            <a:latin typeface="Cambria Math" panose="02040503050406030204" pitchFamily="18" charset="0"/>
                          </a:rPr>
                        </m:ctrlPr>
                      </m:sSupPr>
                      <m:e>
                        <m:r>
                          <a:rPr lang="en-AU" sz="2000" b="1" i="1">
                            <a:latin typeface="Cambria Math" panose="02040503050406030204" pitchFamily="18" charset="0"/>
                          </a:rPr>
                          <m:t>𝒑</m:t>
                        </m:r>
                      </m:e>
                      <m:sup>
                        <m:r>
                          <a:rPr lang="en-AU" sz="2000" b="1" i="1">
                            <a:latin typeface="Cambria Math" panose="02040503050406030204" pitchFamily="18" charset="0"/>
                          </a:rPr>
                          <m:t>𝟐</m:t>
                        </m:r>
                      </m:sup>
                    </m:sSup>
                    <m:r>
                      <a:rPr lang="en-AU" sz="2000" b="1" i="1">
                        <a:latin typeface="Cambria Math" panose="02040503050406030204" pitchFamily="18" charset="0"/>
                      </a:rPr>
                      <m:t>/</m:t>
                    </m:r>
                    <m:r>
                      <a:rPr lang="en-AU" sz="2000" b="1" i="1">
                        <a:latin typeface="Cambria Math" panose="02040503050406030204" pitchFamily="18" charset="0"/>
                      </a:rPr>
                      <m:t>𝟐</m:t>
                    </m:r>
                    <m:r>
                      <a:rPr lang="en-AU" sz="2000" b="1" i="1">
                        <a:latin typeface="Cambria Math" panose="02040503050406030204" pitchFamily="18" charset="0"/>
                      </a:rPr>
                      <m:t>𝒎</m:t>
                    </m:r>
                    <m:r>
                      <a:rPr lang="en-AU" sz="2000" i="1">
                        <a:latin typeface="Cambria Math" panose="02040503050406030204" pitchFamily="18" charset="0"/>
                      </a:rPr>
                      <m:t>, </m:t>
                    </m:r>
                  </m:oMath>
                </a14:m>
                <a:r>
                  <a:rPr lang="en-AU" sz="2000" dirty="0"/>
                  <a:t> where m is the mass of both red and green particles and p is the magnitude of the particle’s momentum. Inside the box are </a:t>
                </a:r>
                <a14:m>
                  <m:oMath xmlns:m="http://schemas.openxmlformats.org/officeDocument/2006/math">
                    <m:sSub>
                      <m:sSubPr>
                        <m:ctrlPr>
                          <a:rPr lang="en-AU" sz="2000" i="1">
                            <a:latin typeface="Cambria Math" panose="02040503050406030204" pitchFamily="18" charset="0"/>
                          </a:rPr>
                        </m:ctrlPr>
                      </m:sSubPr>
                      <m:e>
                        <m:r>
                          <a:rPr lang="en-AU" sz="2000" i="1">
                            <a:latin typeface="Cambria Math" panose="02040503050406030204" pitchFamily="18" charset="0"/>
                          </a:rPr>
                          <m:t>𝑁</m:t>
                        </m:r>
                      </m:e>
                      <m:sub>
                        <m:r>
                          <a:rPr lang="en-AU" sz="2000" i="1">
                            <a:latin typeface="Cambria Math" panose="02040503050406030204" pitchFamily="18" charset="0"/>
                          </a:rPr>
                          <m:t>𝑟</m:t>
                        </m:r>
                      </m:sub>
                    </m:sSub>
                  </m:oMath>
                </a14:m>
                <a:r>
                  <a:rPr lang="en-AU" sz="2000" dirty="0"/>
                  <a:t> red particles and </a:t>
                </a:r>
                <a14:m>
                  <m:oMath xmlns:m="http://schemas.openxmlformats.org/officeDocument/2006/math">
                    <m:sSub>
                      <m:sSubPr>
                        <m:ctrlPr>
                          <a:rPr lang="en-AU" sz="2000" i="1">
                            <a:latin typeface="Cambria Math" panose="02040503050406030204" pitchFamily="18" charset="0"/>
                          </a:rPr>
                        </m:ctrlPr>
                      </m:sSubPr>
                      <m:e>
                        <m:r>
                          <a:rPr lang="en-AU" sz="2000" i="1">
                            <a:latin typeface="Cambria Math" panose="02040503050406030204" pitchFamily="18" charset="0"/>
                          </a:rPr>
                          <m:t>𝑁</m:t>
                        </m:r>
                      </m:e>
                      <m:sub>
                        <m:r>
                          <a:rPr lang="en-AU" sz="2000" i="1">
                            <a:latin typeface="Cambria Math" panose="02040503050406030204" pitchFamily="18" charset="0"/>
                          </a:rPr>
                          <m:t>𝑔</m:t>
                        </m:r>
                      </m:sub>
                    </m:sSub>
                  </m:oMath>
                </a14:m>
                <a:r>
                  <a:rPr lang="en-AU" sz="2000" dirty="0"/>
                  <a:t> green particles. The box has volume V and is kept at temperature T. What is the partition function?</a:t>
                </a:r>
                <a:endParaRPr lang="en-US" sz="2000" dirty="0"/>
              </a:p>
            </p:txBody>
          </p:sp>
        </mc:Choice>
        <mc:Fallback xmlns="">
          <p:sp>
            <p:nvSpPr>
              <p:cNvPr id="5" name="Title 4">
                <a:extLst>
                  <a:ext uri="{FF2B5EF4-FFF2-40B4-BE49-F238E27FC236}">
                    <a16:creationId xmlns:a16="http://schemas.microsoft.com/office/drawing/2014/main" id="{840896B9-1B4B-C927-8C3E-92C510C597C2}"/>
                  </a:ext>
                </a:extLst>
              </p:cNvPr>
              <p:cNvSpPr>
                <a:spLocks noGrp="1" noRot="1" noChangeAspect="1" noMove="1" noResize="1" noEditPoints="1" noAdjustHandles="1" noChangeArrowheads="1" noChangeShapeType="1" noTextEdit="1"/>
              </p:cNvSpPr>
              <p:nvPr>
                <p:ph type="title"/>
              </p:nvPr>
            </p:nvSpPr>
            <p:spPr>
              <a:xfrm>
                <a:off x="426666" y="-154023"/>
                <a:ext cx="11338666" cy="2306471"/>
              </a:xfrm>
              <a:blipFill>
                <a:blip r:embed="rId2"/>
                <a:stretch>
                  <a:fillRect l="-5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7A6E44-204F-6B33-9C9C-566249FE2F53}"/>
                  </a:ext>
                </a:extLst>
              </p:cNvPr>
              <p:cNvSpPr txBox="1"/>
              <p:nvPr/>
            </p:nvSpPr>
            <p:spPr>
              <a:xfrm>
                <a:off x="829649" y="1934665"/>
                <a:ext cx="10300473" cy="4646337"/>
              </a:xfrm>
              <a:prstGeom prst="rect">
                <a:avLst/>
              </a:prstGeom>
              <a:noFill/>
            </p:spPr>
            <p:txBody>
              <a:bodyPr wrap="square">
                <a:spAutoFit/>
              </a:bodyPr>
              <a:lstStyle/>
              <a:p>
                <a:r>
                  <a:rPr lang="en-AU" dirty="0">
                    <a:solidFill>
                      <a:schemeClr val="accent1"/>
                    </a:solidFill>
                  </a:rPr>
                  <a:t>1. Figure out the number of particles/ degeneracies.</a:t>
                </a:r>
              </a:p>
              <a:p>
                <a:r>
                  <a:rPr lang="en-AU" dirty="0">
                    <a:solidFill>
                      <a:schemeClr val="accent1"/>
                    </a:solidFill>
                  </a:rPr>
                  <a:t>We have </a:t>
                </a:r>
                <a14:m>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𝑟</m:t>
                        </m:r>
                      </m:sub>
                    </m:sSub>
                  </m:oMath>
                </a14:m>
                <a:r>
                  <a:rPr lang="en-AU" dirty="0">
                    <a:solidFill>
                      <a:schemeClr val="accent1"/>
                    </a:solidFill>
                  </a:rPr>
                  <a:t> indistinguishable red particles, and </a:t>
                </a:r>
                <a14:m>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𝑔</m:t>
                        </m:r>
                      </m:sub>
                    </m:sSub>
                  </m:oMath>
                </a14:m>
                <a:r>
                  <a:rPr lang="en-AU" dirty="0">
                    <a:solidFill>
                      <a:schemeClr val="accent1"/>
                    </a:solidFill>
                  </a:rPr>
                  <a:t> indistinguishable green particles. So</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𝑟</m:t>
                              </m:r>
                            </m:sub>
                          </m:sSub>
                          <m:r>
                            <a:rPr lang="en-AU" i="1">
                              <a:solidFill>
                                <a:schemeClr val="accent1"/>
                              </a:solidFill>
                              <a:latin typeface="Cambria Math" panose="02040503050406030204" pitchFamily="18" charset="0"/>
                            </a:rPr>
                            <m:t>!</m:t>
                          </m:r>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1</m:t>
                                      </m:r>
                                    </m:e>
                                    <m:sub>
                                      <m:r>
                                        <a:rPr lang="en-AU" i="1">
                                          <a:solidFill>
                                            <a:schemeClr val="accent1"/>
                                          </a:solidFill>
                                          <a:latin typeface="Cambria Math" panose="02040503050406030204" pitchFamily="18" charset="0"/>
                                        </a:rPr>
                                        <m:t>𝑟</m:t>
                                      </m:r>
                                    </m:sub>
                                  </m:sSub>
                                </m:sub>
                              </m:sSub>
                            </m:e>
                          </m:d>
                        </m:e>
                        <m:sup>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𝑟</m:t>
                              </m:r>
                            </m:sub>
                          </m:sSub>
                        </m:sup>
                      </m:sSup>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𝑔</m:t>
                              </m:r>
                            </m:sub>
                          </m:sSub>
                          <m:r>
                            <a:rPr lang="en-AU" i="1">
                              <a:solidFill>
                                <a:schemeClr val="accent1"/>
                              </a:solidFill>
                              <a:latin typeface="Cambria Math" panose="02040503050406030204" pitchFamily="18" charset="0"/>
                            </a:rPr>
                            <m:t>!</m:t>
                          </m:r>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1</m:t>
                                      </m:r>
                                    </m:e>
                                    <m:sub>
                                      <m:r>
                                        <a:rPr lang="en-AU" i="1">
                                          <a:solidFill>
                                            <a:schemeClr val="accent1"/>
                                          </a:solidFill>
                                          <a:latin typeface="Cambria Math" panose="02040503050406030204" pitchFamily="18" charset="0"/>
                                        </a:rPr>
                                        <m:t>𝑔</m:t>
                                      </m:r>
                                    </m:sub>
                                  </m:sSub>
                                </m:sub>
                              </m:sSub>
                            </m:e>
                          </m:d>
                        </m:e>
                        <m:sup>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𝑔</m:t>
                              </m:r>
                            </m:sub>
                          </m:sSub>
                        </m:sup>
                      </m:sSup>
                      <m:r>
                        <a:rPr lang="en-AU" i="1">
                          <a:solidFill>
                            <a:schemeClr val="accent1"/>
                          </a:solidFill>
                          <a:latin typeface="Cambria Math" panose="02040503050406030204" pitchFamily="18" charset="0"/>
                        </a:rPr>
                        <m:t> </m:t>
                      </m:r>
                    </m:oMath>
                  </m:oMathPara>
                </a14:m>
                <a:endParaRPr lang="en-AU" dirty="0">
                  <a:solidFill>
                    <a:schemeClr val="accent1"/>
                  </a:solidFill>
                </a:endParaRPr>
              </a:p>
              <a:p>
                <a:r>
                  <a:rPr lang="en-AU" dirty="0">
                    <a:solidFill>
                      <a:schemeClr val="accent1"/>
                    </a:solidFill>
                  </a:rPr>
                  <a:t>Since they have the same quadratic dispersion, </a:t>
                </a:r>
                <a14:m>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1</m:t>
                            </m:r>
                          </m:e>
                          <m:sub>
                            <m:r>
                              <a:rPr lang="en-AU" i="1">
                                <a:solidFill>
                                  <a:schemeClr val="accent1"/>
                                </a:solidFill>
                                <a:latin typeface="Cambria Math" panose="02040503050406030204" pitchFamily="18" charset="0"/>
                              </a:rPr>
                              <m:t>𝑟</m:t>
                            </m:r>
                          </m:sub>
                        </m:sSub>
                      </m:sub>
                    </m:sSub>
                    <m:r>
                      <a:rPr lang="en-AU" i="1">
                        <a:solidFill>
                          <a:schemeClr val="accent1"/>
                        </a:solidFill>
                        <a:latin typeface="Cambria Math" panose="02040503050406030204" pitchFamily="18" charset="0"/>
                      </a:rPr>
                      <m:t>=</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1</m:t>
                            </m:r>
                          </m:e>
                          <m:sub>
                            <m:r>
                              <a:rPr lang="en-AU" i="1">
                                <a:solidFill>
                                  <a:schemeClr val="accent1"/>
                                </a:solidFill>
                                <a:latin typeface="Cambria Math" panose="02040503050406030204" pitchFamily="18" charset="0"/>
                              </a:rPr>
                              <m:t>𝑔</m:t>
                            </m:r>
                          </m:sub>
                        </m:sSub>
                      </m:sub>
                    </m:sSub>
                    <m:r>
                      <a:rPr lang="en-AU" i="1">
                        <a:solidFill>
                          <a:schemeClr val="accent1"/>
                        </a:solidFill>
                        <a:latin typeface="Cambria Math" panose="02040503050406030204" pitchFamily="18" charset="0"/>
                      </a:rPr>
                      <m:t>=</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Sub>
                  </m:oMath>
                </a14:m>
                <a:endParaRPr lang="en-AU" dirty="0">
                  <a:solidFill>
                    <a:schemeClr val="accent1"/>
                  </a:solidFill>
                </a:endParaRPr>
              </a:p>
              <a:p>
                <a:r>
                  <a:rPr lang="en-AU" dirty="0">
                    <a:solidFill>
                      <a:schemeClr val="accent1"/>
                    </a:solidFill>
                  </a:rPr>
                  <a:t>2. Figure out the Hamiltonian: </a:t>
                </a:r>
                <a14:m>
                  <m:oMath xmlns:m="http://schemas.openxmlformats.org/officeDocument/2006/math">
                    <m:r>
                      <m:rPr>
                        <m:sty m:val="p"/>
                      </m:rPr>
                      <a:rPr lang="en-AU" b="0" i="0" smtClean="0">
                        <a:solidFill>
                          <a:schemeClr val="accent1"/>
                        </a:solidFill>
                        <a:latin typeface="Cambria Math" panose="02040503050406030204" pitchFamily="18" charset="0"/>
                      </a:rPr>
                      <m:t>H</m:t>
                    </m:r>
                    <m:r>
                      <a:rPr lang="en-AU" b="0" i="0" smtClean="0">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𝑝</m:t>
                            </m:r>
                          </m:e>
                          <m:sup>
                            <m:r>
                              <a:rPr lang="en-AU" i="1">
                                <a:solidFill>
                                  <a:schemeClr val="accent1"/>
                                </a:solidFill>
                                <a:latin typeface="Cambria Math" panose="02040503050406030204" pitchFamily="18" charset="0"/>
                              </a:rPr>
                              <m:t>2</m:t>
                            </m:r>
                          </m:sup>
                        </m:s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oMath>
                </a14:m>
                <a:endParaRPr lang="en-AU" dirty="0">
                  <a:solidFill>
                    <a:schemeClr val="accent1"/>
                  </a:solidFill>
                </a:endParaRPr>
              </a:p>
              <a:p>
                <a:endParaRPr lang="en-AU" dirty="0">
                  <a:solidFill>
                    <a:schemeClr val="accent1"/>
                  </a:solidFill>
                </a:endParaRPr>
              </a:p>
              <a:p>
                <a:r>
                  <a:rPr lang="en-AU" dirty="0">
                    <a:solidFill>
                      <a:schemeClr val="accent1"/>
                    </a:solidFill>
                  </a:rPr>
                  <a:t>3. Figure out the density of states: </a:t>
                </a:r>
              </a:p>
              <a:p>
                <a:pPr/>
                <a:r>
                  <a:rPr lang="en-AU" dirty="0">
                    <a:solidFill>
                      <a:schemeClr val="accent1"/>
                    </a:solidFill>
                  </a:rPr>
                  <a:t>Three-dimensional box, so </a:t>
                </a:r>
                <a14:m>
                  <m:oMath xmlns:m="http://schemas.openxmlformats.org/officeDocument/2006/math">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𝑑</m:t>
                        </m:r>
                      </m:e>
                      <m:sup>
                        <m:r>
                          <a:rPr lang="en-AU" i="1">
                            <a:solidFill>
                              <a:schemeClr val="accent1"/>
                            </a:solidFill>
                            <a:latin typeface="Cambria Math" panose="02040503050406030204" pitchFamily="18" charset="0"/>
                          </a:rPr>
                          <m:t>3</m:t>
                        </m:r>
                      </m:sup>
                    </m:sSup>
                    <m:r>
                      <a:rPr lang="en-AU" i="1">
                        <a:solidFill>
                          <a:schemeClr val="accent1"/>
                        </a:solidFill>
                        <a:latin typeface="Cambria Math" panose="02040503050406030204" pitchFamily="18" charset="0"/>
                      </a:rPr>
                      <m:t>𝑥</m:t>
                    </m:r>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𝑑</m:t>
                        </m:r>
                      </m:e>
                      <m:sup>
                        <m:r>
                          <a:rPr lang="en-AU" i="1">
                            <a:solidFill>
                              <a:schemeClr val="accent1"/>
                            </a:solidFill>
                            <a:latin typeface="Cambria Math" panose="02040503050406030204" pitchFamily="18" charset="0"/>
                          </a:rPr>
                          <m:t>3</m:t>
                        </m:r>
                      </m:sup>
                    </m:sSup>
                    <m:r>
                      <a:rPr lang="en-AU" i="1">
                        <a:solidFill>
                          <a:schemeClr val="accent1"/>
                        </a:solidFill>
                        <a:latin typeface="Cambria Math" panose="02040503050406030204" pitchFamily="18" charset="0"/>
                      </a:rPr>
                      <m:t>𝑝</m:t>
                    </m:r>
                  </m:oMath>
                </a14:m>
                <a:r>
                  <a:rPr lang="en-AU" dirty="0">
                    <a:solidFill>
                      <a:schemeClr val="accent1"/>
                    </a:solidFill>
                  </a:rPr>
                  <a:t>. </a:t>
                </a:r>
                <a:br>
                  <a:rPr lang="en-AU" i="1" dirty="0">
                    <a:solidFill>
                      <a:schemeClr val="accent1"/>
                    </a:solidFill>
                  </a:rPr>
                </a:br>
                <a14:m>
                  <m:oMathPara xmlns:m="http://schemas.openxmlformats.org/officeDocument/2006/math">
                    <m:oMathParaPr>
                      <m:jc m:val="centerGroup"/>
                    </m:oMathParaPr>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Sub>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𝑉</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nary>
                        <m:naryPr>
                          <m:ctrlPr>
                            <a:rPr lang="en-AU" i="1">
                              <a:solidFill>
                                <a:schemeClr val="accent1"/>
                              </a:solidFill>
                              <a:latin typeface="Cambria Math" panose="02040503050406030204" pitchFamily="18" charset="0"/>
                            </a:rPr>
                          </m:ctrlPr>
                        </m:naryPr>
                        <m:sub>
                          <m:r>
                            <a:rPr lang="en-AU" i="1">
                              <a:solidFill>
                                <a:schemeClr val="accent1"/>
                              </a:solidFill>
                              <a:latin typeface="Cambria Math" panose="02040503050406030204" pitchFamily="18" charset="0"/>
                            </a:rPr>
                            <m:t>−∞</m:t>
                          </m:r>
                        </m:sub>
                        <m:sup>
                          <m:r>
                            <a:rPr lang="en-AU" i="1">
                              <a:solidFill>
                                <a:schemeClr val="accent1"/>
                              </a:solidFill>
                              <a:latin typeface="Cambria Math" panose="02040503050406030204" pitchFamily="18" charset="0"/>
                            </a:rPr>
                            <m:t>∞</m:t>
                          </m:r>
                        </m:sup>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𝑝</m:t>
                                      </m:r>
                                    </m:e>
                                    <m:sup>
                                      <m:r>
                                        <a:rPr lang="en-AU" i="1">
                                          <a:solidFill>
                                            <a:schemeClr val="accent1"/>
                                          </a:solidFill>
                                          <a:latin typeface="Cambria Math" panose="02040503050406030204" pitchFamily="18" charset="0"/>
                                        </a:rPr>
                                        <m:t>2</m:t>
                                      </m:r>
                                    </m:sup>
                                  </m:s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sup>
                          </m:sSup>
                        </m:e>
                      </m:nary>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𝑑</m:t>
                          </m:r>
                        </m:e>
                        <m:sup>
                          <m:r>
                            <a:rPr lang="en-AU" i="1">
                              <a:solidFill>
                                <a:schemeClr val="accent1"/>
                              </a:solidFill>
                              <a:latin typeface="Cambria Math" panose="02040503050406030204" pitchFamily="18" charset="0"/>
                            </a:rPr>
                            <m:t>3</m:t>
                          </m:r>
                        </m:sup>
                      </m:sSup>
                      <m:r>
                        <a:rPr lang="en-AU" i="1">
                          <a:solidFill>
                            <a:schemeClr val="accent1"/>
                          </a:solidFill>
                          <a:latin typeface="Cambria Math" panose="02040503050406030204" pitchFamily="18" charset="0"/>
                        </a:rPr>
                        <m:t>𝑝</m:t>
                      </m:r>
                      <m:r>
                        <a:rPr lang="en-AU" b="0" i="1" smtClean="0">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𝑉</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nary>
                        <m:naryPr>
                          <m:ctrlPr>
                            <a:rPr lang="en-AU" i="1">
                              <a:solidFill>
                                <a:schemeClr val="accent1"/>
                              </a:solidFill>
                              <a:latin typeface="Cambria Math" panose="02040503050406030204" pitchFamily="18" charset="0"/>
                            </a:rPr>
                          </m:ctrlPr>
                        </m:naryPr>
                        <m:sub>
                          <m:r>
                            <a:rPr lang="en-AU" i="1">
                              <a:solidFill>
                                <a:schemeClr val="accent1"/>
                              </a:solidFill>
                              <a:latin typeface="Cambria Math" panose="02040503050406030204" pitchFamily="18" charset="0"/>
                            </a:rPr>
                            <m:t>−∞</m:t>
                          </m:r>
                        </m:sub>
                        <m:sup>
                          <m:r>
                            <a:rPr lang="en-AU" i="1">
                              <a:solidFill>
                                <a:schemeClr val="accent1"/>
                              </a:solidFill>
                              <a:latin typeface="Cambria Math" panose="02040503050406030204" pitchFamily="18" charset="0"/>
                            </a:rPr>
                            <m:t>∞</m:t>
                          </m:r>
                        </m:sup>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sSubSup>
                                    <m:sSubSupPr>
                                      <m:ctrlPr>
                                        <a:rPr lang="en-AU" b="0" i="1" smtClean="0">
                                          <a:solidFill>
                                            <a:schemeClr val="accent1"/>
                                          </a:solidFill>
                                          <a:latin typeface="Cambria Math" panose="02040503050406030204" pitchFamily="18" charset="0"/>
                                        </a:rPr>
                                      </m:ctrlPr>
                                    </m:sSubSupPr>
                                    <m:e>
                                      <m:r>
                                        <a:rPr lang="en-AU" b="0" i="1" smtClean="0">
                                          <a:solidFill>
                                            <a:schemeClr val="accent1"/>
                                          </a:solidFill>
                                          <a:latin typeface="Cambria Math" panose="02040503050406030204" pitchFamily="18" charset="0"/>
                                        </a:rPr>
                                        <m:t>(</m:t>
                                      </m:r>
                                      <m:r>
                                        <a:rPr lang="en-AU" b="0" i="1" smtClean="0">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𝑥</m:t>
                                      </m:r>
                                    </m:sub>
                                    <m:sup>
                                      <m:r>
                                        <a:rPr lang="en-AU" i="1">
                                          <a:solidFill>
                                            <a:schemeClr val="accent1"/>
                                          </a:solidFill>
                                          <a:latin typeface="Cambria Math" panose="02040503050406030204" pitchFamily="18" charset="0"/>
                                        </a:rPr>
                                        <m:t>2</m:t>
                                      </m:r>
                                    </m:sup>
                                  </m:sSubSup>
                                  <m:r>
                                    <a:rPr lang="en-AU" b="0" i="1" smtClean="0">
                                      <a:solidFill>
                                        <a:schemeClr val="accent1"/>
                                      </a:solidFill>
                                      <a:latin typeface="Cambria Math" panose="02040503050406030204" pitchFamily="18" charset="0"/>
                                    </a:rPr>
                                    <m:t>+</m:t>
                                  </m:r>
                                  <m:sSubSup>
                                    <m:sSubSupPr>
                                      <m:ctrlPr>
                                        <a:rPr lang="en-AU" b="0" i="1" smtClean="0">
                                          <a:solidFill>
                                            <a:schemeClr val="accent1"/>
                                          </a:solidFill>
                                          <a:latin typeface="Cambria Math" panose="02040503050406030204" pitchFamily="18" charset="0"/>
                                        </a:rPr>
                                      </m:ctrlPr>
                                    </m:sSubSupPr>
                                    <m:e>
                                      <m:r>
                                        <a:rPr lang="en-AU" b="0" i="1" smtClean="0">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𝑦</m:t>
                                      </m:r>
                                    </m:sub>
                                    <m:sup>
                                      <m:r>
                                        <a:rPr lang="en-AU" b="0" i="1" smtClean="0">
                                          <a:solidFill>
                                            <a:schemeClr val="accent1"/>
                                          </a:solidFill>
                                          <a:latin typeface="Cambria Math" panose="02040503050406030204" pitchFamily="18" charset="0"/>
                                        </a:rPr>
                                        <m:t>2</m:t>
                                      </m:r>
                                    </m:sup>
                                  </m:sSubSup>
                                  <m:r>
                                    <a:rPr lang="en-AU" b="0" i="1" smtClean="0">
                                      <a:solidFill>
                                        <a:schemeClr val="accent1"/>
                                      </a:solidFill>
                                      <a:latin typeface="Cambria Math" panose="02040503050406030204" pitchFamily="18" charset="0"/>
                                    </a:rPr>
                                    <m:t>+</m:t>
                                  </m:r>
                                  <m:sSubSup>
                                    <m:sSubSupPr>
                                      <m:ctrlPr>
                                        <a:rPr lang="en-AU" b="0" i="1" smtClean="0">
                                          <a:solidFill>
                                            <a:schemeClr val="accent1"/>
                                          </a:solidFill>
                                          <a:latin typeface="Cambria Math" panose="02040503050406030204" pitchFamily="18" charset="0"/>
                                        </a:rPr>
                                      </m:ctrlPr>
                                    </m:sSubSupPr>
                                    <m:e>
                                      <m:r>
                                        <a:rPr lang="en-AU" b="0" i="1" smtClean="0">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𝑧</m:t>
                                      </m:r>
                                    </m:sub>
                                    <m:sup>
                                      <m:r>
                                        <a:rPr lang="en-AU" b="0" i="1" smtClean="0">
                                          <a:solidFill>
                                            <a:schemeClr val="accent1"/>
                                          </a:solidFill>
                                          <a:latin typeface="Cambria Math" panose="02040503050406030204" pitchFamily="18" charset="0"/>
                                        </a:rPr>
                                        <m:t>2</m:t>
                                      </m:r>
                                    </m:sup>
                                  </m:sSubSup>
                                  <m:r>
                                    <a:rPr lang="en-AU" b="0" i="1" smtClean="0">
                                      <a:solidFill>
                                        <a:schemeClr val="accent1"/>
                                      </a:solidFill>
                                      <a:latin typeface="Cambria Math" panose="02040503050406030204" pitchFamily="18" charset="0"/>
                                    </a:rPr>
                                    <m:t>)</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sup>
                          </m:sSup>
                        </m:e>
                      </m:nary>
                      <m:r>
                        <a:rPr lang="en-AU" b="0" i="1" smtClean="0">
                          <a:solidFill>
                            <a:schemeClr val="accent1"/>
                          </a:solidFill>
                          <a:latin typeface="Cambria Math" panose="02040503050406030204" pitchFamily="18" charset="0"/>
                        </a:rPr>
                        <m:t>𝑑</m:t>
                      </m:r>
                      <m:sSub>
                        <m:sSubPr>
                          <m:ctrlPr>
                            <a:rPr lang="en-AU" b="0" i="1" smtClean="0">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𝑥</m:t>
                          </m:r>
                        </m:sub>
                      </m:sSub>
                      <m:r>
                        <a:rPr lang="en-AU" b="0" i="1" smtClean="0">
                          <a:solidFill>
                            <a:schemeClr val="accent1"/>
                          </a:solidFill>
                          <a:latin typeface="Cambria Math" panose="02040503050406030204" pitchFamily="18" charset="0"/>
                        </a:rPr>
                        <m:t>𝑑</m:t>
                      </m:r>
                      <m:sSub>
                        <m:sSubPr>
                          <m:ctrlPr>
                            <a:rPr lang="en-AU" b="0" i="1" smtClean="0">
                              <a:solidFill>
                                <a:schemeClr val="accent1"/>
                              </a:solidFill>
                              <a:latin typeface="Cambria Math" panose="02040503050406030204" pitchFamily="18" charset="0"/>
                            </a:rPr>
                          </m:ctrlPr>
                        </m:sSubPr>
                        <m:e>
                          <m:r>
                            <a:rPr lang="en-AU" b="0" i="1" smtClean="0">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𝑦</m:t>
                          </m:r>
                        </m:sub>
                      </m:sSub>
                      <m:r>
                        <a:rPr lang="en-AU" b="0" i="1" smtClean="0">
                          <a:solidFill>
                            <a:schemeClr val="accent1"/>
                          </a:solidFill>
                          <a:latin typeface="Cambria Math" panose="02040503050406030204" pitchFamily="18" charset="0"/>
                        </a:rPr>
                        <m:t>𝑑</m:t>
                      </m:r>
                      <m:sSub>
                        <m:sSubPr>
                          <m:ctrlPr>
                            <a:rPr lang="en-AU" b="0" i="1" smtClean="0">
                              <a:solidFill>
                                <a:schemeClr val="accent1"/>
                              </a:solidFill>
                              <a:latin typeface="Cambria Math" panose="02040503050406030204" pitchFamily="18" charset="0"/>
                            </a:rPr>
                          </m:ctrlPr>
                        </m:sSubPr>
                        <m:e>
                          <m:r>
                            <a:rPr lang="en-AU" b="0" i="1" smtClean="0">
                              <a:solidFill>
                                <a:schemeClr val="accent1"/>
                              </a:solidFill>
                              <a:latin typeface="Cambria Math" panose="02040503050406030204" pitchFamily="18" charset="0"/>
                            </a:rPr>
                            <m:t>𝑝</m:t>
                          </m:r>
                        </m:e>
                        <m:sub>
                          <m:r>
                            <a:rPr lang="en-AU" b="0" i="1" smtClean="0">
                              <a:solidFill>
                                <a:schemeClr val="accent1"/>
                              </a:solidFill>
                              <a:latin typeface="Cambria Math" panose="02040503050406030204" pitchFamily="18" charset="0"/>
                            </a:rPr>
                            <m:t>𝑧</m:t>
                          </m:r>
                        </m:sub>
                      </m:sSub>
                      <m:r>
                        <a:rPr lang="en-AU" b="0" i="0" smtClean="0">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𝑉</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r>
                                    <a:rPr lang="en-AU" i="1">
                                      <a:solidFill>
                                        <a:schemeClr val="accent1"/>
                                      </a:solidFill>
                                      <a:latin typeface="Cambria Math" panose="02040503050406030204" pitchFamily="18" charset="0"/>
                                    </a:rPr>
                                    <m:t>𝜋</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 </m:t>
                          </m:r>
                        </m:sup>
                      </m:sSup>
                    </m:oMath>
                  </m:oMathPara>
                </a14:m>
                <a:endParaRPr lang="en-AU" dirty="0">
                  <a:solidFill>
                    <a:schemeClr val="accent1"/>
                  </a:solidFill>
                </a:endParaRPr>
              </a:p>
              <a:p>
                <a:r>
                  <a:rPr lang="en-AU" dirty="0" err="1">
                    <a:solidFill>
                      <a:schemeClr val="accent1"/>
                    </a:solidFill>
                  </a:rPr>
                  <a:t>Sooo</a:t>
                </a:r>
                <a:r>
                  <a:rPr lang="en-AU" dirty="0">
                    <a:solidFill>
                      <a:schemeClr val="accent1"/>
                    </a:solidFill>
                  </a:rPr>
                  <a:t>…..</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𝑟</m:t>
                              </m:r>
                            </m:sub>
                          </m:sSub>
                          <m:r>
                            <a:rPr lang="en-AU" i="1">
                              <a:solidFill>
                                <a:schemeClr val="accent1"/>
                              </a:solidFill>
                              <a:latin typeface="Cambria Math" panose="02040503050406030204" pitchFamily="18" charset="0"/>
                            </a:rPr>
                            <m:t>!</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𝑔</m:t>
                              </m:r>
                            </m:sub>
                          </m:sSub>
                          <m:r>
                            <a:rPr lang="en-AU" i="1">
                              <a:solidFill>
                                <a:schemeClr val="accent1"/>
                              </a:solidFill>
                              <a:latin typeface="Cambria Math" panose="02040503050406030204" pitchFamily="18" charset="0"/>
                            </a:rPr>
                            <m:t>!</m:t>
                          </m:r>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𝑉</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r>
                                            <a:rPr lang="en-AU" i="1">
                                              <a:solidFill>
                                                <a:schemeClr val="accent1"/>
                                              </a:solidFill>
                                              <a:latin typeface="Cambria Math" panose="02040503050406030204" pitchFamily="18" charset="0"/>
                                            </a:rPr>
                                            <m:t>𝜋</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 </m:t>
                                  </m:r>
                                </m:sup>
                              </m:sSup>
                            </m:e>
                          </m:d>
                        </m:e>
                        <m:sup>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𝑟</m:t>
                              </m:r>
                            </m:sub>
                          </m:sSub>
                        </m:sup>
                      </m:sSup>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𝑉</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r>
                                            <a:rPr lang="en-AU" i="1">
                                              <a:solidFill>
                                                <a:schemeClr val="accent1"/>
                                              </a:solidFill>
                                              <a:latin typeface="Cambria Math" panose="02040503050406030204" pitchFamily="18" charset="0"/>
                                            </a:rPr>
                                            <m:t>𝜋</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 </m:t>
                                  </m:r>
                                </m:sup>
                              </m:sSup>
                            </m:e>
                          </m:d>
                        </m:e>
                        <m:sup>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𝑁</m:t>
                              </m:r>
                            </m:e>
                            <m:sub>
                              <m:r>
                                <a:rPr lang="en-AU" i="1">
                                  <a:solidFill>
                                    <a:schemeClr val="accent1"/>
                                  </a:solidFill>
                                  <a:latin typeface="Cambria Math" panose="02040503050406030204" pitchFamily="18" charset="0"/>
                                </a:rPr>
                                <m:t>𝑔</m:t>
                              </m:r>
                            </m:sub>
                          </m:sSub>
                        </m:sup>
                      </m:sSup>
                    </m:oMath>
                  </m:oMathPara>
                </a14:m>
                <a:endParaRPr lang="en-AU" dirty="0"/>
              </a:p>
            </p:txBody>
          </p:sp>
        </mc:Choice>
        <mc:Fallback xmlns="">
          <p:sp>
            <p:nvSpPr>
              <p:cNvPr id="3" name="TextBox 2">
                <a:extLst>
                  <a:ext uri="{FF2B5EF4-FFF2-40B4-BE49-F238E27FC236}">
                    <a16:creationId xmlns:a16="http://schemas.microsoft.com/office/drawing/2014/main" id="{3C7A6E44-204F-6B33-9C9C-566249FE2F53}"/>
                  </a:ext>
                </a:extLst>
              </p:cNvPr>
              <p:cNvSpPr txBox="1">
                <a:spLocks noRot="1" noChangeAspect="1" noMove="1" noResize="1" noEditPoints="1" noAdjustHandles="1" noChangeArrowheads="1" noChangeShapeType="1" noTextEdit="1"/>
              </p:cNvSpPr>
              <p:nvPr/>
            </p:nvSpPr>
            <p:spPr>
              <a:xfrm>
                <a:off x="829649" y="1934665"/>
                <a:ext cx="10300473" cy="4646337"/>
              </a:xfrm>
              <a:prstGeom prst="rect">
                <a:avLst/>
              </a:prstGeom>
              <a:blipFill>
                <a:blip r:embed="rId3"/>
                <a:stretch>
                  <a:fillRect l="-493" t="-545" b="-13624"/>
                </a:stretch>
              </a:blipFill>
            </p:spPr>
            <p:txBody>
              <a:bodyPr/>
              <a:lstStyle/>
              <a:p>
                <a:r>
                  <a:rPr lang="en-US">
                    <a:noFill/>
                  </a:rPr>
                  <a:t> </a:t>
                </a:r>
              </a:p>
            </p:txBody>
          </p:sp>
        </mc:Fallback>
      </mc:AlternateContent>
    </p:spTree>
    <p:extLst>
      <p:ext uri="{BB962C8B-B14F-4D97-AF65-F5344CB8AC3E}">
        <p14:creationId xmlns:p14="http://schemas.microsoft.com/office/powerpoint/2010/main" val="1321806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69EB4-F3A6-AE07-D45F-A79F8CFF96D1}"/>
              </a:ext>
            </a:extLst>
          </p:cNvPr>
          <p:cNvSpPr>
            <a:spLocks noGrp="1"/>
          </p:cNvSpPr>
          <p:nvPr>
            <p:ph idx="1"/>
          </p:nvPr>
        </p:nvSpPr>
        <p:spPr>
          <a:xfrm>
            <a:off x="838200" y="566057"/>
            <a:ext cx="10515600" cy="5610906"/>
          </a:xfrm>
        </p:spPr>
        <p:txBody>
          <a:bodyPr/>
          <a:lstStyle/>
          <a:p>
            <a:pPr marL="0" indent="0">
              <a:buNone/>
            </a:pPr>
            <a:r>
              <a:rPr lang="en-AU" dirty="0"/>
              <a:t>Find the partition function for an isothermal ideal gas in Earth’s gravitational field. It is easiest to consider a column containing the gas, with area of A and height going from the surface of the earth to the atmosphere. You can treat the gravitational acceleration g as constant over earth’s atmosphere. Find the atmospheric pressure as a function of height above the earth’s surface.</a:t>
            </a:r>
          </a:p>
          <a:p>
            <a:pPr marL="0" indent="0">
              <a:buNone/>
            </a:pPr>
            <a:endParaRPr lang="en-US" dirty="0"/>
          </a:p>
        </p:txBody>
      </p:sp>
    </p:spTree>
    <p:extLst>
      <p:ext uri="{BB962C8B-B14F-4D97-AF65-F5344CB8AC3E}">
        <p14:creationId xmlns:p14="http://schemas.microsoft.com/office/powerpoint/2010/main" val="4290098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9F549-BE48-8313-D431-5FD7FA9B81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906" y="986063"/>
            <a:ext cx="3565227" cy="4471307"/>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93111EB-7FD9-17F4-B3AD-34656182D88D}"/>
                  </a:ext>
                </a:extLst>
              </p:cNvPr>
              <p:cNvSpPr txBox="1"/>
              <p:nvPr/>
            </p:nvSpPr>
            <p:spPr>
              <a:xfrm>
                <a:off x="3584448" y="210683"/>
                <a:ext cx="8126079" cy="6793783"/>
              </a:xfrm>
              <a:prstGeom prst="rect">
                <a:avLst/>
              </a:prstGeom>
              <a:noFill/>
            </p:spPr>
            <p:txBody>
              <a:bodyPr wrap="square" rtlCol="0">
                <a:spAutoFit/>
              </a:bodyPr>
              <a:lstStyle/>
              <a:p>
                <a:pPr marL="342900" lvl="0" indent="-342900">
                  <a:buAutoNum type="arabicPeriod"/>
                </a:pPr>
                <a:r>
                  <a:rPr lang="en-AU" dirty="0">
                    <a:solidFill>
                      <a:schemeClr val="accent1"/>
                    </a:solidFill>
                  </a:rPr>
                  <a:t>Find the number of particles and degeneracies. This is an ideal gas, so </a:t>
                </a:r>
                <a:br>
                  <a:rPr lang="en-AU" i="1" dirty="0">
                    <a:solidFill>
                      <a:schemeClr val="accent1"/>
                    </a:solidFill>
                  </a:rPr>
                </a:br>
                <a14:m>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up>
                            <m:r>
                              <a:rPr lang="en-AU" i="1">
                                <a:solidFill>
                                  <a:schemeClr val="accent1"/>
                                </a:solidFill>
                                <a:latin typeface="Cambria Math" panose="02040503050406030204" pitchFamily="18" charset="0"/>
                              </a:rPr>
                              <m:t>𝑁</m:t>
                            </m:r>
                          </m:sup>
                        </m:sSubSup>
                      </m:num>
                      <m:den>
                        <m:r>
                          <a:rPr lang="en-AU" i="1">
                            <a:solidFill>
                              <a:schemeClr val="accent1"/>
                            </a:solidFill>
                            <a:latin typeface="Cambria Math" panose="02040503050406030204" pitchFamily="18" charset="0"/>
                          </a:rPr>
                          <m:t>𝑁</m:t>
                        </m:r>
                        <m:r>
                          <a:rPr lang="en-AU" i="1">
                            <a:solidFill>
                              <a:schemeClr val="accent1"/>
                            </a:solidFill>
                            <a:latin typeface="Cambria Math" panose="02040503050406030204" pitchFamily="18" charset="0"/>
                          </a:rPr>
                          <m:t>!</m:t>
                        </m:r>
                      </m:den>
                    </m:f>
                  </m:oMath>
                </a14:m>
                <a:endParaRPr lang="en-AU" dirty="0">
                  <a:solidFill>
                    <a:schemeClr val="accent1"/>
                  </a:solidFill>
                </a:endParaRPr>
              </a:p>
              <a:p>
                <a:pPr lvl="0"/>
                <a:r>
                  <a:rPr lang="en-AU" dirty="0">
                    <a:solidFill>
                      <a:schemeClr val="accent1"/>
                    </a:solidFill>
                  </a:rPr>
                  <a:t>2. Find the Hamiltonian. A Hamiltonian is just momentum stuff, minus the potential stuff. Here, the potential is from gravity- </a:t>
                </a:r>
                <a14:m>
                  <m:oMath xmlns:m="http://schemas.openxmlformats.org/officeDocument/2006/math">
                    <m:r>
                      <a:rPr lang="en-AU" i="1">
                        <a:solidFill>
                          <a:schemeClr val="accent1"/>
                        </a:solidFill>
                        <a:latin typeface="Cambria Math" panose="02040503050406030204" pitchFamily="18" charset="0"/>
                      </a:rPr>
                      <m:t>𝑉</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𝑚𝑔𝑧</m:t>
                    </m:r>
                    <m:r>
                      <a:rPr lang="en-AU" i="1">
                        <a:solidFill>
                          <a:schemeClr val="accent1"/>
                        </a:solidFill>
                        <a:latin typeface="Cambria Math" panose="02040503050406030204" pitchFamily="18" charset="0"/>
                      </a:rPr>
                      <m:t> </m:t>
                    </m:r>
                  </m:oMath>
                </a14:m>
                <a:r>
                  <a:rPr lang="en-AU" dirty="0">
                    <a:solidFill>
                      <a:schemeClr val="accent1"/>
                    </a:solidFill>
                  </a:rPr>
                  <a:t>, so</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𝐻</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acc>
                            <m:accPr>
                              <m:chr m:val="⃗"/>
                              <m:ctrlPr>
                                <a:rPr lang="en-AU" i="1">
                                  <a:solidFill>
                                    <a:schemeClr val="accent1"/>
                                  </a:solidFill>
                                  <a:latin typeface="Cambria Math" panose="02040503050406030204" pitchFamily="18" charset="0"/>
                                </a:rPr>
                              </m:ctrlPr>
                            </m:accPr>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𝑝</m:t>
                                  </m:r>
                                </m:e>
                                <m:sup>
                                  <m:r>
                                    <a:rPr lang="en-AU" i="1">
                                      <a:solidFill>
                                        <a:schemeClr val="accent1"/>
                                      </a:solidFill>
                                      <a:latin typeface="Cambria Math" panose="02040503050406030204" pitchFamily="18" charset="0"/>
                                    </a:rPr>
                                    <m:t>2</m:t>
                                  </m:r>
                                </m:sup>
                              </m:sSup>
                            </m:e>
                          </m:acc>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𝑚𝑔𝑧</m:t>
                      </m:r>
                    </m:oMath>
                  </m:oMathPara>
                </a14:m>
                <a:endParaRPr lang="en-AU" dirty="0">
                  <a:solidFill>
                    <a:schemeClr val="accent1"/>
                  </a:solidFill>
                </a:endParaRPr>
              </a:p>
              <a:p>
                <a:pPr lvl="0"/>
                <a:r>
                  <a:rPr lang="en-AU" dirty="0">
                    <a:solidFill>
                      <a:schemeClr val="accent1"/>
                    </a:solidFill>
                  </a:rPr>
                  <a:t>3. Figure out density of states- 3 dimensions! so </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𝑑</m:t>
                          </m:r>
                        </m:e>
                        <m:sup>
                          <m:r>
                            <a:rPr lang="en-AU" i="1">
                              <a:solidFill>
                                <a:schemeClr val="accent1"/>
                              </a:solidFill>
                              <a:latin typeface="Cambria Math" panose="02040503050406030204" pitchFamily="18" charset="0"/>
                            </a:rPr>
                            <m:t>3</m:t>
                          </m:r>
                        </m:sup>
                      </m:sSup>
                      <m:r>
                        <a:rPr lang="en-AU" i="1">
                          <a:solidFill>
                            <a:schemeClr val="accent1"/>
                          </a:solidFill>
                          <a:latin typeface="Cambria Math" panose="02040503050406030204" pitchFamily="18" charset="0"/>
                        </a:rPr>
                        <m:t>𝑝</m:t>
                      </m:r>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𝑑</m:t>
                          </m:r>
                        </m:e>
                        <m:sup>
                          <m:r>
                            <a:rPr lang="en-AU" i="1">
                              <a:solidFill>
                                <a:schemeClr val="accent1"/>
                              </a:solidFill>
                              <a:latin typeface="Cambria Math" panose="02040503050406030204" pitchFamily="18" charset="0"/>
                            </a:rPr>
                            <m:t>3</m:t>
                          </m:r>
                        </m:sup>
                      </m:sSup>
                      <m:r>
                        <a:rPr lang="en-AU" i="1">
                          <a:solidFill>
                            <a:schemeClr val="accent1"/>
                          </a:solidFill>
                          <a:latin typeface="Cambria Math" panose="02040503050406030204" pitchFamily="18" charset="0"/>
                        </a:rPr>
                        <m:t>𝑥</m:t>
                      </m:r>
                      <m:r>
                        <a:rPr lang="en-AU" b="0" i="0" smtClean="0">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𝑑𝑥</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𝑑𝑦</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𝑑𝑧</m:t>
                      </m:r>
                    </m:oMath>
                  </m:oMathPara>
                </a14:m>
                <a:endParaRPr lang="en-AU" dirty="0">
                  <a:solidFill>
                    <a:schemeClr val="accent1"/>
                  </a:solidFill>
                </a:endParaRPr>
              </a:p>
              <a:p>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b="0" i="1" smtClean="0">
                          <a:solidFill>
                            <a:schemeClr val="accent1"/>
                          </a:solidFill>
                          <a:latin typeface="Cambria Math" panose="02040503050406030204" pitchFamily="18" charset="0"/>
                        </a:rPr>
                        <m:t>∴</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Sub>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nary>
                        <m:naryPr>
                          <m:subHide m:val="on"/>
                          <m:supHide m:val="on"/>
                          <m:ctrlPr>
                            <a:rPr lang="en-AU" i="1">
                              <a:solidFill>
                                <a:schemeClr val="accent1"/>
                              </a:solidFill>
                              <a:latin typeface="Cambria Math" panose="02040503050406030204" pitchFamily="18" charset="0"/>
                            </a:rPr>
                          </m:ctrlPr>
                        </m:naryPr>
                        <m:sub/>
                        <m:sup/>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𝑚𝑔𝑧</m:t>
                                  </m:r>
                                </m:e>
                              </m:d>
                            </m:sup>
                          </m:sSup>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𝑑𝑥</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𝑑𝑦</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𝑑𝑧</m:t>
                          </m:r>
                        </m:e>
                      </m:nary>
                    </m:oMath>
                  </m:oMathPara>
                </a14:m>
                <a:endParaRPr lang="en-AU" dirty="0">
                  <a:solidFill>
                    <a:schemeClr val="accent1"/>
                  </a:solidFill>
                </a:endParaRPr>
              </a:p>
              <a:p>
                <a:r>
                  <a:rPr lang="en-AU" dirty="0">
                    <a:solidFill>
                      <a:schemeClr val="accent1"/>
                    </a:solidFill>
                  </a:rPr>
                  <a:t>Now we just </a:t>
                </a:r>
                <a:r>
                  <a:rPr lang="en-AU" dirty="0" err="1">
                    <a:solidFill>
                      <a:schemeClr val="accent1"/>
                    </a:solidFill>
                  </a:rPr>
                  <a:t>gotta</a:t>
                </a:r>
                <a:r>
                  <a:rPr lang="en-AU" dirty="0">
                    <a:solidFill>
                      <a:schemeClr val="accent1"/>
                    </a:solidFill>
                  </a:rPr>
                  <a:t> integrate! We can do the </a:t>
                </a:r>
                <a14:m>
                  <m:oMath xmlns:m="http://schemas.openxmlformats.org/officeDocument/2006/math">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Sub>
                    <m:r>
                      <a:rPr lang="en-AU" i="1">
                        <a:solidFill>
                          <a:schemeClr val="accent1"/>
                        </a:solidFill>
                        <a:latin typeface="Cambria Math" panose="02040503050406030204" pitchFamily="18" charset="0"/>
                      </a:rPr>
                      <m:t> </m:t>
                    </m:r>
                  </m:oMath>
                </a14:m>
                <a:r>
                  <a:rPr lang="en-AU" dirty="0">
                    <a:solidFill>
                      <a:schemeClr val="accent1"/>
                    </a:solidFill>
                  </a:rPr>
                  <a:t> pretty easily- each contribute</a:t>
                </a:r>
                <a14:m>
                  <m:oMath xmlns:m="http://schemas.openxmlformats.org/officeDocument/2006/math">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1/2</m:t>
                        </m:r>
                      </m:sup>
                    </m:sSup>
                  </m:oMath>
                </a14:m>
                <a:r>
                  <a:rPr lang="en-AU" dirty="0">
                    <a:solidFill>
                      <a:schemeClr val="accent1"/>
                    </a:solidFill>
                  </a:rPr>
                  <a:t>. Since there’s no dependence on x and y, if we integrate that it just gives us area A out the front. So…</a:t>
                </a:r>
                <a:endParaRPr lang="en-AU" i="1" dirty="0">
                  <a:solidFill>
                    <a:schemeClr val="accent1"/>
                  </a:solidFill>
                </a:endParaRPr>
              </a:p>
              <a:p>
                <a:pPr/>
                <a14:m>
                  <m:oMathPara xmlns:m="http://schemas.openxmlformats.org/officeDocument/2006/math">
                    <m:oMathParaPr>
                      <m:jc m:val="centerGroup"/>
                    </m:oMathParaPr>
                    <m:oMath xmlns:m="http://schemas.openxmlformats.org/officeDocument/2006/math">
                      <m:sSub>
                        <m:sSubPr>
                          <m:ctrlPr>
                            <a:rPr lang="en-AU" i="1">
                              <a:solidFill>
                                <a:schemeClr val="accent1"/>
                              </a:solidFill>
                              <a:latin typeface="Cambria Math" panose="02040503050406030204" pitchFamily="18" charset="0"/>
                            </a:rPr>
                          </m:ctrlPr>
                        </m:sSubPr>
                        <m:e>
                          <m:r>
                            <a:rPr lang="en-AU" b="0" i="1" smtClean="0">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Sub>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𝐴</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m:t>
                          </m:r>
                        </m:sup>
                      </m:sSup>
                      <m:nary>
                        <m:naryPr>
                          <m:subHide m:val="on"/>
                          <m:supHide m:val="on"/>
                          <m:ctrlPr>
                            <a:rPr lang="en-AU" i="1">
                              <a:solidFill>
                                <a:schemeClr val="accent1"/>
                              </a:solidFill>
                              <a:latin typeface="Cambria Math" panose="02040503050406030204" pitchFamily="18" charset="0"/>
                            </a:rPr>
                          </m:ctrlPr>
                        </m:naryPr>
                        <m:sub/>
                        <m:sup/>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𝑚𝑔𝑧</m:t>
                              </m:r>
                            </m:sup>
                          </m:sSup>
                          <m:r>
                            <a:rPr lang="en-AU" i="1">
                              <a:solidFill>
                                <a:schemeClr val="accent1"/>
                              </a:solidFill>
                              <a:latin typeface="Cambria Math" panose="02040503050406030204" pitchFamily="18" charset="0"/>
                            </a:rPr>
                            <m:t>𝑑𝑧</m:t>
                          </m:r>
                          <m:r>
                            <a:rPr lang="en-AU" i="1">
                              <a:solidFill>
                                <a:schemeClr val="accent1"/>
                              </a:solidFill>
                              <a:latin typeface="Cambria Math" panose="02040503050406030204" pitchFamily="18" charset="0"/>
                            </a:rPr>
                            <m:t> </m:t>
                          </m:r>
                        </m:e>
                      </m:nary>
                      <m:r>
                        <a:rPr lang="en-AU" b="0" i="0" smtClean="0">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𝐴</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m:t>
                          </m:r>
                        </m:sup>
                      </m:sSup>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den>
                          </m:f>
                        </m:e>
                      </m:d>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𝑁</m:t>
                          </m:r>
                          <m:r>
                            <a:rPr lang="en-AU" i="1">
                              <a:solidFill>
                                <a:schemeClr val="accent1"/>
                              </a:solidFill>
                              <a:latin typeface="Cambria Math" panose="02040503050406030204" pitchFamily="18" charset="0"/>
                            </a:rPr>
                            <m:t>!</m:t>
                          </m:r>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𝐴</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3</m:t>
                                      </m:r>
                                    </m:num>
                                    <m:den>
                                      <m:r>
                                        <a:rPr lang="en-AU" i="1">
                                          <a:solidFill>
                                            <a:schemeClr val="accent1"/>
                                          </a:solidFill>
                                          <a:latin typeface="Cambria Math" panose="02040503050406030204" pitchFamily="18" charset="0"/>
                                        </a:rPr>
                                        <m:t>2</m:t>
                                      </m:r>
                                    </m:den>
                                  </m:f>
                                </m:sup>
                              </m:sSup>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den>
                                  </m:f>
                                </m:e>
                              </m:d>
                              <m:r>
                                <a:rPr lang="en-AU" b="0" i="1" smtClean="0">
                                  <a:solidFill>
                                    <a:schemeClr val="accent1"/>
                                  </a:solidFill>
                                  <a:latin typeface="Cambria Math" panose="02040503050406030204" pitchFamily="18" charset="0"/>
                                </a:rPr>
                                <m:t> </m:t>
                              </m:r>
                              <m:d>
                                <m:dPr>
                                  <m:ctrlPr>
                                    <a:rPr lang="en-AU" b="0" i="1" smtClean="0">
                                      <a:solidFill>
                                        <a:schemeClr val="accent1"/>
                                      </a:solidFill>
                                      <a:latin typeface="Cambria Math" panose="02040503050406030204" pitchFamily="18" charset="0"/>
                                    </a:rPr>
                                  </m:ctrlPr>
                                </m:dPr>
                                <m:e>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𝑒</m:t>
                                      </m:r>
                                    </m:e>
                                    <m:sup>
                                      <m:r>
                                        <a:rPr lang="en-AU" b="0" i="1" smtClean="0">
                                          <a:solidFill>
                                            <a:schemeClr val="accent1"/>
                                          </a:solidFill>
                                          <a:latin typeface="Cambria Math" panose="02040503050406030204" pitchFamily="18" charset="0"/>
                                        </a:rPr>
                                        <m:t>−</m:t>
                                      </m:r>
                                      <m:r>
                                        <a:rPr lang="en-AU" b="0" i="1" smtClean="0">
                                          <a:solidFill>
                                            <a:schemeClr val="accent1"/>
                                          </a:solidFill>
                                          <a:latin typeface="Cambria Math" panose="02040503050406030204" pitchFamily="18" charset="0"/>
                                        </a:rPr>
                                        <m:t>𝛽</m:t>
                                      </m:r>
                                      <m:r>
                                        <a:rPr lang="en-AU" b="0" i="1" smtClean="0">
                                          <a:solidFill>
                                            <a:schemeClr val="accent1"/>
                                          </a:solidFill>
                                          <a:latin typeface="Cambria Math" panose="02040503050406030204" pitchFamily="18" charset="0"/>
                                        </a:rPr>
                                        <m:t>𝑚𝑔</m:t>
                                      </m:r>
                                      <m:sSub>
                                        <m:sSubPr>
                                          <m:ctrlPr>
                                            <a:rPr lang="en-AU" b="0" i="1" smtClean="0">
                                              <a:solidFill>
                                                <a:schemeClr val="accent1"/>
                                              </a:solidFill>
                                              <a:latin typeface="Cambria Math" panose="02040503050406030204" pitchFamily="18" charset="0"/>
                                            </a:rPr>
                                          </m:ctrlPr>
                                        </m:sSubPr>
                                        <m:e>
                                          <m:r>
                                            <a:rPr lang="en-AU" b="0" i="1" smtClean="0">
                                              <a:solidFill>
                                                <a:schemeClr val="accent1"/>
                                              </a:solidFill>
                                              <a:latin typeface="Cambria Math" panose="02040503050406030204" pitchFamily="18" charset="0"/>
                                            </a:rPr>
                                            <m:t>𝑧</m:t>
                                          </m:r>
                                        </m:e>
                                        <m:sub>
                                          <m:r>
                                            <a:rPr lang="en-AU" b="0" i="1" smtClean="0">
                                              <a:solidFill>
                                                <a:schemeClr val="accent1"/>
                                              </a:solidFill>
                                              <a:latin typeface="Cambria Math" panose="02040503050406030204" pitchFamily="18" charset="0"/>
                                            </a:rPr>
                                            <m:t>𝑎𝑡𝑚</m:t>
                                          </m:r>
                                        </m:sub>
                                      </m:sSub>
                                    </m:sup>
                                  </m:sSup>
                                  <m:r>
                                    <a:rPr lang="en-AU" b="0" i="1" smtClean="0">
                                      <a:solidFill>
                                        <a:schemeClr val="accent1"/>
                                      </a:solidFill>
                                      <a:latin typeface="Cambria Math" panose="02040503050406030204" pitchFamily="18" charset="0"/>
                                    </a:rPr>
                                    <m:t>−1</m:t>
                                  </m:r>
                                </m:e>
                              </m:d>
                            </m:e>
                          </m:d>
                        </m:e>
                        <m:sup>
                          <m:r>
                            <a:rPr lang="en-AU" i="1">
                              <a:solidFill>
                                <a:schemeClr val="accent1"/>
                              </a:solidFill>
                              <a:latin typeface="Cambria Math" panose="02040503050406030204" pitchFamily="18" charset="0"/>
                            </a:rPr>
                            <m:t>𝑁</m:t>
                          </m:r>
                        </m:sup>
                      </m:sSup>
                    </m:oMath>
                  </m:oMathPara>
                </a14:m>
                <a:endParaRPr lang="en-AU" dirty="0">
                  <a:solidFill>
                    <a:schemeClr val="accent1"/>
                  </a:solidFill>
                </a:endParaRPr>
              </a:p>
              <a:p>
                <a:endParaRPr lang="en-AU" dirty="0"/>
              </a:p>
            </p:txBody>
          </p:sp>
        </mc:Choice>
        <mc:Fallback>
          <p:sp>
            <p:nvSpPr>
              <p:cNvPr id="5" name="TextBox 4">
                <a:extLst>
                  <a:ext uri="{FF2B5EF4-FFF2-40B4-BE49-F238E27FC236}">
                    <a16:creationId xmlns:a16="http://schemas.microsoft.com/office/drawing/2014/main" id="{E93111EB-7FD9-17F4-B3AD-34656182D88D}"/>
                  </a:ext>
                </a:extLst>
              </p:cNvPr>
              <p:cNvSpPr txBox="1">
                <a:spLocks noRot="1" noChangeAspect="1" noMove="1" noResize="1" noEditPoints="1" noAdjustHandles="1" noChangeArrowheads="1" noChangeShapeType="1" noTextEdit="1"/>
              </p:cNvSpPr>
              <p:nvPr/>
            </p:nvSpPr>
            <p:spPr>
              <a:xfrm>
                <a:off x="3584448" y="210683"/>
                <a:ext cx="8126079" cy="6793783"/>
              </a:xfrm>
              <a:prstGeom prst="rect">
                <a:avLst/>
              </a:prstGeom>
              <a:blipFill>
                <a:blip r:embed="rId3"/>
                <a:stretch>
                  <a:fillRect l="-624" t="-373" b="-5410"/>
                </a:stretch>
              </a:blipFill>
            </p:spPr>
            <p:txBody>
              <a:bodyPr/>
              <a:lstStyle/>
              <a:p>
                <a:r>
                  <a:rPr lang="en-US">
                    <a:noFill/>
                  </a:rPr>
                  <a:t> </a:t>
                </a:r>
              </a:p>
            </p:txBody>
          </p:sp>
        </mc:Fallback>
      </mc:AlternateContent>
    </p:spTree>
    <p:extLst>
      <p:ext uri="{BB962C8B-B14F-4D97-AF65-F5344CB8AC3E}">
        <p14:creationId xmlns:p14="http://schemas.microsoft.com/office/powerpoint/2010/main" val="3089642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83BC-DDE4-94DE-3A83-B0AEABD1CB9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78E378F-8738-87BD-C493-33A1DA793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906" y="986063"/>
            <a:ext cx="3565227" cy="447130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82FE13-6A8D-2E92-8B4A-22A8268797CB}"/>
                  </a:ext>
                </a:extLst>
              </p:cNvPr>
              <p:cNvSpPr txBox="1"/>
              <p:nvPr/>
            </p:nvSpPr>
            <p:spPr>
              <a:xfrm>
                <a:off x="3584448" y="210683"/>
                <a:ext cx="8126079" cy="6627327"/>
              </a:xfrm>
              <a:prstGeom prst="rect">
                <a:avLst/>
              </a:prstGeom>
              <a:noFill/>
            </p:spPr>
            <p:txBody>
              <a:bodyPr wrap="square" rtlCol="0">
                <a:spAutoFit/>
              </a:bodyPr>
              <a:lstStyle/>
              <a:p>
                <a:r>
                  <a:rPr lang="en-AU" dirty="0">
                    <a:solidFill>
                      <a:schemeClr val="accent1"/>
                    </a:solidFill>
                  </a:rPr>
                  <a:t>Pressure! Now, total pressure is just</a:t>
                </a:r>
              </a:p>
              <a:p>
                <a:pPr/>
                <a14:m>
                  <m:oMathPara xmlns:m="http://schemas.openxmlformats.org/officeDocument/2006/math">
                    <m:oMathParaPr>
                      <m:jc m:val="centerGroup"/>
                    </m:oMathParaPr>
                    <m:oMath xmlns:m="http://schemas.openxmlformats.org/officeDocument/2006/math">
                      <m:r>
                        <a:rPr lang="en-AU" b="1" i="1">
                          <a:solidFill>
                            <a:schemeClr val="accent1"/>
                          </a:solidFill>
                          <a:latin typeface="Cambria Math" panose="02040503050406030204" pitchFamily="18" charset="0"/>
                        </a:rPr>
                        <m:t>𝑷</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𝑘𝑇</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ln</m:t>
                              </m:r>
                            </m:fName>
                            <m:e>
                              <m:r>
                                <a:rPr lang="en-AU" i="1">
                                  <a:solidFill>
                                    <a:schemeClr val="accent1"/>
                                  </a:solidFill>
                                  <a:latin typeface="Cambria Math" panose="02040503050406030204" pitchFamily="18" charset="0"/>
                                </a:rPr>
                                <m:t>𝑍</m:t>
                              </m:r>
                            </m:e>
                          </m:func>
                        </m:num>
                        <m:den>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𝐴</m:t>
                          </m:r>
                        </m:den>
                      </m:f>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𝑁𝑘𝑇</m:t>
                          </m:r>
                        </m:num>
                        <m:den>
                          <m:r>
                            <a:rPr lang="en-AU" i="1">
                              <a:solidFill>
                                <a:schemeClr val="accent1"/>
                              </a:solidFill>
                              <a:latin typeface="Cambria Math" panose="02040503050406030204" pitchFamily="18" charset="0"/>
                            </a:rPr>
                            <m:t>𝐴</m:t>
                          </m:r>
                        </m:den>
                      </m:f>
                    </m:oMath>
                  </m:oMathPara>
                </a14:m>
                <a:endParaRPr lang="en-AU" dirty="0">
                  <a:solidFill>
                    <a:schemeClr val="accent1"/>
                  </a:solidFill>
                </a:endParaRPr>
              </a:p>
              <a:p>
                <a:pPr/>
                <a:r>
                  <a:rPr lang="en-AU" dirty="0">
                    <a:solidFill>
                      <a:schemeClr val="accent1"/>
                    </a:solidFill>
                  </a:rPr>
                  <a:t>This gives us the total pressure; the question wants us to find the pressure </a:t>
                </a:r>
                <a:r>
                  <a:rPr lang="en-AU" i="1" dirty="0">
                    <a:solidFill>
                      <a:schemeClr val="accent1"/>
                    </a:solidFill>
                  </a:rPr>
                  <a:t>as a function of height</a:t>
                </a:r>
                <a:r>
                  <a:rPr lang="en-AU" dirty="0">
                    <a:solidFill>
                      <a:schemeClr val="accent1"/>
                    </a:solidFill>
                  </a:rPr>
                  <a:t>. Which means we need to find the number of particles at the height </a:t>
                </a:r>
                <a14:m>
                  <m:oMath xmlns:m="http://schemas.openxmlformats.org/officeDocument/2006/math">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r>
                      <a:rPr lang="en-AU" i="1">
                        <a:solidFill>
                          <a:schemeClr val="accent1"/>
                        </a:solidFill>
                        <a:latin typeface="Cambria Math" panose="02040503050406030204" pitchFamily="18" charset="0"/>
                      </a:rPr>
                      <m:t> </m:t>
                    </m:r>
                  </m:oMath>
                </a14:m>
                <a:br>
                  <a:rPr lang="en-AU" b="1" i="1" dirty="0">
                    <a:solidFill>
                      <a:schemeClr val="accent1"/>
                    </a:solidFill>
                  </a:rPr>
                </a:br>
                <a14:m>
                  <m:oMathPara xmlns:m="http://schemas.openxmlformats.org/officeDocument/2006/math">
                    <m:oMathParaPr>
                      <m:jc m:val="centerGroup"/>
                    </m:oMathParaPr>
                    <m:oMath xmlns:m="http://schemas.openxmlformats.org/officeDocument/2006/math">
                      <m:r>
                        <a:rPr lang="en-AU" b="1" i="1">
                          <a:solidFill>
                            <a:schemeClr val="accent1"/>
                          </a:solidFill>
                          <a:latin typeface="Cambria Math" panose="02040503050406030204" pitchFamily="18" charset="0"/>
                        </a:rPr>
                        <m:t>𝑷</m:t>
                      </m:r>
                      <m:r>
                        <a:rPr lang="en-AU" b="1"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𝑧</m:t>
                      </m:r>
                      <m:r>
                        <a:rPr lang="en-AU" b="1"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𝑘𝑇</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ln</m:t>
                              </m:r>
                            </m:fName>
                            <m:e>
                              <m:r>
                                <a:rPr lang="en-AU" i="1">
                                  <a:solidFill>
                                    <a:schemeClr val="accent1"/>
                                  </a:solidFill>
                                  <a:latin typeface="Cambria Math" panose="02040503050406030204" pitchFamily="18" charset="0"/>
                                </a:rPr>
                                <m:t>𝑍</m:t>
                              </m:r>
                            </m:e>
                          </m:func>
                        </m:num>
                        <m:den>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𝐴</m:t>
                          </m:r>
                        </m:den>
                      </m:f>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𝑁</m:t>
                          </m:r>
                          <m:d>
                            <m:dPr>
                              <m:ctrlPr>
                                <a:rPr lang="en-AU" i="1">
                                  <a:solidFill>
                                    <a:schemeClr val="accent1"/>
                                  </a:solidFill>
                                  <a:latin typeface="Cambria Math" panose="02040503050406030204" pitchFamily="18" charset="0"/>
                                </a:rPr>
                              </m:ctrlPr>
                            </m:dPr>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e>
                          </m:d>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𝑘𝑇</m:t>
                          </m:r>
                        </m:num>
                        <m:den>
                          <m:r>
                            <a:rPr lang="en-AU" i="1">
                              <a:solidFill>
                                <a:schemeClr val="accent1"/>
                              </a:solidFill>
                              <a:latin typeface="Cambria Math" panose="02040503050406030204" pitchFamily="18" charset="0"/>
                            </a:rPr>
                            <m:t>𝐴</m:t>
                          </m:r>
                        </m:den>
                      </m:f>
                    </m:oMath>
                  </m:oMathPara>
                </a14:m>
                <a:endParaRPr lang="en-AU" dirty="0">
                  <a:solidFill>
                    <a:schemeClr val="accent1"/>
                  </a:solidFill>
                </a:endParaRPr>
              </a:p>
              <a:p>
                <a:r>
                  <a:rPr lang="en-AU" dirty="0">
                    <a:solidFill>
                      <a:schemeClr val="accent1"/>
                    </a:solidFill>
                  </a:rPr>
                  <a:t>This becomes a little confusing, so bear with me. Now, the number of particles at height </a:t>
                </a:r>
                <a14:m>
                  <m:oMath xmlns:m="http://schemas.openxmlformats.org/officeDocument/2006/math">
                    <m:r>
                      <a:rPr lang="en-AU" i="1">
                        <a:solidFill>
                          <a:schemeClr val="accent1"/>
                        </a:solidFill>
                        <a:latin typeface="Cambria Math" panose="02040503050406030204" pitchFamily="18" charset="0"/>
                      </a:rPr>
                      <m:t>𝑧</m:t>
                    </m:r>
                    <m:r>
                      <a:rPr lang="en-AU" i="1">
                        <a:solidFill>
                          <a:schemeClr val="accent1"/>
                        </a:solidFill>
                        <a:latin typeface="Cambria Math" panose="02040503050406030204" pitchFamily="18" charset="0"/>
                      </a:rPr>
                      <m:t>′</m:t>
                    </m:r>
                  </m:oMath>
                </a14:m>
                <a:r>
                  <a:rPr lang="en-AU" dirty="0">
                    <a:solidFill>
                      <a:schemeClr val="accent1"/>
                    </a:solidFill>
                  </a:rPr>
                  <a:t>, is just N times the probability of </a:t>
                </a:r>
                <a:r>
                  <a:rPr lang="en-AU" i="1" dirty="0">
                    <a:solidFill>
                      <a:schemeClr val="accent1"/>
                    </a:solidFill>
                  </a:rPr>
                  <a:t>one</a:t>
                </a:r>
                <a:r>
                  <a:rPr lang="en-AU" dirty="0">
                    <a:solidFill>
                      <a:schemeClr val="accent1"/>
                    </a:solidFill>
                  </a:rPr>
                  <a:t> particle being at height </a:t>
                </a:r>
                <a14:m>
                  <m:oMath xmlns:m="http://schemas.openxmlformats.org/officeDocument/2006/math">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r>
                      <a:rPr lang="en-AU" i="1">
                        <a:solidFill>
                          <a:schemeClr val="accent1"/>
                        </a:solidFill>
                        <a:latin typeface="Cambria Math" panose="02040503050406030204" pitchFamily="18" charset="0"/>
                      </a:rPr>
                      <m:t>.</m:t>
                    </m:r>
                  </m:oMath>
                </a14:m>
                <a:r>
                  <a:rPr lang="en-AU" dirty="0">
                    <a:solidFill>
                      <a:schemeClr val="accent1"/>
                    </a:solidFill>
                  </a:rPr>
                  <a:t> </a:t>
                </a:r>
              </a:p>
              <a:p>
                <a:pPr/>
                <a14:m>
                  <m:oMathPara xmlns:m="http://schemas.openxmlformats.org/officeDocument/2006/math">
                    <m:oMathParaPr>
                      <m:jc m:val="centerGroup"/>
                    </m:oMathParaPr>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1</m:t>
                          </m:r>
                        </m:sub>
                      </m:sSub>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𝑧</m:t>
                          </m:r>
                          <m:r>
                            <a:rPr lang="en-AU" i="1">
                              <a:solidFill>
                                <a:schemeClr val="accent1"/>
                              </a:solidFill>
                              <a:latin typeface="Cambria Math" panose="02040503050406030204" pitchFamily="18" charset="0"/>
                            </a:rPr>
                            <m:t>′</m:t>
                          </m:r>
                        </m:e>
                      </m:d>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nary>
                            <m:naryPr>
                              <m:subHide m:val="on"/>
                              <m:supHide m:val="on"/>
                              <m:ctrlPr>
                                <a:rPr lang="en-AU" i="1">
                                  <a:solidFill>
                                    <a:schemeClr val="accent1"/>
                                  </a:solidFill>
                                  <a:latin typeface="Cambria Math" panose="02040503050406030204" pitchFamily="18" charset="0"/>
                                </a:rPr>
                              </m:ctrlPr>
                            </m:naryPr>
                            <m:sub/>
                            <m:sup/>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up>
                                              <m:r>
                                                <a:rPr lang="en-AU" i="1">
                                                  <a:solidFill>
                                                    <a:schemeClr val="accent1"/>
                                                  </a:solidFill>
                                                  <a:latin typeface="Cambria Math" panose="02040503050406030204" pitchFamily="18" charset="0"/>
                                                </a:rPr>
                                                <m:t>2</m:t>
                                              </m:r>
                                            </m:sup>
                                          </m:sSub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𝑚𝑔𝑧</m:t>
                                      </m:r>
                                      <m:r>
                                        <a:rPr lang="en-AU" b="0" i="1" smtClean="0">
                                          <a:solidFill>
                                            <a:schemeClr val="accent1"/>
                                          </a:solidFill>
                                          <a:latin typeface="Cambria Math" panose="02040503050406030204" pitchFamily="18" charset="0"/>
                                        </a:rPr>
                                        <m:t>′</m:t>
                                      </m:r>
                                    </m:e>
                                  </m:d>
                                </m:sup>
                              </m:sSup>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𝑥</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𝑦</m:t>
                                  </m:r>
                                </m:sub>
                              </m:sSub>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𝑧</m:t>
                                  </m:r>
                                </m:sub>
                              </m:sSub>
                              <m:r>
                                <a:rPr lang="en-AU" b="0" i="1" smtClean="0">
                                  <a:solidFill>
                                    <a:schemeClr val="accent1"/>
                                  </a:solidFill>
                                  <a:latin typeface="Cambria Math" panose="02040503050406030204" pitchFamily="18" charset="0"/>
                                </a:rPr>
                                <m:t>𝑑𝑥𝑑𝑦</m:t>
                              </m:r>
                            </m:e>
                          </m:nary>
                          <m:r>
                            <a:rPr lang="en-AU" i="1">
                              <a:solidFill>
                                <a:schemeClr val="accent1"/>
                              </a:solidFill>
                              <a:latin typeface="Cambria Math" panose="02040503050406030204" pitchFamily="18" charset="0"/>
                            </a:rPr>
                            <m:t> </m:t>
                          </m:r>
                        </m:num>
                        <m:den>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1</m:t>
                              </m:r>
                            </m:sub>
                          </m:sSub>
                        </m:den>
                      </m:f>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𝐴</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3</m:t>
                                  </m:r>
                                </m:num>
                                <m:den>
                                  <m:r>
                                    <a:rPr lang="en-AU" i="1">
                                      <a:solidFill>
                                        <a:schemeClr val="accent1"/>
                                      </a:solidFill>
                                      <a:latin typeface="Cambria Math" panose="02040503050406030204" pitchFamily="18" charset="0"/>
                                    </a:rPr>
                                    <m:t>2</m:t>
                                  </m:r>
                                </m:den>
                              </m:f>
                            </m:sup>
                          </m:sSup>
                        </m:num>
                        <m:den>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𝐴</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3</m:t>
                                  </m:r>
                                </m:sup>
                              </m:sSup>
                            </m:den>
                          </m:f>
                          <m:sSup>
                            <m:sSupPr>
                              <m:ctrlPr>
                                <a:rPr lang="en-AU" i="1">
                                  <a:solidFill>
                                    <a:schemeClr val="accent1"/>
                                  </a:solidFill>
                                  <a:latin typeface="Cambria Math" panose="02040503050406030204" pitchFamily="18" charset="0"/>
                                </a:rPr>
                              </m:ctrlPr>
                            </m:sSupPr>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𝑚</m:t>
                                      </m:r>
                                    </m:num>
                                    <m:den>
                                      <m:r>
                                        <a:rPr lang="en-AU" i="1">
                                          <a:solidFill>
                                            <a:schemeClr val="accent1"/>
                                          </a:solidFill>
                                          <a:latin typeface="Cambria Math" panose="02040503050406030204" pitchFamily="18" charset="0"/>
                                        </a:rPr>
                                        <m:t>𝛽</m:t>
                                      </m:r>
                                    </m:den>
                                  </m:f>
                                </m:e>
                              </m:d>
                            </m:e>
                            <m:sup>
                              <m:r>
                                <a:rPr lang="en-AU" i="1">
                                  <a:solidFill>
                                    <a:schemeClr val="accent1"/>
                                  </a:solidFill>
                                  <a:latin typeface="Cambria Math" panose="02040503050406030204" pitchFamily="18" charset="0"/>
                                </a:rPr>
                                <m:t>3/2</m:t>
                              </m:r>
                            </m:sup>
                          </m:sSup>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den>
                              </m:f>
                            </m:e>
                          </m:d>
                        </m:den>
                      </m:f>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sup>
                      </m:s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sup>
                      </m:sSup>
                    </m:oMath>
                  </m:oMathPara>
                </a14:m>
                <a:endParaRPr lang="en-AU" dirty="0">
                  <a:solidFill>
                    <a:schemeClr val="accent1"/>
                  </a:solidFill>
                </a:endParaRPr>
              </a:p>
              <a:p>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𝑁</m:t>
                      </m:r>
                      <m:d>
                        <m:dPr>
                          <m:ctrlPr>
                            <a:rPr lang="en-AU" i="1">
                              <a:solidFill>
                                <a:schemeClr val="accent1"/>
                              </a:solidFill>
                              <a:latin typeface="Cambria Math" panose="02040503050406030204" pitchFamily="18" charset="0"/>
                            </a:rPr>
                          </m:ctrlPr>
                        </m:dPr>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e>
                      </m:d>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𝑁</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sup>
                      </m:sSup>
                    </m:oMath>
                  </m:oMathPara>
                </a14:m>
                <a:endParaRPr lang="en-AU" dirty="0">
                  <a:solidFill>
                    <a:schemeClr val="accent1"/>
                  </a:solidFill>
                </a:endParaRPr>
              </a:p>
              <a:p>
                <a:endParaRPr lang="en-AU" dirty="0">
                  <a:solidFill>
                    <a:schemeClr val="accent1"/>
                  </a:solidFill>
                </a:endParaRPr>
              </a:p>
              <a:p>
                <a14:m>
                  <m:oMath xmlns:m="http://schemas.openxmlformats.org/officeDocument/2006/math">
                    <m:r>
                      <a:rPr lang="en-AU" i="1">
                        <a:solidFill>
                          <a:schemeClr val="accent1"/>
                        </a:solidFill>
                        <a:latin typeface="Cambria Math" panose="02040503050406030204" pitchFamily="18" charset="0"/>
                      </a:rPr>
                      <m:t>→</m:t>
                    </m:r>
                    <m:r>
                      <a:rPr lang="en-AU" b="1" i="1">
                        <a:solidFill>
                          <a:schemeClr val="accent1"/>
                        </a:solidFill>
                        <a:latin typeface="Cambria Math" panose="02040503050406030204" pitchFamily="18" charset="0"/>
                      </a:rPr>
                      <m:t>𝑷</m:t>
                    </m:r>
                    <m:r>
                      <a:rPr lang="en-AU" i="1">
                        <a:solidFill>
                          <a:schemeClr val="accent1"/>
                        </a:solidFill>
                        <a:latin typeface="Cambria Math" panose="02040503050406030204" pitchFamily="18" charset="0"/>
                      </a:rPr>
                      <m:t>(</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𝑁𝑚𝑔</m:t>
                        </m:r>
                        <m:r>
                          <a:rPr lang="en-AU" i="1">
                            <a:solidFill>
                              <a:schemeClr val="accent1"/>
                            </a:solidFill>
                            <a:latin typeface="Cambria Math" panose="02040503050406030204" pitchFamily="18" charset="0"/>
                          </a:rPr>
                          <m:t>  </m:t>
                        </m:r>
                      </m:num>
                      <m:den>
                        <m:r>
                          <a:rPr lang="en-AU" i="1">
                            <a:solidFill>
                              <a:schemeClr val="accent1"/>
                            </a:solidFill>
                            <a:latin typeface="Cambria Math" panose="02040503050406030204" pitchFamily="18" charset="0"/>
                          </a:rPr>
                          <m:t>𝐴</m:t>
                        </m:r>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𝑚𝑔</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𝑧</m:t>
                            </m:r>
                          </m:e>
                          <m:sup>
                            <m:r>
                              <a:rPr lang="en-AU" i="1">
                                <a:solidFill>
                                  <a:schemeClr val="accent1"/>
                                </a:solidFill>
                                <a:latin typeface="Cambria Math" panose="02040503050406030204" pitchFamily="18" charset="0"/>
                              </a:rPr>
                              <m:t>′</m:t>
                            </m:r>
                          </m:sup>
                        </m:sSup>
                      </m:sup>
                    </m:sSup>
                  </m:oMath>
                </a14:m>
                <a:r>
                  <a:rPr lang="en-AU" dirty="0">
                    <a:solidFill>
                      <a:schemeClr val="accent1"/>
                    </a:solidFill>
                    <a:effectLst/>
                  </a:rPr>
                  <a:t> </a:t>
                </a:r>
                <a:endParaRPr lang="en-AU" dirty="0">
                  <a:solidFill>
                    <a:schemeClr val="accent1"/>
                  </a:solidFill>
                </a:endParaRPr>
              </a:p>
              <a:p>
                <a:endParaRPr lang="en-AU" dirty="0"/>
              </a:p>
            </p:txBody>
          </p:sp>
        </mc:Choice>
        <mc:Fallback xmlns="">
          <p:sp>
            <p:nvSpPr>
              <p:cNvPr id="5" name="TextBox 4">
                <a:extLst>
                  <a:ext uri="{FF2B5EF4-FFF2-40B4-BE49-F238E27FC236}">
                    <a16:creationId xmlns:a16="http://schemas.microsoft.com/office/drawing/2014/main" id="{1882FE13-6A8D-2E92-8B4A-22A8268797CB}"/>
                  </a:ext>
                </a:extLst>
              </p:cNvPr>
              <p:cNvSpPr txBox="1">
                <a:spLocks noRot="1" noChangeAspect="1" noMove="1" noResize="1" noEditPoints="1" noAdjustHandles="1" noChangeArrowheads="1" noChangeShapeType="1" noTextEdit="1"/>
              </p:cNvSpPr>
              <p:nvPr/>
            </p:nvSpPr>
            <p:spPr>
              <a:xfrm>
                <a:off x="3584448" y="210683"/>
                <a:ext cx="8126079" cy="6627327"/>
              </a:xfrm>
              <a:prstGeom prst="rect">
                <a:avLst/>
              </a:prstGeom>
              <a:blipFill>
                <a:blip r:embed="rId3"/>
                <a:stretch>
                  <a:fillRect l="-624" t="-382" r="-468"/>
                </a:stretch>
              </a:blipFill>
            </p:spPr>
            <p:txBody>
              <a:bodyPr/>
              <a:lstStyle/>
              <a:p>
                <a:r>
                  <a:rPr lang="en-US">
                    <a:noFill/>
                  </a:rPr>
                  <a:t> </a:t>
                </a:r>
              </a:p>
            </p:txBody>
          </p:sp>
        </mc:Fallback>
      </mc:AlternateContent>
    </p:spTree>
    <p:extLst>
      <p:ext uri="{BB962C8B-B14F-4D97-AF65-F5344CB8AC3E}">
        <p14:creationId xmlns:p14="http://schemas.microsoft.com/office/powerpoint/2010/main" val="4163925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9BA38-69B1-0B63-8230-1A493A804B7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4F821799-F841-2703-5DCD-3A42A8951195}"/>
                  </a:ext>
                </a:extLst>
              </p:cNvPr>
              <p:cNvSpPr>
                <a:spLocks noGrp="1"/>
              </p:cNvSpPr>
              <p:nvPr>
                <p:ph type="title"/>
              </p:nvPr>
            </p:nvSpPr>
            <p:spPr>
              <a:xfrm>
                <a:off x="644068" y="154129"/>
                <a:ext cx="11338666" cy="6107914"/>
              </a:xfrm>
            </p:spPr>
            <p:txBody>
              <a:bodyPr>
                <a:noAutofit/>
              </a:bodyPr>
              <a:lstStyle/>
              <a:p>
                <a:pPr/>
                <a:r>
                  <a:rPr lang="en-AU" sz="2400" dirty="0"/>
                  <a:t>Consider a dilute gas made up of molecules which have a permanent electric dipole moment </a:t>
                </a:r>
                <a14:m>
                  <m:oMath xmlns:m="http://schemas.openxmlformats.org/officeDocument/2006/math">
                    <m:r>
                      <a:rPr lang="en-AU" sz="2400" i="1">
                        <a:latin typeface="Cambria Math" panose="02040503050406030204" pitchFamily="18" charset="0"/>
                      </a:rPr>
                      <m:t>𝜇</m:t>
                    </m:r>
                    <m:r>
                      <a:rPr lang="en-AU" sz="2400" i="1">
                        <a:latin typeface="Cambria Math" panose="02040503050406030204" pitchFamily="18" charset="0"/>
                      </a:rPr>
                      <m:t>.</m:t>
                    </m:r>
                  </m:oMath>
                </a14:m>
                <a:r>
                  <a:rPr lang="en-AU" sz="2400" dirty="0"/>
                  <a:t> We treat the dipoles as classical rods with moment of inertia </a:t>
                </a:r>
                <a14:m>
                  <m:oMath xmlns:m="http://schemas.openxmlformats.org/officeDocument/2006/math">
                    <m:r>
                      <a:rPr lang="en-AU" sz="2400" i="1">
                        <a:latin typeface="Cambria Math" panose="02040503050406030204" pitchFamily="18" charset="0"/>
                      </a:rPr>
                      <m:t>𝐼</m:t>
                    </m:r>
                    <m:r>
                      <a:rPr lang="en-AU" sz="2400" i="1">
                        <a:latin typeface="Cambria Math" panose="02040503050406030204" pitchFamily="18" charset="0"/>
                      </a:rPr>
                      <m:t>. </m:t>
                    </m:r>
                  </m:oMath>
                </a14:m>
                <a:r>
                  <a:rPr lang="en-AU" sz="2400" dirty="0"/>
                  <a:t>The Hamiltonian of a molecule in an electric field E pointing in the z-direction can be written as</a:t>
                </a:r>
                <a:br>
                  <a:rPr lang="en-AU" sz="2400" dirty="0"/>
                </a:b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𝐻</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𝑇</m:t>
                          </m:r>
                        </m:e>
                        <m:sub>
                          <m:r>
                            <a:rPr lang="en-AU" sz="2400" i="1">
                              <a:latin typeface="Cambria Math" panose="02040503050406030204" pitchFamily="18" charset="0"/>
                            </a:rPr>
                            <m:t>𝑡𝑟𝑎𝑛𝑠</m:t>
                          </m:r>
                        </m:sub>
                      </m:sSub>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𝑇</m:t>
                          </m:r>
                        </m:e>
                        <m:sub>
                          <m:r>
                            <a:rPr lang="en-AU" sz="2400" i="1">
                              <a:latin typeface="Cambria Math" panose="02040503050406030204" pitchFamily="18" charset="0"/>
                            </a:rPr>
                            <m:t>𝑟𝑜𝑡</m:t>
                          </m:r>
                        </m:sub>
                      </m:sSub>
                      <m:r>
                        <a:rPr lang="en-AU" sz="2400" i="1">
                          <a:latin typeface="Cambria Math" panose="02040503050406030204" pitchFamily="18" charset="0"/>
                        </a:rPr>
                        <m:t>−</m:t>
                      </m:r>
                      <m:r>
                        <a:rPr lang="en-AU" sz="2400" i="1">
                          <a:latin typeface="Cambria Math" panose="02040503050406030204" pitchFamily="18" charset="0"/>
                        </a:rPr>
                        <m:t>𝜇</m:t>
                      </m:r>
                      <m:r>
                        <a:rPr lang="en-AU" sz="2400" i="1">
                          <a:latin typeface="Cambria Math" panose="02040503050406030204" pitchFamily="18" charset="0"/>
                        </a:rPr>
                        <m:t>𝐸𝑐𝑜𝑠</m:t>
                      </m:r>
                      <m:r>
                        <a:rPr lang="en-AU" sz="2400" i="1">
                          <a:latin typeface="Cambria Math" panose="02040503050406030204" pitchFamily="18" charset="0"/>
                        </a:rPr>
                        <m:t>𝜃</m:t>
                      </m:r>
                    </m:oMath>
                  </m:oMathPara>
                </a14:m>
                <a:br>
                  <a:rPr lang="en-AU" sz="2400" dirty="0"/>
                </a:br>
                <a:r>
                  <a:rPr lang="en-AU" sz="2400" dirty="0"/>
                  <a:t>Where </a:t>
                </a:r>
                <a14:m>
                  <m:oMath xmlns:m="http://schemas.openxmlformats.org/officeDocument/2006/math">
                    <m:r>
                      <a:rPr lang="en-AU" sz="2400" i="1">
                        <a:latin typeface="Cambria Math" panose="02040503050406030204" pitchFamily="18" charset="0"/>
                      </a:rPr>
                      <m:t>𝜃</m:t>
                    </m:r>
                  </m:oMath>
                </a14:m>
                <a:r>
                  <a:rPr lang="en-AU" sz="2400" dirty="0"/>
                  <a:t> is the azimuthal angle and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𝑇</m:t>
                        </m:r>
                      </m:e>
                      <m:sub>
                        <m:r>
                          <a:rPr lang="en-AU" sz="2400" i="1">
                            <a:latin typeface="Cambria Math" panose="02040503050406030204" pitchFamily="18" charset="0"/>
                          </a:rPr>
                          <m:t>𝑟𝑜𝑡</m:t>
                        </m:r>
                      </m:sub>
                    </m:sSub>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2</m:t>
                        </m:r>
                      </m:den>
                    </m:f>
                    <m:r>
                      <a:rPr lang="en-AU" sz="2400" i="1">
                        <a:latin typeface="Cambria Math" panose="02040503050406030204" pitchFamily="18" charset="0"/>
                      </a:rPr>
                      <m:t>𝐼</m:t>
                    </m:r>
                    <m:d>
                      <m:dPr>
                        <m:ctrlPr>
                          <a:rPr lang="en-AU" sz="2400" i="1">
                            <a:latin typeface="Cambria Math" panose="02040503050406030204" pitchFamily="18" charset="0"/>
                          </a:rPr>
                        </m:ctrlPr>
                      </m:dPr>
                      <m:e>
                        <m:sSup>
                          <m:sSupPr>
                            <m:ctrlPr>
                              <a:rPr lang="en-AU" sz="2400" i="1">
                                <a:latin typeface="Cambria Math" panose="02040503050406030204" pitchFamily="18" charset="0"/>
                              </a:rPr>
                            </m:ctrlPr>
                          </m:sSupPr>
                          <m:e>
                            <m:acc>
                              <m:accPr>
                                <m:chr m:val="̇"/>
                                <m:ctrlPr>
                                  <a:rPr lang="en-AU" sz="2400" i="1">
                                    <a:latin typeface="Cambria Math" panose="02040503050406030204" pitchFamily="18" charset="0"/>
                                  </a:rPr>
                                </m:ctrlPr>
                              </m:accPr>
                              <m:e>
                                <m:r>
                                  <a:rPr lang="en-AU" sz="2400" i="1">
                                    <a:latin typeface="Cambria Math" panose="02040503050406030204" pitchFamily="18" charset="0"/>
                                  </a:rPr>
                                  <m:t>𝜃</m:t>
                                </m:r>
                              </m:e>
                            </m:acc>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acc>
                              <m:accPr>
                                <m:chr m:val="̇"/>
                                <m:ctrlPr>
                                  <a:rPr lang="en-AU" sz="2400" i="1">
                                    <a:latin typeface="Cambria Math" panose="02040503050406030204" pitchFamily="18" charset="0"/>
                                  </a:rPr>
                                </m:ctrlPr>
                              </m:accPr>
                              <m:e>
                                <m:r>
                                  <a:rPr lang="en-AU" sz="2400" i="1">
                                    <a:latin typeface="Cambria Math" panose="02040503050406030204" pitchFamily="18" charset="0"/>
                                  </a:rPr>
                                  <m:t>𝜙</m:t>
                                </m:r>
                              </m:e>
                            </m:acc>
                          </m:e>
                          <m:sup>
                            <m:r>
                              <a:rPr lang="en-AU" sz="2400" i="1">
                                <a:latin typeface="Cambria Math" panose="02040503050406030204" pitchFamily="18" charset="0"/>
                              </a:rPr>
                              <m:t>2</m:t>
                            </m:r>
                          </m:sup>
                        </m:sSup>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e>
                              <m:sup>
                                <m:r>
                                  <a:rPr lang="en-AU" sz="2400" i="1">
                                    <a:latin typeface="Cambria Math" panose="02040503050406030204" pitchFamily="18" charset="0"/>
                                  </a:rPr>
                                  <m:t>2</m:t>
                                </m:r>
                              </m:sup>
                            </m:sSup>
                          </m:fName>
                          <m:e>
                            <m:r>
                              <a:rPr lang="en-AU" sz="2400" i="1">
                                <a:latin typeface="Cambria Math" panose="02040503050406030204" pitchFamily="18" charset="0"/>
                              </a:rPr>
                              <m:t>𝜃</m:t>
                            </m:r>
                          </m:e>
                        </m:func>
                      </m:e>
                    </m:d>
                    <m:r>
                      <a:rPr lang="en-AU" sz="2400" i="1">
                        <a:latin typeface="Cambria Math" panose="02040503050406030204" pitchFamily="18" charset="0"/>
                      </a:rPr>
                      <m:t>. </m:t>
                    </m:r>
                  </m:oMath>
                </a14:m>
                <a:br>
                  <a:rPr lang="en-AU" sz="2400" dirty="0"/>
                </a:br>
                <a:r>
                  <a:rPr lang="en-AU" sz="2400" dirty="0"/>
                  <a:t>The canonical partition function for the non-interacting gas can be written as </a:t>
                </a:r>
                <a14:m>
                  <m:oMath xmlns:m="http://schemas.openxmlformats.org/officeDocument/2006/math">
                    <m:r>
                      <a:rPr lang="en-AU" sz="2400" i="1">
                        <a:latin typeface="Cambria Math" panose="02040503050406030204" pitchFamily="18" charset="0"/>
                      </a:rPr>
                      <m:t>𝑍</m:t>
                    </m:r>
                    <m:r>
                      <a:rPr lang="en-AU" sz="2400" i="1">
                        <a:latin typeface="Cambria Math" panose="02040503050406030204" pitchFamily="18" charset="0"/>
                      </a:rPr>
                      <m:t>=</m:t>
                    </m:r>
                    <m:sSubSup>
                      <m:sSubSupPr>
                        <m:ctrlPr>
                          <a:rPr lang="en-AU" sz="2400" i="1">
                            <a:latin typeface="Cambria Math" panose="02040503050406030204" pitchFamily="18" charset="0"/>
                          </a:rPr>
                        </m:ctrlPr>
                      </m:sSubSupPr>
                      <m:e>
                        <m:r>
                          <a:rPr lang="en-AU" sz="2400" i="1">
                            <a:latin typeface="Cambria Math" panose="02040503050406030204" pitchFamily="18" charset="0"/>
                          </a:rPr>
                          <m:t>𝑍</m:t>
                        </m:r>
                      </m:e>
                      <m:sub>
                        <m:r>
                          <a:rPr lang="en-AU" sz="2400" i="1">
                            <a:latin typeface="Cambria Math" panose="02040503050406030204" pitchFamily="18" charset="0"/>
                          </a:rPr>
                          <m:t>1</m:t>
                        </m:r>
                      </m:sub>
                      <m:sup>
                        <m:r>
                          <a:rPr lang="en-AU" sz="2400" i="1">
                            <a:latin typeface="Cambria Math" panose="02040503050406030204" pitchFamily="18" charset="0"/>
                          </a:rPr>
                          <m:t>𝑁</m:t>
                        </m:r>
                      </m:sup>
                    </m:sSubSup>
                  </m:oMath>
                </a14:m>
                <a:r>
                  <a:rPr lang="en-AU" sz="2400" dirty="0"/>
                  <a:t>, where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𝑍</m:t>
                        </m:r>
                      </m:e>
                      <m:sub>
                        <m:r>
                          <a:rPr lang="en-AU" sz="2400" i="1">
                            <a:latin typeface="Cambria Math" panose="02040503050406030204" pitchFamily="18" charset="0"/>
                          </a:rPr>
                          <m:t>1</m:t>
                        </m:r>
                      </m:sub>
                    </m:sSub>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𝑍</m:t>
                        </m:r>
                      </m:e>
                      <m:sub>
                        <m:r>
                          <a:rPr lang="en-AU" sz="2400" i="1">
                            <a:latin typeface="Cambria Math" panose="02040503050406030204" pitchFamily="18" charset="0"/>
                          </a:rPr>
                          <m:t>𝑡𝑟𝑎𝑛𝑠</m:t>
                        </m:r>
                      </m:sub>
                    </m:sSub>
                    <m:sSub>
                      <m:sSubPr>
                        <m:ctrlPr>
                          <a:rPr lang="en-AU" sz="2400" i="1">
                            <a:latin typeface="Cambria Math" panose="02040503050406030204" pitchFamily="18" charset="0"/>
                          </a:rPr>
                        </m:ctrlPr>
                      </m:sSubPr>
                      <m:e>
                        <m:r>
                          <a:rPr lang="en-AU" sz="2400" i="1">
                            <a:latin typeface="Cambria Math" panose="02040503050406030204" pitchFamily="18" charset="0"/>
                          </a:rPr>
                          <m:t>𝑍</m:t>
                        </m:r>
                      </m:e>
                      <m:sub>
                        <m:r>
                          <a:rPr lang="en-AU" sz="2400" i="1">
                            <a:latin typeface="Cambria Math" panose="02040503050406030204" pitchFamily="18" charset="0"/>
                          </a:rPr>
                          <m:t>𝑟𝑜𝑡</m:t>
                        </m:r>
                      </m:sub>
                    </m:sSub>
                  </m:oMath>
                </a14:m>
                <a:r>
                  <a:rPr lang="en-AU" sz="2400" dirty="0"/>
                  <a:t>.</a:t>
                </a:r>
                <a:br>
                  <a:rPr lang="en-AU" sz="2400" dirty="0"/>
                </a:br>
                <a:r>
                  <a:rPr lang="en-AU" sz="2400" dirty="0"/>
                  <a:t> </a:t>
                </a:r>
                <a:br>
                  <a:rPr lang="en-AU" sz="2400" dirty="0"/>
                </a:br>
                <a:r>
                  <a:rPr lang="en-AU" sz="2400" dirty="0"/>
                  <a:t> </a:t>
                </a:r>
                <a:br>
                  <a:rPr lang="en-AU" sz="2400" dirty="0"/>
                </a:br>
                <a:r>
                  <a:rPr lang="en-AU" sz="2400" dirty="0"/>
                  <a:t>a) Write H in terms of canonical momenta:</a:t>
                </a:r>
                <a:br>
                  <a:rPr lang="en-AU" sz="2400" dirty="0"/>
                </a:b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𝑝</m:t>
                          </m:r>
                        </m:e>
                        <m:sub>
                          <m:r>
                            <a:rPr lang="en-AU" sz="2400" i="1">
                              <a:latin typeface="Cambria Math" panose="02040503050406030204" pitchFamily="18" charset="0"/>
                            </a:rPr>
                            <m:t>𝜃</m:t>
                          </m:r>
                        </m:sub>
                      </m:sSub>
                      <m:r>
                        <a:rPr lang="en-AU" sz="2400" i="1">
                          <a:latin typeface="Cambria Math" panose="02040503050406030204" pitchFamily="18" charset="0"/>
                        </a:rPr>
                        <m:t>=</m:t>
                      </m:r>
                      <m:r>
                        <a:rPr lang="en-AU" sz="2400" i="1">
                          <a:latin typeface="Cambria Math" panose="02040503050406030204" pitchFamily="18" charset="0"/>
                        </a:rPr>
                        <m:t>𝐼</m:t>
                      </m:r>
                      <m:acc>
                        <m:accPr>
                          <m:chr m:val="̇"/>
                          <m:ctrlPr>
                            <a:rPr lang="en-AU" sz="2400" i="1">
                              <a:latin typeface="Cambria Math" panose="02040503050406030204" pitchFamily="18" charset="0"/>
                            </a:rPr>
                          </m:ctrlPr>
                        </m:accPr>
                        <m:e>
                          <m:r>
                            <a:rPr lang="en-AU" sz="2400" i="1">
                              <a:latin typeface="Cambria Math" panose="02040503050406030204" pitchFamily="18" charset="0"/>
                            </a:rPr>
                            <m:t>𝜃</m:t>
                          </m:r>
                        </m:e>
                      </m:acc>
                      <m:r>
                        <a:rPr lang="en-AU" sz="2400" i="1">
                          <a:latin typeface="Cambria Math" panose="02040503050406030204" pitchFamily="18" charset="0"/>
                        </a:rPr>
                        <m:t>, </m:t>
                      </m:r>
                      <m:sSub>
                        <m:sSubPr>
                          <m:ctrlPr>
                            <a:rPr lang="en-AU" sz="2400" i="1">
                              <a:latin typeface="Cambria Math" panose="02040503050406030204" pitchFamily="18" charset="0"/>
                            </a:rPr>
                          </m:ctrlPr>
                        </m:sSubPr>
                        <m:e>
                          <m:r>
                            <a:rPr lang="en-AU" sz="2400" i="1">
                              <a:latin typeface="Cambria Math" panose="02040503050406030204" pitchFamily="18" charset="0"/>
                            </a:rPr>
                            <m:t>𝑝</m:t>
                          </m:r>
                        </m:e>
                        <m:sub>
                          <m:r>
                            <a:rPr lang="en-AU" sz="2400" i="1">
                              <a:latin typeface="Cambria Math" panose="02040503050406030204" pitchFamily="18" charset="0"/>
                            </a:rPr>
                            <m:t>𝜙</m:t>
                          </m:r>
                        </m:sub>
                      </m:sSub>
                      <m:r>
                        <a:rPr lang="en-AU" sz="2400" i="1">
                          <a:latin typeface="Cambria Math" panose="02040503050406030204" pitchFamily="18" charset="0"/>
                        </a:rPr>
                        <m:t>=</m:t>
                      </m:r>
                      <m:r>
                        <a:rPr lang="en-AU" sz="2400" i="1">
                          <a:latin typeface="Cambria Math" panose="02040503050406030204" pitchFamily="18" charset="0"/>
                        </a:rPr>
                        <m:t>𝐼</m:t>
                      </m:r>
                      <m:r>
                        <a:rPr lang="en-AU" sz="2400" i="1">
                          <a:latin typeface="Cambria Math" panose="02040503050406030204" pitchFamily="18" charset="0"/>
                        </a:rPr>
                        <m:t> </m:t>
                      </m:r>
                      <m:acc>
                        <m:accPr>
                          <m:chr m:val="̇"/>
                          <m:ctrlPr>
                            <a:rPr lang="en-AU" sz="2400" i="1">
                              <a:latin typeface="Cambria Math" panose="02040503050406030204" pitchFamily="18" charset="0"/>
                            </a:rPr>
                          </m:ctrlPr>
                        </m:accPr>
                        <m:e>
                          <m:r>
                            <a:rPr lang="en-AU" sz="2400" i="1">
                              <a:latin typeface="Cambria Math" panose="02040503050406030204" pitchFamily="18" charset="0"/>
                            </a:rPr>
                            <m:t>𝜙</m:t>
                          </m:r>
                        </m:e>
                      </m:acc>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e>
                            <m:sup>
                              <m:r>
                                <a:rPr lang="en-AU" sz="2400" i="1">
                                  <a:latin typeface="Cambria Math" panose="02040503050406030204" pitchFamily="18" charset="0"/>
                                </a:rPr>
                                <m:t>2</m:t>
                              </m:r>
                            </m:sup>
                          </m:sSup>
                        </m:fName>
                        <m:e>
                          <m:r>
                            <a:rPr lang="en-AU" sz="2400" i="1">
                              <a:latin typeface="Cambria Math" panose="02040503050406030204" pitchFamily="18" charset="0"/>
                            </a:rPr>
                            <m:t>𝜃</m:t>
                          </m:r>
                        </m:e>
                      </m:func>
                    </m:oMath>
                  </m:oMathPara>
                </a14:m>
                <a:br>
                  <a:rPr lang="en-AU" sz="2400" dirty="0"/>
                </a:br>
                <a:r>
                  <a:rPr lang="en-AU" sz="2400" dirty="0"/>
                  <a:t> </a:t>
                </a:r>
                <a:br>
                  <a:rPr lang="en-AU" sz="2400" dirty="0"/>
                </a:br>
                <a:r>
                  <a:rPr lang="en-AU" sz="2400" dirty="0"/>
                  <a:t>and hence show that</a:t>
                </a:r>
                <a:br>
                  <a:rPr lang="en-AU" sz="2400" dirty="0"/>
                </a:b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𝑍</m:t>
                          </m:r>
                        </m:e>
                        <m:sub>
                          <m:r>
                            <a:rPr lang="en-AU" sz="2400" i="1">
                              <a:latin typeface="Cambria Math" panose="02040503050406030204" pitchFamily="18" charset="0"/>
                            </a:rPr>
                            <m:t>𝑟𝑜</m:t>
                          </m:r>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1</m:t>
                              </m:r>
                            </m:sub>
                          </m:sSub>
                        </m:sub>
                      </m:sSub>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8</m:t>
                          </m:r>
                          <m:sSup>
                            <m:sSupPr>
                              <m:ctrlPr>
                                <a:rPr lang="en-AU" sz="2400" i="1">
                                  <a:latin typeface="Cambria Math" panose="02040503050406030204" pitchFamily="18" charset="0"/>
                                </a:rPr>
                              </m:ctrlPr>
                            </m:sSupPr>
                            <m:e>
                              <m:r>
                                <a:rPr lang="en-AU" sz="2400" i="1">
                                  <a:latin typeface="Cambria Math" panose="02040503050406030204" pitchFamily="18" charset="0"/>
                                </a:rPr>
                                <m:t>𝜋</m:t>
                              </m:r>
                            </m:e>
                            <m:sup>
                              <m:r>
                                <a:rPr lang="en-AU" sz="2400" i="1">
                                  <a:latin typeface="Cambria Math" panose="02040503050406030204" pitchFamily="18" charset="0"/>
                                </a:rPr>
                                <m:t>2</m:t>
                              </m:r>
                            </m:sup>
                          </m:sSup>
                          <m:r>
                            <a:rPr lang="en-AU" sz="2400" i="1">
                              <a:latin typeface="Cambria Math" panose="02040503050406030204" pitchFamily="18" charset="0"/>
                            </a:rPr>
                            <m:t>𝐼</m:t>
                          </m:r>
                        </m:num>
                        <m:den>
                          <m:sSup>
                            <m:sSupPr>
                              <m:ctrlPr>
                                <a:rPr lang="en-AU" sz="2400" i="1">
                                  <a:latin typeface="Cambria Math" panose="02040503050406030204" pitchFamily="18" charset="0"/>
                                </a:rPr>
                              </m:ctrlPr>
                            </m:sSupPr>
                            <m:e>
                              <m:r>
                                <a:rPr lang="en-AU" sz="2400" i="1">
                                  <a:latin typeface="Cambria Math" panose="02040503050406030204" pitchFamily="18" charset="0"/>
                                </a:rPr>
                                <m:t>h</m:t>
                              </m:r>
                            </m:e>
                            <m:sup>
                              <m:r>
                                <a:rPr lang="en-AU" sz="2400" i="1">
                                  <a:latin typeface="Cambria Math" panose="02040503050406030204" pitchFamily="18" charset="0"/>
                                </a:rPr>
                                <m:t>2</m:t>
                              </m:r>
                            </m:sup>
                          </m:sSup>
                          <m:sSup>
                            <m:sSupPr>
                              <m:ctrlPr>
                                <a:rPr lang="en-AU" sz="2400" i="1">
                                  <a:latin typeface="Cambria Math" panose="02040503050406030204" pitchFamily="18" charset="0"/>
                                </a:rPr>
                              </m:ctrlPr>
                            </m:sSupPr>
                            <m:e>
                              <m:r>
                                <a:rPr lang="en-AU" sz="2400" i="1">
                                  <a:latin typeface="Cambria Math" panose="02040503050406030204" pitchFamily="18" charset="0"/>
                                </a:rPr>
                                <m:t>𝛽</m:t>
                              </m:r>
                            </m:e>
                            <m:sup>
                              <m:r>
                                <a:rPr lang="en-AU" sz="2400" i="1">
                                  <a:latin typeface="Cambria Math" panose="02040503050406030204" pitchFamily="18" charset="0"/>
                                </a:rPr>
                                <m:t>2</m:t>
                              </m:r>
                            </m:sup>
                          </m:sSup>
                          <m:r>
                            <a:rPr lang="en-AU" sz="2400" i="1">
                              <a:latin typeface="Cambria Math" panose="02040503050406030204" pitchFamily="18" charset="0"/>
                            </a:rPr>
                            <m:t>𝜇</m:t>
                          </m:r>
                          <m:r>
                            <a:rPr lang="en-AU" sz="2400" i="1">
                              <a:latin typeface="Cambria Math" panose="02040503050406030204" pitchFamily="18" charset="0"/>
                            </a:rPr>
                            <m:t>𝐸</m:t>
                          </m:r>
                        </m:den>
                      </m:f>
                      <m:r>
                        <m:rPr>
                          <m:sty m:val="p"/>
                        </m:rPr>
                        <a:rPr lang="en-AU" sz="2400">
                          <a:latin typeface="Cambria Math" panose="02040503050406030204" pitchFamily="18" charset="0"/>
                        </a:rPr>
                        <m:t>sinh</m:t>
                      </m:r>
                      <m:r>
                        <a:rPr lang="en-AU" sz="2400" i="1">
                          <a:latin typeface="Cambria Math" panose="02040503050406030204" pitchFamily="18" charset="0"/>
                        </a:rPr>
                        <m:t>(</m:t>
                      </m:r>
                      <m:r>
                        <a:rPr lang="en-AU" sz="2400" i="1">
                          <a:latin typeface="Cambria Math" panose="02040503050406030204" pitchFamily="18" charset="0"/>
                        </a:rPr>
                        <m:t>𝛽𝜇</m:t>
                      </m:r>
                      <m:r>
                        <a:rPr lang="en-AU" sz="2400" i="1">
                          <a:latin typeface="Cambria Math" panose="02040503050406030204" pitchFamily="18" charset="0"/>
                        </a:rPr>
                        <m:t>𝐸</m:t>
                      </m:r>
                      <m:r>
                        <a:rPr lang="en-AU" sz="2400" i="1">
                          <a:latin typeface="Cambria Math" panose="02040503050406030204" pitchFamily="18" charset="0"/>
                        </a:rPr>
                        <m:t>)</m:t>
                      </m:r>
                    </m:oMath>
                  </m:oMathPara>
                </a14:m>
                <a:endParaRPr lang="en-AU" sz="2400" dirty="0"/>
              </a:p>
            </p:txBody>
          </p:sp>
        </mc:Choice>
        <mc:Fallback xmlns="">
          <p:sp>
            <p:nvSpPr>
              <p:cNvPr id="5" name="Title 4">
                <a:extLst>
                  <a:ext uri="{FF2B5EF4-FFF2-40B4-BE49-F238E27FC236}">
                    <a16:creationId xmlns:a16="http://schemas.microsoft.com/office/drawing/2014/main" id="{4F821799-F841-2703-5DCD-3A42A8951195}"/>
                  </a:ext>
                </a:extLst>
              </p:cNvPr>
              <p:cNvSpPr>
                <a:spLocks noGrp="1" noRot="1" noChangeAspect="1" noMove="1" noResize="1" noEditPoints="1" noAdjustHandles="1" noChangeArrowheads="1" noChangeShapeType="1" noTextEdit="1"/>
              </p:cNvSpPr>
              <p:nvPr>
                <p:ph type="title"/>
              </p:nvPr>
            </p:nvSpPr>
            <p:spPr>
              <a:xfrm>
                <a:off x="644068" y="154129"/>
                <a:ext cx="11338666" cy="6107914"/>
              </a:xfrm>
              <a:blipFill>
                <a:blip r:embed="rId2"/>
                <a:stretch>
                  <a:fillRect l="-783" r="-895"/>
                </a:stretch>
              </a:blipFill>
            </p:spPr>
            <p:txBody>
              <a:bodyPr/>
              <a:lstStyle/>
              <a:p>
                <a:r>
                  <a:rPr lang="en-US">
                    <a:noFill/>
                  </a:rPr>
                  <a:t> </a:t>
                </a:r>
              </a:p>
            </p:txBody>
          </p:sp>
        </mc:Fallback>
      </mc:AlternateContent>
    </p:spTree>
    <p:extLst>
      <p:ext uri="{BB962C8B-B14F-4D97-AF65-F5344CB8AC3E}">
        <p14:creationId xmlns:p14="http://schemas.microsoft.com/office/powerpoint/2010/main" val="59375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4E6B5-4B84-5E78-3C91-DBF1DF104B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4E357B18-A30F-5D78-3155-D4FE03690FEA}"/>
                  </a:ext>
                </a:extLst>
              </p:cNvPr>
              <p:cNvSpPr>
                <a:spLocks noGrp="1"/>
              </p:cNvSpPr>
              <p:nvPr>
                <p:ph type="title"/>
              </p:nvPr>
            </p:nvSpPr>
            <p:spPr>
              <a:xfrm>
                <a:off x="308788" y="-173023"/>
                <a:ext cx="11338666" cy="4267504"/>
              </a:xfrm>
            </p:spPr>
            <p:txBody>
              <a:bodyPr>
                <a:noAutofit/>
              </a:bodyPr>
              <a:lstStyle/>
              <a:p>
                <a:pPr/>
                <a:r>
                  <a:rPr lang="en-AU" sz="1800" dirty="0"/>
                  <a:t>Consider a dilute gas made up of molecules which have a permanent electric dipole moment </a:t>
                </a:r>
                <a14:m>
                  <m:oMath xmlns:m="http://schemas.openxmlformats.org/officeDocument/2006/math">
                    <m:r>
                      <a:rPr lang="en-AU" sz="1800" i="1">
                        <a:latin typeface="Cambria Math" panose="02040503050406030204" pitchFamily="18" charset="0"/>
                      </a:rPr>
                      <m:t>𝜇</m:t>
                    </m:r>
                    <m:r>
                      <a:rPr lang="en-AU" sz="1800" i="1">
                        <a:latin typeface="Cambria Math" panose="02040503050406030204" pitchFamily="18" charset="0"/>
                      </a:rPr>
                      <m:t>.</m:t>
                    </m:r>
                  </m:oMath>
                </a14:m>
                <a:r>
                  <a:rPr lang="en-AU" sz="1800" dirty="0"/>
                  <a:t> We treat the dipoles as classical rods with moment of inertia </a:t>
                </a:r>
                <a14:m>
                  <m:oMath xmlns:m="http://schemas.openxmlformats.org/officeDocument/2006/math">
                    <m:r>
                      <a:rPr lang="en-AU" sz="1800" i="1">
                        <a:latin typeface="Cambria Math" panose="02040503050406030204" pitchFamily="18" charset="0"/>
                      </a:rPr>
                      <m:t>𝐼</m:t>
                    </m:r>
                    <m:r>
                      <a:rPr lang="en-AU" sz="1800" i="1">
                        <a:latin typeface="Cambria Math" panose="02040503050406030204" pitchFamily="18" charset="0"/>
                      </a:rPr>
                      <m:t>. </m:t>
                    </m:r>
                  </m:oMath>
                </a14:m>
                <a:r>
                  <a:rPr lang="en-AU" sz="1800" dirty="0"/>
                  <a:t>The Hamiltonian of a molecule in an electric field E pointing in the z-direction can be written as</a:t>
                </a:r>
                <a:br>
                  <a:rPr lang="en-AU" sz="1800" dirty="0"/>
                </a:br>
                <a14:m>
                  <m:oMathPara xmlns:m="http://schemas.openxmlformats.org/officeDocument/2006/math">
                    <m:oMathParaPr>
                      <m:jc m:val="centerGroup"/>
                    </m:oMathParaPr>
                    <m:oMath xmlns:m="http://schemas.openxmlformats.org/officeDocument/2006/math">
                      <m:r>
                        <a:rPr lang="en-AU" sz="1800" i="1">
                          <a:latin typeface="Cambria Math" panose="02040503050406030204" pitchFamily="18" charset="0"/>
                        </a:rPr>
                        <m:t>𝐻</m:t>
                      </m:r>
                      <m:r>
                        <a:rPr lang="en-AU" sz="1800" i="1">
                          <a:latin typeface="Cambria Math" panose="02040503050406030204" pitchFamily="18" charset="0"/>
                        </a:rPr>
                        <m:t>=</m:t>
                      </m:r>
                      <m:sSub>
                        <m:sSubPr>
                          <m:ctrlPr>
                            <a:rPr lang="en-AU" sz="1800" i="1">
                              <a:latin typeface="Cambria Math" panose="02040503050406030204" pitchFamily="18" charset="0"/>
                            </a:rPr>
                          </m:ctrlPr>
                        </m:sSubPr>
                        <m:e>
                          <m:r>
                            <a:rPr lang="en-AU" sz="1800" i="1">
                              <a:latin typeface="Cambria Math" panose="02040503050406030204" pitchFamily="18" charset="0"/>
                            </a:rPr>
                            <m:t>𝑇</m:t>
                          </m:r>
                        </m:e>
                        <m:sub>
                          <m:r>
                            <a:rPr lang="en-AU" sz="1800" i="1">
                              <a:latin typeface="Cambria Math" panose="02040503050406030204" pitchFamily="18" charset="0"/>
                            </a:rPr>
                            <m:t>𝑡𝑟𝑎𝑛𝑠</m:t>
                          </m:r>
                        </m:sub>
                      </m:sSub>
                      <m:r>
                        <a:rPr lang="en-AU" sz="1800" i="1">
                          <a:latin typeface="Cambria Math" panose="02040503050406030204" pitchFamily="18" charset="0"/>
                        </a:rPr>
                        <m:t>+</m:t>
                      </m:r>
                      <m:sSub>
                        <m:sSubPr>
                          <m:ctrlPr>
                            <a:rPr lang="en-AU" sz="1800" i="1">
                              <a:latin typeface="Cambria Math" panose="02040503050406030204" pitchFamily="18" charset="0"/>
                            </a:rPr>
                          </m:ctrlPr>
                        </m:sSubPr>
                        <m:e>
                          <m:r>
                            <a:rPr lang="en-AU" sz="1800" i="1">
                              <a:latin typeface="Cambria Math" panose="02040503050406030204" pitchFamily="18" charset="0"/>
                            </a:rPr>
                            <m:t>𝑇</m:t>
                          </m:r>
                        </m:e>
                        <m:sub>
                          <m:r>
                            <a:rPr lang="en-AU" sz="1800" i="1">
                              <a:latin typeface="Cambria Math" panose="02040503050406030204" pitchFamily="18" charset="0"/>
                            </a:rPr>
                            <m:t>𝑟𝑜𝑡</m:t>
                          </m:r>
                        </m:sub>
                      </m:sSub>
                      <m:r>
                        <a:rPr lang="en-AU" sz="1800" i="1">
                          <a:latin typeface="Cambria Math" panose="02040503050406030204" pitchFamily="18" charset="0"/>
                        </a:rPr>
                        <m:t>−</m:t>
                      </m:r>
                      <m:r>
                        <a:rPr lang="en-AU" sz="1800" i="1">
                          <a:latin typeface="Cambria Math" panose="02040503050406030204" pitchFamily="18" charset="0"/>
                        </a:rPr>
                        <m:t>𝜇</m:t>
                      </m:r>
                      <m:r>
                        <a:rPr lang="en-AU" sz="1800" i="1">
                          <a:latin typeface="Cambria Math" panose="02040503050406030204" pitchFamily="18" charset="0"/>
                        </a:rPr>
                        <m:t>𝐸𝑐𝑜𝑠</m:t>
                      </m:r>
                      <m:r>
                        <a:rPr lang="en-AU" sz="1800" i="1">
                          <a:latin typeface="Cambria Math" panose="02040503050406030204" pitchFamily="18" charset="0"/>
                        </a:rPr>
                        <m:t>𝜃</m:t>
                      </m:r>
                    </m:oMath>
                  </m:oMathPara>
                </a14:m>
                <a:br>
                  <a:rPr lang="en-AU" sz="1800" dirty="0"/>
                </a:br>
                <a:r>
                  <a:rPr lang="en-AU" sz="1800" dirty="0"/>
                  <a:t>Where </a:t>
                </a:r>
                <a14:m>
                  <m:oMath xmlns:m="http://schemas.openxmlformats.org/officeDocument/2006/math">
                    <m:r>
                      <a:rPr lang="en-AU" sz="1800" i="1">
                        <a:latin typeface="Cambria Math" panose="02040503050406030204" pitchFamily="18" charset="0"/>
                      </a:rPr>
                      <m:t>𝜃</m:t>
                    </m:r>
                  </m:oMath>
                </a14:m>
                <a:r>
                  <a:rPr lang="en-AU" sz="1800" dirty="0"/>
                  <a:t> is the azimuthal angle and </a:t>
                </a:r>
                <a14:m>
                  <m:oMath xmlns:m="http://schemas.openxmlformats.org/officeDocument/2006/math">
                    <m:sSub>
                      <m:sSubPr>
                        <m:ctrlPr>
                          <a:rPr lang="en-AU" sz="1800" i="1">
                            <a:latin typeface="Cambria Math" panose="02040503050406030204" pitchFamily="18" charset="0"/>
                          </a:rPr>
                        </m:ctrlPr>
                      </m:sSubPr>
                      <m:e>
                        <m:r>
                          <a:rPr lang="en-AU" sz="1800" i="1">
                            <a:latin typeface="Cambria Math" panose="02040503050406030204" pitchFamily="18" charset="0"/>
                          </a:rPr>
                          <m:t>𝑇</m:t>
                        </m:r>
                      </m:e>
                      <m:sub>
                        <m:r>
                          <a:rPr lang="en-AU" sz="1800" i="1">
                            <a:latin typeface="Cambria Math" panose="02040503050406030204" pitchFamily="18" charset="0"/>
                          </a:rPr>
                          <m:t>𝑟𝑜𝑡</m:t>
                        </m:r>
                      </m:sub>
                    </m:sSub>
                    <m:r>
                      <a:rPr lang="en-AU" sz="1800" i="1">
                        <a:latin typeface="Cambria Math" panose="02040503050406030204" pitchFamily="18" charset="0"/>
                      </a:rPr>
                      <m:t>=</m:t>
                    </m:r>
                    <m:f>
                      <m:fPr>
                        <m:ctrlPr>
                          <a:rPr lang="en-AU" sz="1800" i="1">
                            <a:latin typeface="Cambria Math" panose="02040503050406030204" pitchFamily="18" charset="0"/>
                          </a:rPr>
                        </m:ctrlPr>
                      </m:fPr>
                      <m:num>
                        <m:r>
                          <a:rPr lang="en-AU" sz="1800" i="1">
                            <a:latin typeface="Cambria Math" panose="02040503050406030204" pitchFamily="18" charset="0"/>
                          </a:rPr>
                          <m:t>1</m:t>
                        </m:r>
                      </m:num>
                      <m:den>
                        <m:r>
                          <a:rPr lang="en-AU" sz="1800" i="1">
                            <a:latin typeface="Cambria Math" panose="02040503050406030204" pitchFamily="18" charset="0"/>
                          </a:rPr>
                          <m:t>2</m:t>
                        </m:r>
                      </m:den>
                    </m:f>
                    <m:r>
                      <a:rPr lang="en-AU" sz="1800" i="1">
                        <a:latin typeface="Cambria Math" panose="02040503050406030204" pitchFamily="18" charset="0"/>
                      </a:rPr>
                      <m:t>𝐼</m:t>
                    </m:r>
                    <m:d>
                      <m:dPr>
                        <m:ctrlPr>
                          <a:rPr lang="en-AU" sz="1800" i="1">
                            <a:latin typeface="Cambria Math" panose="02040503050406030204" pitchFamily="18" charset="0"/>
                          </a:rPr>
                        </m:ctrlPr>
                      </m:dPr>
                      <m:e>
                        <m:sSup>
                          <m:sSupPr>
                            <m:ctrlPr>
                              <a:rPr lang="en-AU" sz="1800" i="1">
                                <a:latin typeface="Cambria Math" panose="02040503050406030204" pitchFamily="18" charset="0"/>
                              </a:rPr>
                            </m:ctrlPr>
                          </m:sSupPr>
                          <m:e>
                            <m:acc>
                              <m:accPr>
                                <m:chr m:val="̇"/>
                                <m:ctrlPr>
                                  <a:rPr lang="en-AU" sz="1800" i="1">
                                    <a:latin typeface="Cambria Math" panose="02040503050406030204" pitchFamily="18" charset="0"/>
                                  </a:rPr>
                                </m:ctrlPr>
                              </m:accPr>
                              <m:e>
                                <m:r>
                                  <a:rPr lang="en-AU" sz="1800" i="1">
                                    <a:latin typeface="Cambria Math" panose="02040503050406030204" pitchFamily="18" charset="0"/>
                                  </a:rPr>
                                  <m:t>𝜃</m:t>
                                </m:r>
                              </m:e>
                            </m:acc>
                          </m:e>
                          <m:sup>
                            <m:r>
                              <a:rPr lang="en-AU" sz="1800" i="1">
                                <a:latin typeface="Cambria Math" panose="02040503050406030204" pitchFamily="18" charset="0"/>
                              </a:rPr>
                              <m:t>2</m:t>
                            </m:r>
                          </m:sup>
                        </m:sSup>
                        <m:r>
                          <a:rPr lang="en-AU" sz="1800" i="1">
                            <a:latin typeface="Cambria Math" panose="02040503050406030204" pitchFamily="18" charset="0"/>
                          </a:rPr>
                          <m:t>+</m:t>
                        </m:r>
                        <m:sSup>
                          <m:sSupPr>
                            <m:ctrlPr>
                              <a:rPr lang="en-AU" sz="1800" i="1">
                                <a:latin typeface="Cambria Math" panose="02040503050406030204" pitchFamily="18" charset="0"/>
                              </a:rPr>
                            </m:ctrlPr>
                          </m:sSupPr>
                          <m:e>
                            <m:acc>
                              <m:accPr>
                                <m:chr m:val="̇"/>
                                <m:ctrlPr>
                                  <a:rPr lang="en-AU" sz="1800" i="1">
                                    <a:latin typeface="Cambria Math" panose="02040503050406030204" pitchFamily="18" charset="0"/>
                                  </a:rPr>
                                </m:ctrlPr>
                              </m:accPr>
                              <m:e>
                                <m:r>
                                  <a:rPr lang="en-AU" sz="1800" i="1">
                                    <a:latin typeface="Cambria Math" panose="02040503050406030204" pitchFamily="18" charset="0"/>
                                  </a:rPr>
                                  <m:t>𝜙</m:t>
                                </m:r>
                              </m:e>
                            </m:acc>
                          </m:e>
                          <m:sup>
                            <m:r>
                              <a:rPr lang="en-AU" sz="1800" i="1">
                                <a:latin typeface="Cambria Math" panose="02040503050406030204" pitchFamily="18" charset="0"/>
                              </a:rPr>
                              <m:t>2</m:t>
                            </m:r>
                          </m:sup>
                        </m:sSup>
                        <m:func>
                          <m:funcPr>
                            <m:ctrlPr>
                              <a:rPr lang="en-AU" sz="1800" i="1">
                                <a:latin typeface="Cambria Math" panose="02040503050406030204" pitchFamily="18" charset="0"/>
                              </a:rPr>
                            </m:ctrlPr>
                          </m:funcPr>
                          <m:fName>
                            <m:sSup>
                              <m:sSupPr>
                                <m:ctrlPr>
                                  <a:rPr lang="en-AU" sz="1800" i="1">
                                    <a:latin typeface="Cambria Math" panose="02040503050406030204" pitchFamily="18" charset="0"/>
                                  </a:rPr>
                                </m:ctrlPr>
                              </m:sSupPr>
                              <m:e>
                                <m:r>
                                  <m:rPr>
                                    <m:sty m:val="p"/>
                                  </m:rPr>
                                  <a:rPr lang="en-AU" sz="1800">
                                    <a:latin typeface="Cambria Math" panose="02040503050406030204" pitchFamily="18" charset="0"/>
                                  </a:rPr>
                                  <m:t>sin</m:t>
                                </m:r>
                              </m:e>
                              <m:sup>
                                <m:r>
                                  <a:rPr lang="en-AU" sz="1800" i="1">
                                    <a:latin typeface="Cambria Math" panose="02040503050406030204" pitchFamily="18" charset="0"/>
                                  </a:rPr>
                                  <m:t>2</m:t>
                                </m:r>
                              </m:sup>
                            </m:sSup>
                          </m:fName>
                          <m:e>
                            <m:r>
                              <a:rPr lang="en-AU" sz="1800" i="1">
                                <a:latin typeface="Cambria Math" panose="02040503050406030204" pitchFamily="18" charset="0"/>
                              </a:rPr>
                              <m:t>𝜃</m:t>
                            </m:r>
                          </m:e>
                        </m:func>
                      </m:e>
                    </m:d>
                    <m:r>
                      <a:rPr lang="en-AU" sz="1800" i="1">
                        <a:latin typeface="Cambria Math" panose="02040503050406030204" pitchFamily="18" charset="0"/>
                      </a:rPr>
                      <m:t>. </m:t>
                    </m:r>
                  </m:oMath>
                </a14:m>
                <a:br>
                  <a:rPr lang="en-AU" sz="1800" dirty="0"/>
                </a:br>
                <a:r>
                  <a:rPr lang="en-AU" sz="1800" dirty="0"/>
                  <a:t>The canonical partition function for the non-interacting gas can be written as </a:t>
                </a:r>
                <a14:m>
                  <m:oMath xmlns:m="http://schemas.openxmlformats.org/officeDocument/2006/math">
                    <m:r>
                      <a:rPr lang="en-AU" sz="1800" i="1">
                        <a:latin typeface="Cambria Math" panose="02040503050406030204" pitchFamily="18" charset="0"/>
                      </a:rPr>
                      <m:t>𝑍</m:t>
                    </m:r>
                    <m:r>
                      <a:rPr lang="en-AU" sz="1800" i="1">
                        <a:latin typeface="Cambria Math" panose="02040503050406030204" pitchFamily="18" charset="0"/>
                      </a:rPr>
                      <m:t>=</m:t>
                    </m:r>
                    <m:sSubSup>
                      <m:sSubSupPr>
                        <m:ctrlPr>
                          <a:rPr lang="en-AU" sz="1800" i="1">
                            <a:latin typeface="Cambria Math" panose="02040503050406030204" pitchFamily="18" charset="0"/>
                          </a:rPr>
                        </m:ctrlPr>
                      </m:sSubSupPr>
                      <m:e>
                        <m:r>
                          <a:rPr lang="en-AU" sz="1800" i="1">
                            <a:latin typeface="Cambria Math" panose="02040503050406030204" pitchFamily="18" charset="0"/>
                          </a:rPr>
                          <m:t>𝑍</m:t>
                        </m:r>
                      </m:e>
                      <m:sub>
                        <m:r>
                          <a:rPr lang="en-AU" sz="1800" i="1">
                            <a:latin typeface="Cambria Math" panose="02040503050406030204" pitchFamily="18" charset="0"/>
                          </a:rPr>
                          <m:t>1</m:t>
                        </m:r>
                      </m:sub>
                      <m:sup>
                        <m:r>
                          <a:rPr lang="en-AU" sz="1800" i="1">
                            <a:latin typeface="Cambria Math" panose="02040503050406030204" pitchFamily="18" charset="0"/>
                          </a:rPr>
                          <m:t>𝑁</m:t>
                        </m:r>
                      </m:sup>
                    </m:sSubSup>
                  </m:oMath>
                </a14:m>
                <a:r>
                  <a:rPr lang="en-AU" sz="1800" dirty="0"/>
                  <a:t>,. where </a:t>
                </a:r>
                <a14:m>
                  <m:oMath xmlns:m="http://schemas.openxmlformats.org/officeDocument/2006/math">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1</m:t>
                        </m:r>
                      </m:sub>
                    </m:sSub>
                    <m:r>
                      <a:rPr lang="en-AU" sz="1800" i="1">
                        <a:latin typeface="Cambria Math" panose="02040503050406030204" pitchFamily="18" charset="0"/>
                      </a:rPr>
                      <m:t>=</m:t>
                    </m:r>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𝑡𝑟𝑎𝑛𝑠</m:t>
                        </m:r>
                      </m:sub>
                    </m:sSub>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𝑟𝑜𝑡</m:t>
                        </m:r>
                      </m:sub>
                    </m:sSub>
                  </m:oMath>
                </a14:m>
                <a:br>
                  <a:rPr lang="en-AU" sz="1800" dirty="0"/>
                </a:br>
                <a:r>
                  <a:rPr lang="en-AU" sz="1800" dirty="0"/>
                  <a:t> </a:t>
                </a:r>
                <a:br>
                  <a:rPr lang="en-AU" sz="1800" dirty="0"/>
                </a:br>
                <a:r>
                  <a:rPr lang="en-AU" sz="1800" dirty="0"/>
                  <a:t> </a:t>
                </a:r>
                <a:br>
                  <a:rPr lang="en-AU" sz="1800" dirty="0"/>
                </a:br>
                <a:r>
                  <a:rPr lang="en-AU" sz="1800" dirty="0"/>
                  <a:t>Write H in terms of canonical momenta:</a:t>
                </a:r>
                <a:br>
                  <a:rPr lang="en-AU" sz="1800" dirty="0"/>
                </a:br>
                <a14:m>
                  <m:oMathPara xmlns:m="http://schemas.openxmlformats.org/officeDocument/2006/math">
                    <m:oMathParaPr>
                      <m:jc m:val="centerGroup"/>
                    </m:oMathParaPr>
                    <m:oMath xmlns:m="http://schemas.openxmlformats.org/officeDocument/2006/math">
                      <m:sSub>
                        <m:sSubPr>
                          <m:ctrlPr>
                            <a:rPr lang="en-AU" sz="1800" i="1">
                              <a:latin typeface="Cambria Math" panose="02040503050406030204" pitchFamily="18" charset="0"/>
                            </a:rPr>
                          </m:ctrlPr>
                        </m:sSubPr>
                        <m:e>
                          <m:r>
                            <a:rPr lang="en-AU" sz="1800" i="1">
                              <a:latin typeface="Cambria Math" panose="02040503050406030204" pitchFamily="18" charset="0"/>
                            </a:rPr>
                            <m:t>𝑝</m:t>
                          </m:r>
                        </m:e>
                        <m:sub>
                          <m:r>
                            <a:rPr lang="en-AU" sz="1800" i="1">
                              <a:latin typeface="Cambria Math" panose="02040503050406030204" pitchFamily="18" charset="0"/>
                            </a:rPr>
                            <m:t>𝜃</m:t>
                          </m:r>
                        </m:sub>
                      </m:sSub>
                      <m:r>
                        <a:rPr lang="en-AU" sz="1800" i="1">
                          <a:latin typeface="Cambria Math" panose="02040503050406030204" pitchFamily="18" charset="0"/>
                        </a:rPr>
                        <m:t>=</m:t>
                      </m:r>
                      <m:r>
                        <a:rPr lang="en-AU" sz="1800" i="1">
                          <a:latin typeface="Cambria Math" panose="02040503050406030204" pitchFamily="18" charset="0"/>
                        </a:rPr>
                        <m:t>𝐼</m:t>
                      </m:r>
                      <m:acc>
                        <m:accPr>
                          <m:chr m:val="̇"/>
                          <m:ctrlPr>
                            <a:rPr lang="en-AU" sz="1800" i="1">
                              <a:latin typeface="Cambria Math" panose="02040503050406030204" pitchFamily="18" charset="0"/>
                            </a:rPr>
                          </m:ctrlPr>
                        </m:accPr>
                        <m:e>
                          <m:r>
                            <a:rPr lang="en-AU" sz="1800" i="1">
                              <a:latin typeface="Cambria Math" panose="02040503050406030204" pitchFamily="18" charset="0"/>
                            </a:rPr>
                            <m:t>𝜃</m:t>
                          </m:r>
                        </m:e>
                      </m:acc>
                      <m:r>
                        <a:rPr lang="en-AU" sz="1800" i="1">
                          <a:latin typeface="Cambria Math" panose="02040503050406030204" pitchFamily="18" charset="0"/>
                        </a:rPr>
                        <m:t>, </m:t>
                      </m:r>
                      <m:sSub>
                        <m:sSubPr>
                          <m:ctrlPr>
                            <a:rPr lang="en-AU" sz="1800" i="1">
                              <a:latin typeface="Cambria Math" panose="02040503050406030204" pitchFamily="18" charset="0"/>
                            </a:rPr>
                          </m:ctrlPr>
                        </m:sSubPr>
                        <m:e>
                          <m:r>
                            <a:rPr lang="en-AU" sz="1800" i="1">
                              <a:latin typeface="Cambria Math" panose="02040503050406030204" pitchFamily="18" charset="0"/>
                            </a:rPr>
                            <m:t>𝑝</m:t>
                          </m:r>
                        </m:e>
                        <m:sub>
                          <m:r>
                            <a:rPr lang="en-AU" sz="1800" i="1">
                              <a:latin typeface="Cambria Math" panose="02040503050406030204" pitchFamily="18" charset="0"/>
                            </a:rPr>
                            <m:t>𝜙</m:t>
                          </m:r>
                        </m:sub>
                      </m:sSub>
                      <m:r>
                        <a:rPr lang="en-AU" sz="1800" i="1">
                          <a:latin typeface="Cambria Math" panose="02040503050406030204" pitchFamily="18" charset="0"/>
                        </a:rPr>
                        <m:t>=</m:t>
                      </m:r>
                      <m:r>
                        <a:rPr lang="en-AU" sz="1800" i="1">
                          <a:latin typeface="Cambria Math" panose="02040503050406030204" pitchFamily="18" charset="0"/>
                        </a:rPr>
                        <m:t>𝐼</m:t>
                      </m:r>
                      <m:r>
                        <a:rPr lang="en-AU" sz="1800" i="1">
                          <a:latin typeface="Cambria Math" panose="02040503050406030204" pitchFamily="18" charset="0"/>
                        </a:rPr>
                        <m:t> </m:t>
                      </m:r>
                      <m:acc>
                        <m:accPr>
                          <m:chr m:val="̇"/>
                          <m:ctrlPr>
                            <a:rPr lang="en-AU" sz="1800" i="1">
                              <a:latin typeface="Cambria Math" panose="02040503050406030204" pitchFamily="18" charset="0"/>
                            </a:rPr>
                          </m:ctrlPr>
                        </m:accPr>
                        <m:e>
                          <m:r>
                            <a:rPr lang="en-AU" sz="1800" i="1">
                              <a:latin typeface="Cambria Math" panose="02040503050406030204" pitchFamily="18" charset="0"/>
                            </a:rPr>
                            <m:t>𝜙</m:t>
                          </m:r>
                        </m:e>
                      </m:acc>
                      <m:func>
                        <m:funcPr>
                          <m:ctrlPr>
                            <a:rPr lang="en-AU" sz="1800" i="1">
                              <a:latin typeface="Cambria Math" panose="02040503050406030204" pitchFamily="18" charset="0"/>
                            </a:rPr>
                          </m:ctrlPr>
                        </m:funcPr>
                        <m:fName>
                          <m:sSup>
                            <m:sSupPr>
                              <m:ctrlPr>
                                <a:rPr lang="en-AU" sz="1800" i="1">
                                  <a:latin typeface="Cambria Math" panose="02040503050406030204" pitchFamily="18" charset="0"/>
                                </a:rPr>
                              </m:ctrlPr>
                            </m:sSupPr>
                            <m:e>
                              <m:r>
                                <m:rPr>
                                  <m:sty m:val="p"/>
                                </m:rPr>
                                <a:rPr lang="en-AU" sz="1800">
                                  <a:latin typeface="Cambria Math" panose="02040503050406030204" pitchFamily="18" charset="0"/>
                                </a:rPr>
                                <m:t>sin</m:t>
                              </m:r>
                            </m:e>
                            <m:sup>
                              <m:r>
                                <a:rPr lang="en-AU" sz="1800" i="1">
                                  <a:latin typeface="Cambria Math" panose="02040503050406030204" pitchFamily="18" charset="0"/>
                                </a:rPr>
                                <m:t>2</m:t>
                              </m:r>
                            </m:sup>
                          </m:sSup>
                        </m:fName>
                        <m:e>
                          <m:r>
                            <a:rPr lang="en-AU" sz="1800" i="1">
                              <a:latin typeface="Cambria Math" panose="02040503050406030204" pitchFamily="18" charset="0"/>
                            </a:rPr>
                            <m:t>𝜃</m:t>
                          </m:r>
                        </m:e>
                      </m:func>
                    </m:oMath>
                  </m:oMathPara>
                </a14:m>
                <a:br>
                  <a:rPr lang="en-AU" sz="1800" dirty="0"/>
                </a:br>
                <a:r>
                  <a:rPr lang="en-AU" sz="1800" dirty="0"/>
                  <a:t> </a:t>
                </a:r>
                <a:br>
                  <a:rPr lang="en-AU" sz="1800" dirty="0"/>
                </a:br>
                <a:r>
                  <a:rPr lang="en-AU" sz="1800" dirty="0"/>
                  <a:t>and hence show that</a:t>
                </a:r>
                <a:br>
                  <a:rPr lang="en-AU" sz="1800" dirty="0"/>
                </a:br>
                <a14:m>
                  <m:oMathPara xmlns:m="http://schemas.openxmlformats.org/officeDocument/2006/math">
                    <m:oMathParaPr>
                      <m:jc m:val="centerGroup"/>
                    </m:oMathParaPr>
                    <m:oMath xmlns:m="http://schemas.openxmlformats.org/officeDocument/2006/math">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𝑟𝑜</m:t>
                          </m:r>
                          <m:sSub>
                            <m:sSubPr>
                              <m:ctrlPr>
                                <a:rPr lang="en-AU" sz="1800" i="1">
                                  <a:latin typeface="Cambria Math" panose="02040503050406030204" pitchFamily="18" charset="0"/>
                                </a:rPr>
                              </m:ctrlPr>
                            </m:sSubPr>
                            <m:e>
                              <m:r>
                                <a:rPr lang="en-AU" sz="1800" i="1">
                                  <a:latin typeface="Cambria Math" panose="02040503050406030204" pitchFamily="18" charset="0"/>
                                </a:rPr>
                                <m:t>𝑡</m:t>
                              </m:r>
                            </m:e>
                            <m:sub>
                              <m:r>
                                <a:rPr lang="en-AU" sz="1800" i="1">
                                  <a:latin typeface="Cambria Math" panose="02040503050406030204" pitchFamily="18" charset="0"/>
                                </a:rPr>
                                <m:t>1</m:t>
                              </m:r>
                            </m:sub>
                          </m:sSub>
                        </m:sub>
                      </m:sSub>
                      <m:r>
                        <a:rPr lang="en-AU" sz="1800" i="1">
                          <a:latin typeface="Cambria Math" panose="02040503050406030204" pitchFamily="18" charset="0"/>
                        </a:rPr>
                        <m:t>=</m:t>
                      </m:r>
                      <m:f>
                        <m:fPr>
                          <m:ctrlPr>
                            <a:rPr lang="en-AU" sz="1800" i="1">
                              <a:latin typeface="Cambria Math" panose="02040503050406030204" pitchFamily="18" charset="0"/>
                            </a:rPr>
                          </m:ctrlPr>
                        </m:fPr>
                        <m:num>
                          <m:r>
                            <a:rPr lang="en-AU" sz="1800" i="1">
                              <a:latin typeface="Cambria Math" panose="02040503050406030204" pitchFamily="18" charset="0"/>
                            </a:rPr>
                            <m:t>8</m:t>
                          </m:r>
                          <m:sSup>
                            <m:sSupPr>
                              <m:ctrlPr>
                                <a:rPr lang="en-AU" sz="1800" i="1">
                                  <a:latin typeface="Cambria Math" panose="02040503050406030204" pitchFamily="18" charset="0"/>
                                </a:rPr>
                              </m:ctrlPr>
                            </m:sSupPr>
                            <m:e>
                              <m:r>
                                <a:rPr lang="en-AU" sz="1800" i="1">
                                  <a:latin typeface="Cambria Math" panose="02040503050406030204" pitchFamily="18" charset="0"/>
                                </a:rPr>
                                <m:t>𝜋</m:t>
                              </m:r>
                            </m:e>
                            <m:sup>
                              <m:r>
                                <a:rPr lang="en-AU" sz="1800" i="1">
                                  <a:latin typeface="Cambria Math" panose="02040503050406030204" pitchFamily="18" charset="0"/>
                                </a:rPr>
                                <m:t>2</m:t>
                              </m:r>
                            </m:sup>
                          </m:sSup>
                          <m:r>
                            <a:rPr lang="en-AU" sz="1800" i="1">
                              <a:latin typeface="Cambria Math" panose="02040503050406030204" pitchFamily="18" charset="0"/>
                            </a:rPr>
                            <m:t>𝐼</m:t>
                          </m:r>
                        </m:num>
                        <m:den>
                          <m:sSup>
                            <m:sSupPr>
                              <m:ctrlPr>
                                <a:rPr lang="en-AU" sz="1800" i="1">
                                  <a:latin typeface="Cambria Math" panose="02040503050406030204" pitchFamily="18" charset="0"/>
                                </a:rPr>
                              </m:ctrlPr>
                            </m:sSupPr>
                            <m:e>
                              <m:r>
                                <a:rPr lang="en-AU" sz="1800" i="1">
                                  <a:latin typeface="Cambria Math" panose="02040503050406030204" pitchFamily="18" charset="0"/>
                                </a:rPr>
                                <m:t>h</m:t>
                              </m:r>
                            </m:e>
                            <m:sup>
                              <m:r>
                                <a:rPr lang="en-AU" sz="1800" i="1">
                                  <a:latin typeface="Cambria Math" panose="02040503050406030204" pitchFamily="18" charset="0"/>
                                </a:rPr>
                                <m:t>2</m:t>
                              </m:r>
                            </m:sup>
                          </m:sSup>
                          <m:sSup>
                            <m:sSupPr>
                              <m:ctrlPr>
                                <a:rPr lang="en-AU" sz="1800" i="1">
                                  <a:latin typeface="Cambria Math" panose="02040503050406030204" pitchFamily="18" charset="0"/>
                                </a:rPr>
                              </m:ctrlPr>
                            </m:sSupPr>
                            <m:e>
                              <m:r>
                                <a:rPr lang="en-AU" sz="1800" i="1">
                                  <a:latin typeface="Cambria Math" panose="02040503050406030204" pitchFamily="18" charset="0"/>
                                </a:rPr>
                                <m:t>𝛽</m:t>
                              </m:r>
                            </m:e>
                            <m:sup>
                              <m:r>
                                <a:rPr lang="en-AU" sz="1800" i="1">
                                  <a:latin typeface="Cambria Math" panose="02040503050406030204" pitchFamily="18" charset="0"/>
                                </a:rPr>
                                <m:t>2</m:t>
                              </m:r>
                            </m:sup>
                          </m:sSup>
                          <m:r>
                            <a:rPr lang="en-AU" sz="1800" i="1">
                              <a:latin typeface="Cambria Math" panose="02040503050406030204" pitchFamily="18" charset="0"/>
                            </a:rPr>
                            <m:t>𝜇</m:t>
                          </m:r>
                          <m:r>
                            <a:rPr lang="en-AU" sz="1800" i="1">
                              <a:latin typeface="Cambria Math" panose="02040503050406030204" pitchFamily="18" charset="0"/>
                            </a:rPr>
                            <m:t>𝐸</m:t>
                          </m:r>
                        </m:den>
                      </m:f>
                      <m:r>
                        <m:rPr>
                          <m:sty m:val="p"/>
                        </m:rPr>
                        <a:rPr lang="en-AU" sz="1800">
                          <a:latin typeface="Cambria Math" panose="02040503050406030204" pitchFamily="18" charset="0"/>
                        </a:rPr>
                        <m:t>sinh</m:t>
                      </m:r>
                      <m:r>
                        <a:rPr lang="en-AU" sz="1800" i="1">
                          <a:latin typeface="Cambria Math" panose="02040503050406030204" pitchFamily="18" charset="0"/>
                        </a:rPr>
                        <m:t>(</m:t>
                      </m:r>
                      <m:r>
                        <a:rPr lang="en-AU" sz="1800" i="1">
                          <a:latin typeface="Cambria Math" panose="02040503050406030204" pitchFamily="18" charset="0"/>
                        </a:rPr>
                        <m:t>𝛽𝜇</m:t>
                      </m:r>
                      <m:r>
                        <a:rPr lang="en-AU" sz="1800" i="1">
                          <a:latin typeface="Cambria Math" panose="02040503050406030204" pitchFamily="18" charset="0"/>
                        </a:rPr>
                        <m:t>𝐸</m:t>
                      </m:r>
                      <m:r>
                        <a:rPr lang="en-AU" sz="1800" i="1">
                          <a:latin typeface="Cambria Math" panose="02040503050406030204" pitchFamily="18" charset="0"/>
                        </a:rPr>
                        <m:t>)</m:t>
                      </m:r>
                    </m:oMath>
                  </m:oMathPara>
                </a14:m>
                <a:endParaRPr lang="en-AU" sz="1800" dirty="0"/>
              </a:p>
            </p:txBody>
          </p:sp>
        </mc:Choice>
        <mc:Fallback xmlns="">
          <p:sp>
            <p:nvSpPr>
              <p:cNvPr id="5" name="Title 4">
                <a:extLst>
                  <a:ext uri="{FF2B5EF4-FFF2-40B4-BE49-F238E27FC236}">
                    <a16:creationId xmlns:a16="http://schemas.microsoft.com/office/drawing/2014/main" id="{4E357B18-A30F-5D78-3155-D4FE03690FEA}"/>
                  </a:ext>
                </a:extLst>
              </p:cNvPr>
              <p:cNvSpPr>
                <a:spLocks noGrp="1" noRot="1" noChangeAspect="1" noMove="1" noResize="1" noEditPoints="1" noAdjustHandles="1" noChangeArrowheads="1" noChangeShapeType="1" noTextEdit="1"/>
              </p:cNvSpPr>
              <p:nvPr>
                <p:ph type="title"/>
              </p:nvPr>
            </p:nvSpPr>
            <p:spPr>
              <a:xfrm>
                <a:off x="308788" y="-173023"/>
                <a:ext cx="11338666" cy="4267504"/>
              </a:xfrm>
              <a:blipFill>
                <a:blip r:embed="rId2"/>
                <a:stretch>
                  <a:fillRect l="-4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4">
                <a:extLst>
                  <a:ext uri="{FF2B5EF4-FFF2-40B4-BE49-F238E27FC236}">
                    <a16:creationId xmlns:a16="http://schemas.microsoft.com/office/drawing/2014/main" id="{47CFB5E8-AD5E-35FE-3E44-02506E6E6057}"/>
                  </a:ext>
                </a:extLst>
              </p:cNvPr>
              <p:cNvSpPr txBox="1">
                <a:spLocks/>
              </p:cNvSpPr>
              <p:nvPr/>
            </p:nvSpPr>
            <p:spPr>
              <a:xfrm>
                <a:off x="426667" y="3930467"/>
                <a:ext cx="11338666" cy="276352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AutoNum type="arabicPeriod"/>
                </a:pPr>
                <a:r>
                  <a:rPr lang="en-US" sz="1800" dirty="0">
                    <a:solidFill>
                      <a:schemeClr val="accent1"/>
                    </a:solidFill>
                  </a:rPr>
                  <a:t>Figure out the number of particles and degeneracies- in this case, it just wants us to find </a:t>
                </a:r>
                <a14:m>
                  <m:oMath xmlns:m="http://schemas.openxmlformats.org/officeDocument/2006/math">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1</m:t>
                        </m:r>
                      </m:sub>
                    </m:sSub>
                    <m:r>
                      <a:rPr lang="en-AU" sz="1800" i="1">
                        <a:latin typeface="Cambria Math" panose="02040503050406030204" pitchFamily="18" charset="0"/>
                      </a:rPr>
                      <m:t>=</m:t>
                    </m:r>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𝑡𝑟𝑎𝑛𝑠</m:t>
                        </m:r>
                      </m:sub>
                    </m:sSub>
                    <m:sSub>
                      <m:sSubPr>
                        <m:ctrlPr>
                          <a:rPr lang="en-AU" sz="1800" i="1">
                            <a:latin typeface="Cambria Math" panose="02040503050406030204" pitchFamily="18" charset="0"/>
                          </a:rPr>
                        </m:ctrlPr>
                      </m:sSubPr>
                      <m:e>
                        <m:r>
                          <a:rPr lang="en-AU" sz="1800" i="1">
                            <a:latin typeface="Cambria Math" panose="02040503050406030204" pitchFamily="18" charset="0"/>
                          </a:rPr>
                          <m:t>𝑍</m:t>
                        </m:r>
                      </m:e>
                      <m:sub>
                        <m:r>
                          <a:rPr lang="en-AU" sz="1800" i="1">
                            <a:latin typeface="Cambria Math" panose="02040503050406030204" pitchFamily="18" charset="0"/>
                          </a:rPr>
                          <m:t>𝑟𝑜𝑡</m:t>
                        </m:r>
                      </m:sub>
                    </m:sSub>
                  </m:oMath>
                </a14:m>
                <a:r>
                  <a:rPr lang="en-US" sz="1800" dirty="0">
                    <a:solidFill>
                      <a:schemeClr val="accent1"/>
                    </a:solidFill>
                  </a:rPr>
                  <a:t>, so we can immediately move on to step 2. </a:t>
                </a:r>
              </a:p>
              <a:p>
                <a:endParaRPr lang="en-US" sz="1800" dirty="0">
                  <a:solidFill>
                    <a:schemeClr val="accent1"/>
                  </a:solidFill>
                </a:endParaRPr>
              </a:p>
              <a:p>
                <a:r>
                  <a:rPr lang="en-US" sz="1800" dirty="0">
                    <a:solidFill>
                      <a:schemeClr val="accent1"/>
                    </a:solidFill>
                  </a:rPr>
                  <a:t>2. Write Hamiltonian </a:t>
                </a:r>
              </a:p>
              <a:p>
                <a:endParaRPr lang="en-AU" sz="1800" dirty="0">
                  <a:solidFill>
                    <a:schemeClr val="accent1"/>
                  </a:solidFill>
                </a:endParaRPr>
              </a:p>
              <a:p>
                <a:pPr/>
                <a14:m>
                  <m:oMathPara xmlns:m="http://schemas.openxmlformats.org/officeDocument/2006/math">
                    <m:oMathParaPr>
                      <m:jc m:val="centerGroup"/>
                    </m:oMathParaPr>
                    <m:oMath xmlns:m="http://schemas.openxmlformats.org/officeDocument/2006/math">
                      <m:r>
                        <a:rPr lang="en-AU" sz="1800" i="1" smtClean="0">
                          <a:solidFill>
                            <a:schemeClr val="accent1"/>
                          </a:solidFill>
                          <a:latin typeface="Cambria Math" panose="02040503050406030204" pitchFamily="18" charset="0"/>
                        </a:rPr>
                        <m:t>𝐻</m:t>
                      </m:r>
                      <m:r>
                        <a:rPr lang="en-AU" sz="1800" i="1" smtClean="0">
                          <a:solidFill>
                            <a:schemeClr val="accent1"/>
                          </a:solidFill>
                          <a:latin typeface="Cambria Math" panose="02040503050406030204" pitchFamily="18" charset="0"/>
                        </a:rPr>
                        <m:t>=</m:t>
                      </m:r>
                      <m:sSub>
                        <m:sSubPr>
                          <m:ctrlPr>
                            <a:rPr lang="en-AU" sz="1800" i="1">
                              <a:solidFill>
                                <a:schemeClr val="accent1"/>
                              </a:solidFill>
                              <a:latin typeface="Cambria Math" panose="02040503050406030204" pitchFamily="18" charset="0"/>
                            </a:rPr>
                          </m:ctrlPr>
                        </m:sSubPr>
                        <m:e>
                          <m:r>
                            <a:rPr lang="en-AU" sz="1800" i="1">
                              <a:solidFill>
                                <a:schemeClr val="accent1"/>
                              </a:solidFill>
                              <a:latin typeface="Cambria Math" panose="02040503050406030204" pitchFamily="18" charset="0"/>
                            </a:rPr>
                            <m:t>𝑇</m:t>
                          </m:r>
                        </m:e>
                        <m:sub>
                          <m:r>
                            <a:rPr lang="en-AU" sz="1800" i="1">
                              <a:solidFill>
                                <a:schemeClr val="accent1"/>
                              </a:solidFill>
                              <a:latin typeface="Cambria Math" panose="02040503050406030204" pitchFamily="18" charset="0"/>
                            </a:rPr>
                            <m:t>𝑡𝑟𝑎𝑛𝑠</m:t>
                          </m:r>
                        </m:sub>
                      </m:sSub>
                      <m:r>
                        <a:rPr lang="en-AU" sz="1800" i="1">
                          <a:solidFill>
                            <a:schemeClr val="accent1"/>
                          </a:solidFill>
                          <a:latin typeface="Cambria Math" panose="02040503050406030204" pitchFamily="18" charset="0"/>
                        </a:rPr>
                        <m:t>+</m:t>
                      </m:r>
                      <m:sSub>
                        <m:sSubPr>
                          <m:ctrlPr>
                            <a:rPr lang="en-AU" sz="1800" i="1">
                              <a:solidFill>
                                <a:schemeClr val="accent1"/>
                              </a:solidFill>
                              <a:latin typeface="Cambria Math" panose="02040503050406030204" pitchFamily="18" charset="0"/>
                            </a:rPr>
                          </m:ctrlPr>
                        </m:sSubPr>
                        <m:e>
                          <m:r>
                            <a:rPr lang="en-AU" sz="1800" i="1">
                              <a:solidFill>
                                <a:schemeClr val="accent1"/>
                              </a:solidFill>
                              <a:latin typeface="Cambria Math" panose="02040503050406030204" pitchFamily="18" charset="0"/>
                            </a:rPr>
                            <m:t>𝑇</m:t>
                          </m:r>
                        </m:e>
                        <m:sub>
                          <m:r>
                            <a:rPr lang="en-AU" sz="1800" i="1">
                              <a:solidFill>
                                <a:schemeClr val="accent1"/>
                              </a:solidFill>
                              <a:latin typeface="Cambria Math" panose="02040503050406030204" pitchFamily="18" charset="0"/>
                            </a:rPr>
                            <m:t>𝑟𝑜𝑡</m:t>
                          </m:r>
                        </m:sub>
                      </m:sSub>
                      <m:r>
                        <a:rPr lang="en-AU" sz="1800" i="1">
                          <a:solidFill>
                            <a:schemeClr val="accent1"/>
                          </a:solidFill>
                          <a:latin typeface="Cambria Math" panose="02040503050406030204" pitchFamily="18" charset="0"/>
                        </a:rPr>
                        <m:t>−</m:t>
                      </m:r>
                      <m:r>
                        <a:rPr lang="en-AU" sz="1800" i="1">
                          <a:solidFill>
                            <a:schemeClr val="accent1"/>
                          </a:solidFill>
                          <a:latin typeface="Cambria Math" panose="02040503050406030204" pitchFamily="18" charset="0"/>
                        </a:rPr>
                        <m:t>𝜇</m:t>
                      </m:r>
                      <m:r>
                        <a:rPr lang="en-AU" sz="1800" i="1">
                          <a:solidFill>
                            <a:schemeClr val="accent1"/>
                          </a:solidFill>
                          <a:latin typeface="Cambria Math" panose="02040503050406030204" pitchFamily="18" charset="0"/>
                        </a:rPr>
                        <m:t>𝐸𝑐𝑜𝑠</m:t>
                      </m:r>
                      <m:r>
                        <a:rPr lang="en-AU" sz="1800" i="1">
                          <a:solidFill>
                            <a:schemeClr val="accent1"/>
                          </a:solidFill>
                          <a:latin typeface="Cambria Math" panose="02040503050406030204" pitchFamily="18" charset="0"/>
                        </a:rPr>
                        <m:t>𝜃</m:t>
                      </m:r>
                    </m:oMath>
                  </m:oMathPara>
                </a14:m>
                <a:endParaRPr lang="en-AU" sz="1800" dirty="0">
                  <a:solidFill>
                    <a:schemeClr val="accent1"/>
                  </a:solidFill>
                </a:endParaRPr>
              </a:p>
              <a:p>
                <a:pPr/>
                <a14:m>
                  <m:oMathPara xmlns:m="http://schemas.openxmlformats.org/officeDocument/2006/math">
                    <m:oMathParaPr>
                      <m:jc m:val="centerGroup"/>
                    </m:oMathParaPr>
                    <m:oMath xmlns:m="http://schemas.openxmlformats.org/officeDocument/2006/math">
                      <m:r>
                        <a:rPr lang="en-AU" sz="1800" i="1" smtClean="0">
                          <a:solidFill>
                            <a:schemeClr val="accent1"/>
                          </a:solidFill>
                          <a:latin typeface="Cambria Math" panose="02040503050406030204" pitchFamily="18" charset="0"/>
                        </a:rPr>
                        <m:t>𝐻</m:t>
                      </m:r>
                      <m:r>
                        <a:rPr lang="en-AU" sz="1800" i="1" smtClean="0">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sSup>
                            <m:sSupPr>
                              <m:ctrlPr>
                                <a:rPr lang="en-AU" sz="1800" i="1">
                                  <a:solidFill>
                                    <a:schemeClr val="accent1"/>
                                  </a:solidFill>
                                  <a:latin typeface="Cambria Math" panose="02040503050406030204" pitchFamily="18" charset="0"/>
                                </a:rPr>
                              </m:ctrlPr>
                            </m:sSupPr>
                            <m:e>
                              <m:acc>
                                <m:accPr>
                                  <m:chr m:val="⃗"/>
                                  <m:ctrlPr>
                                    <a:rPr lang="en-AU" sz="1800" i="1">
                                      <a:solidFill>
                                        <a:schemeClr val="accent1"/>
                                      </a:solidFill>
                                      <a:latin typeface="Cambria Math" panose="02040503050406030204" pitchFamily="18" charset="0"/>
                                    </a:rPr>
                                  </m:ctrlPr>
                                </m:accPr>
                                <m:e>
                                  <m:r>
                                    <a:rPr lang="en-AU" sz="1800" i="1">
                                      <a:solidFill>
                                        <a:schemeClr val="accent1"/>
                                      </a:solidFill>
                                      <a:latin typeface="Cambria Math" panose="02040503050406030204" pitchFamily="18" charset="0"/>
                                    </a:rPr>
                                    <m:t>𝑝</m:t>
                                  </m:r>
                                </m:e>
                              </m:acc>
                            </m:e>
                            <m:sup>
                              <m:r>
                                <a:rPr lang="en-AU" sz="1800" i="1">
                                  <a:solidFill>
                                    <a:schemeClr val="accent1"/>
                                  </a:solidFill>
                                  <a:latin typeface="Cambria Math" panose="02040503050406030204" pitchFamily="18" charset="0"/>
                                </a:rPr>
                                <m:t>2</m:t>
                              </m:r>
                            </m:sup>
                          </m:sSup>
                        </m:num>
                        <m:den>
                          <m:r>
                            <a:rPr lang="en-AU" sz="1800" i="1">
                              <a:solidFill>
                                <a:schemeClr val="accent1"/>
                              </a:solidFill>
                              <a:latin typeface="Cambria Math" panose="02040503050406030204" pitchFamily="18" charset="0"/>
                            </a:rPr>
                            <m:t>2</m:t>
                          </m:r>
                          <m:r>
                            <a:rPr lang="en-AU" sz="1800" i="1">
                              <a:solidFill>
                                <a:schemeClr val="accent1"/>
                              </a:solidFill>
                              <a:latin typeface="Cambria Math" panose="02040503050406030204" pitchFamily="18" charset="0"/>
                            </a:rPr>
                            <m:t>𝑚</m:t>
                          </m:r>
                        </m:den>
                      </m:f>
                      <m:r>
                        <a:rPr lang="en-AU" sz="1800" b="0" i="1" smtClean="0">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r>
                            <a:rPr lang="en-AU" sz="1800" i="1">
                              <a:solidFill>
                                <a:schemeClr val="accent1"/>
                              </a:solidFill>
                              <a:latin typeface="Cambria Math" panose="02040503050406030204" pitchFamily="18" charset="0"/>
                            </a:rPr>
                            <m:t>1</m:t>
                          </m:r>
                        </m:num>
                        <m:den>
                          <m:r>
                            <a:rPr lang="en-AU" sz="1800" i="1">
                              <a:solidFill>
                                <a:schemeClr val="accent1"/>
                              </a:solidFill>
                              <a:latin typeface="Cambria Math" panose="02040503050406030204" pitchFamily="18" charset="0"/>
                            </a:rPr>
                            <m:t>2</m:t>
                          </m:r>
                        </m:den>
                      </m:f>
                      <m:r>
                        <a:rPr lang="en-AU" sz="1800" i="1">
                          <a:solidFill>
                            <a:schemeClr val="accent1"/>
                          </a:solidFill>
                          <a:latin typeface="Cambria Math" panose="02040503050406030204" pitchFamily="18" charset="0"/>
                        </a:rPr>
                        <m:t>𝐼</m:t>
                      </m:r>
                      <m:d>
                        <m:dPr>
                          <m:ctrlPr>
                            <a:rPr lang="en-AU" sz="1800" i="1">
                              <a:solidFill>
                                <a:schemeClr val="accent1"/>
                              </a:solidFill>
                              <a:latin typeface="Cambria Math" panose="02040503050406030204" pitchFamily="18" charset="0"/>
                            </a:rPr>
                          </m:ctrlPr>
                        </m:dPr>
                        <m:e>
                          <m:sSup>
                            <m:sSupPr>
                              <m:ctrlPr>
                                <a:rPr lang="en-AU" sz="1800" i="1">
                                  <a:solidFill>
                                    <a:schemeClr val="accent1"/>
                                  </a:solidFill>
                                  <a:latin typeface="Cambria Math" panose="02040503050406030204" pitchFamily="18" charset="0"/>
                                </a:rPr>
                              </m:ctrlPr>
                            </m:sSupPr>
                            <m:e>
                              <m:acc>
                                <m:accPr>
                                  <m:chr m:val="̇"/>
                                  <m:ctrlPr>
                                    <a:rPr lang="en-AU" sz="1800" i="1">
                                      <a:solidFill>
                                        <a:schemeClr val="accent1"/>
                                      </a:solidFill>
                                      <a:latin typeface="Cambria Math" panose="02040503050406030204" pitchFamily="18" charset="0"/>
                                    </a:rPr>
                                  </m:ctrlPr>
                                </m:accPr>
                                <m:e>
                                  <m:r>
                                    <a:rPr lang="en-AU" sz="1800" i="1">
                                      <a:solidFill>
                                        <a:schemeClr val="accent1"/>
                                      </a:solidFill>
                                      <a:latin typeface="Cambria Math" panose="02040503050406030204" pitchFamily="18" charset="0"/>
                                    </a:rPr>
                                    <m:t>𝜃</m:t>
                                  </m:r>
                                </m:e>
                              </m:acc>
                            </m:e>
                            <m:sup>
                              <m:r>
                                <a:rPr lang="en-AU" sz="1800" i="1">
                                  <a:solidFill>
                                    <a:schemeClr val="accent1"/>
                                  </a:solidFill>
                                  <a:latin typeface="Cambria Math" panose="02040503050406030204" pitchFamily="18" charset="0"/>
                                </a:rPr>
                                <m:t>2</m:t>
                              </m:r>
                            </m:sup>
                          </m:sSup>
                          <m:r>
                            <a:rPr lang="en-AU" sz="1800" i="1">
                              <a:solidFill>
                                <a:schemeClr val="accent1"/>
                              </a:solidFill>
                              <a:latin typeface="Cambria Math" panose="02040503050406030204" pitchFamily="18" charset="0"/>
                            </a:rPr>
                            <m:t>+</m:t>
                          </m:r>
                          <m:sSup>
                            <m:sSupPr>
                              <m:ctrlPr>
                                <a:rPr lang="en-AU" sz="1800" i="1">
                                  <a:solidFill>
                                    <a:schemeClr val="accent1"/>
                                  </a:solidFill>
                                  <a:latin typeface="Cambria Math" panose="02040503050406030204" pitchFamily="18" charset="0"/>
                                </a:rPr>
                              </m:ctrlPr>
                            </m:sSupPr>
                            <m:e>
                              <m:acc>
                                <m:accPr>
                                  <m:chr m:val="̇"/>
                                  <m:ctrlPr>
                                    <a:rPr lang="en-AU" sz="1800" i="1">
                                      <a:solidFill>
                                        <a:schemeClr val="accent1"/>
                                      </a:solidFill>
                                      <a:latin typeface="Cambria Math" panose="02040503050406030204" pitchFamily="18" charset="0"/>
                                    </a:rPr>
                                  </m:ctrlPr>
                                </m:accPr>
                                <m:e>
                                  <m:r>
                                    <a:rPr lang="en-AU" sz="1800" i="1">
                                      <a:solidFill>
                                        <a:schemeClr val="accent1"/>
                                      </a:solidFill>
                                      <a:latin typeface="Cambria Math" panose="02040503050406030204" pitchFamily="18" charset="0"/>
                                    </a:rPr>
                                    <m:t>𝜙</m:t>
                                  </m:r>
                                </m:e>
                              </m:acc>
                            </m:e>
                            <m:sup>
                              <m:r>
                                <a:rPr lang="en-AU" sz="1800" i="1">
                                  <a:solidFill>
                                    <a:schemeClr val="accent1"/>
                                  </a:solidFill>
                                  <a:latin typeface="Cambria Math" panose="02040503050406030204" pitchFamily="18" charset="0"/>
                                </a:rPr>
                                <m:t>2</m:t>
                              </m:r>
                            </m:sup>
                          </m:sSup>
                          <m:func>
                            <m:funcPr>
                              <m:ctrlPr>
                                <a:rPr lang="en-AU" sz="1800" i="1">
                                  <a:solidFill>
                                    <a:schemeClr val="accent1"/>
                                  </a:solidFill>
                                  <a:latin typeface="Cambria Math" panose="02040503050406030204" pitchFamily="18" charset="0"/>
                                </a:rPr>
                              </m:ctrlPr>
                            </m:funcPr>
                            <m:fName>
                              <m:sSup>
                                <m:sSupPr>
                                  <m:ctrlPr>
                                    <a:rPr lang="en-AU" sz="1800" i="1">
                                      <a:solidFill>
                                        <a:schemeClr val="accent1"/>
                                      </a:solidFill>
                                      <a:latin typeface="Cambria Math" panose="02040503050406030204" pitchFamily="18" charset="0"/>
                                    </a:rPr>
                                  </m:ctrlPr>
                                </m:sSupPr>
                                <m:e>
                                  <m:r>
                                    <m:rPr>
                                      <m:sty m:val="p"/>
                                    </m:rPr>
                                    <a:rPr lang="en-AU" sz="1800">
                                      <a:solidFill>
                                        <a:schemeClr val="accent1"/>
                                      </a:solidFill>
                                      <a:latin typeface="Cambria Math" panose="02040503050406030204" pitchFamily="18" charset="0"/>
                                    </a:rPr>
                                    <m:t>sin</m:t>
                                  </m:r>
                                </m:e>
                                <m:sup>
                                  <m:r>
                                    <a:rPr lang="en-AU" sz="1800" i="1">
                                      <a:solidFill>
                                        <a:schemeClr val="accent1"/>
                                      </a:solidFill>
                                      <a:latin typeface="Cambria Math" panose="02040503050406030204" pitchFamily="18" charset="0"/>
                                    </a:rPr>
                                    <m:t>2</m:t>
                                  </m:r>
                                </m:sup>
                              </m:sSup>
                            </m:fName>
                            <m:e>
                              <m:r>
                                <a:rPr lang="en-AU" sz="1800" i="1">
                                  <a:solidFill>
                                    <a:schemeClr val="accent1"/>
                                  </a:solidFill>
                                  <a:latin typeface="Cambria Math" panose="02040503050406030204" pitchFamily="18" charset="0"/>
                                </a:rPr>
                                <m:t>𝜃</m:t>
                              </m:r>
                            </m:e>
                          </m:func>
                        </m:e>
                      </m:d>
                      <m:r>
                        <a:rPr lang="en-AU" sz="1800" i="1">
                          <a:solidFill>
                            <a:schemeClr val="accent1"/>
                          </a:solidFill>
                          <a:latin typeface="Cambria Math" panose="02040503050406030204" pitchFamily="18" charset="0"/>
                        </a:rPr>
                        <m:t>−</m:t>
                      </m:r>
                      <m:r>
                        <a:rPr lang="en-AU" sz="1800" i="1">
                          <a:solidFill>
                            <a:schemeClr val="accent1"/>
                          </a:solidFill>
                          <a:latin typeface="Cambria Math" panose="02040503050406030204" pitchFamily="18" charset="0"/>
                        </a:rPr>
                        <m:t>𝜇</m:t>
                      </m:r>
                      <m:r>
                        <a:rPr lang="en-AU" sz="1800" i="1">
                          <a:solidFill>
                            <a:schemeClr val="accent1"/>
                          </a:solidFill>
                          <a:latin typeface="Cambria Math" panose="02040503050406030204" pitchFamily="18" charset="0"/>
                        </a:rPr>
                        <m:t>𝐸</m:t>
                      </m:r>
                      <m:func>
                        <m:funcPr>
                          <m:ctrlPr>
                            <a:rPr lang="en-AU" sz="1800" i="1">
                              <a:solidFill>
                                <a:schemeClr val="accent1"/>
                              </a:solidFill>
                              <a:latin typeface="Cambria Math" panose="02040503050406030204" pitchFamily="18" charset="0"/>
                            </a:rPr>
                          </m:ctrlPr>
                        </m:funcPr>
                        <m:fName>
                          <m:r>
                            <m:rPr>
                              <m:sty m:val="p"/>
                            </m:rPr>
                            <a:rPr lang="en-AU" sz="1800">
                              <a:solidFill>
                                <a:schemeClr val="accent1"/>
                              </a:solidFill>
                              <a:latin typeface="Cambria Math" panose="02040503050406030204" pitchFamily="18" charset="0"/>
                            </a:rPr>
                            <m:t>cos</m:t>
                          </m:r>
                        </m:fName>
                        <m:e>
                          <m:r>
                            <a:rPr lang="en-AU" sz="1800" i="1">
                              <a:solidFill>
                                <a:schemeClr val="accent1"/>
                              </a:solidFill>
                              <a:latin typeface="Cambria Math" panose="02040503050406030204" pitchFamily="18" charset="0"/>
                            </a:rPr>
                            <m:t>𝜃</m:t>
                          </m:r>
                        </m:e>
                      </m:func>
                    </m:oMath>
                  </m:oMathPara>
                </a14:m>
                <a:endParaRPr lang="en-AU" sz="1800" dirty="0">
                  <a:solidFill>
                    <a:schemeClr val="accent1"/>
                  </a:solidFill>
                </a:endParaRPr>
              </a:p>
              <a:p>
                <a:pPr/>
                <a14:m>
                  <m:oMathPara xmlns:m="http://schemas.openxmlformats.org/officeDocument/2006/math">
                    <m:oMathParaPr>
                      <m:jc m:val="centerGroup"/>
                    </m:oMathParaPr>
                    <m:oMath xmlns:m="http://schemas.openxmlformats.org/officeDocument/2006/math">
                      <m:r>
                        <a:rPr lang="en-AU" sz="1800" i="1">
                          <a:solidFill>
                            <a:schemeClr val="accent1"/>
                          </a:solidFill>
                          <a:latin typeface="Cambria Math" panose="02040503050406030204" pitchFamily="18" charset="0"/>
                        </a:rPr>
                        <m:t>𝐻</m:t>
                      </m:r>
                      <m:r>
                        <a:rPr lang="en-AU" sz="1800" i="1">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sSup>
                            <m:sSupPr>
                              <m:ctrlPr>
                                <a:rPr lang="en-AU" sz="1800" i="1">
                                  <a:solidFill>
                                    <a:schemeClr val="accent1"/>
                                  </a:solidFill>
                                  <a:latin typeface="Cambria Math" panose="02040503050406030204" pitchFamily="18" charset="0"/>
                                </a:rPr>
                              </m:ctrlPr>
                            </m:sSupPr>
                            <m:e>
                              <m:acc>
                                <m:accPr>
                                  <m:chr m:val="⃗"/>
                                  <m:ctrlPr>
                                    <a:rPr lang="en-AU" sz="1800" i="1">
                                      <a:solidFill>
                                        <a:schemeClr val="accent1"/>
                                      </a:solidFill>
                                      <a:latin typeface="Cambria Math" panose="02040503050406030204" pitchFamily="18" charset="0"/>
                                    </a:rPr>
                                  </m:ctrlPr>
                                </m:accPr>
                                <m:e>
                                  <m:r>
                                    <a:rPr lang="en-AU" sz="1800" i="1">
                                      <a:solidFill>
                                        <a:schemeClr val="accent1"/>
                                      </a:solidFill>
                                      <a:latin typeface="Cambria Math" panose="02040503050406030204" pitchFamily="18" charset="0"/>
                                    </a:rPr>
                                    <m:t>𝑝</m:t>
                                  </m:r>
                                </m:e>
                              </m:acc>
                            </m:e>
                            <m:sup>
                              <m:r>
                                <a:rPr lang="en-AU" sz="1800" i="1">
                                  <a:solidFill>
                                    <a:schemeClr val="accent1"/>
                                  </a:solidFill>
                                  <a:latin typeface="Cambria Math" panose="02040503050406030204" pitchFamily="18" charset="0"/>
                                </a:rPr>
                                <m:t>2</m:t>
                              </m:r>
                            </m:sup>
                          </m:sSup>
                        </m:num>
                        <m:den>
                          <m:r>
                            <a:rPr lang="en-AU" sz="1800" i="1">
                              <a:solidFill>
                                <a:schemeClr val="accent1"/>
                              </a:solidFill>
                              <a:latin typeface="Cambria Math" panose="02040503050406030204" pitchFamily="18" charset="0"/>
                            </a:rPr>
                            <m:t>2</m:t>
                          </m:r>
                          <m:r>
                            <a:rPr lang="en-AU" sz="1800" i="1">
                              <a:solidFill>
                                <a:schemeClr val="accent1"/>
                              </a:solidFill>
                              <a:latin typeface="Cambria Math" panose="02040503050406030204" pitchFamily="18" charset="0"/>
                            </a:rPr>
                            <m:t>𝑚</m:t>
                          </m:r>
                        </m:den>
                      </m:f>
                      <m:r>
                        <a:rPr lang="en-AU" sz="1800" i="1">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r>
                            <a:rPr lang="en-AU" sz="1800" i="1">
                              <a:solidFill>
                                <a:schemeClr val="accent1"/>
                              </a:solidFill>
                              <a:latin typeface="Cambria Math" panose="02040503050406030204" pitchFamily="18" charset="0"/>
                            </a:rPr>
                            <m:t>1</m:t>
                          </m:r>
                        </m:num>
                        <m:den>
                          <m:r>
                            <a:rPr lang="en-AU" sz="1800" i="1">
                              <a:solidFill>
                                <a:schemeClr val="accent1"/>
                              </a:solidFill>
                              <a:latin typeface="Cambria Math" panose="02040503050406030204" pitchFamily="18" charset="0"/>
                            </a:rPr>
                            <m:t>2</m:t>
                          </m:r>
                        </m:den>
                      </m:f>
                      <m:r>
                        <a:rPr lang="en-AU" sz="1800" i="1">
                          <a:solidFill>
                            <a:schemeClr val="accent1"/>
                          </a:solidFill>
                          <a:latin typeface="Cambria Math" panose="02040503050406030204" pitchFamily="18" charset="0"/>
                        </a:rPr>
                        <m:t>𝐼</m:t>
                      </m:r>
                      <m:d>
                        <m:dPr>
                          <m:ctrlPr>
                            <a:rPr lang="en-AU" sz="1800" i="1">
                              <a:solidFill>
                                <a:schemeClr val="accent1"/>
                              </a:solidFill>
                              <a:latin typeface="Cambria Math" panose="02040503050406030204" pitchFamily="18" charset="0"/>
                            </a:rPr>
                          </m:ctrlPr>
                        </m:dPr>
                        <m:e>
                          <m:f>
                            <m:fPr>
                              <m:ctrlPr>
                                <a:rPr lang="en-AU" sz="1800" b="0" i="1" smtClean="0">
                                  <a:solidFill>
                                    <a:schemeClr val="accent1"/>
                                  </a:solidFill>
                                  <a:latin typeface="Cambria Math" panose="02040503050406030204" pitchFamily="18" charset="0"/>
                                </a:rPr>
                              </m:ctrlPr>
                            </m:fPr>
                            <m:num>
                              <m:sSubSup>
                                <m:sSubSupPr>
                                  <m:ctrlPr>
                                    <a:rPr lang="en-AU" sz="1800" b="0" i="1" smtClean="0">
                                      <a:solidFill>
                                        <a:schemeClr val="accent1"/>
                                      </a:solidFill>
                                      <a:latin typeface="Cambria Math" panose="02040503050406030204" pitchFamily="18" charset="0"/>
                                    </a:rPr>
                                  </m:ctrlPr>
                                </m:sSubSupPr>
                                <m:e>
                                  <m:r>
                                    <a:rPr lang="en-AU" sz="1800" b="0" i="1" smtClean="0">
                                      <a:solidFill>
                                        <a:schemeClr val="accent1"/>
                                      </a:solidFill>
                                      <a:latin typeface="Cambria Math" panose="02040503050406030204" pitchFamily="18" charset="0"/>
                                    </a:rPr>
                                    <m:t>𝑝</m:t>
                                  </m:r>
                                </m:e>
                                <m:sub>
                                  <m:r>
                                    <a:rPr lang="en-AU" sz="1800" b="0" i="1" smtClean="0">
                                      <a:solidFill>
                                        <a:schemeClr val="accent1"/>
                                      </a:solidFill>
                                      <a:latin typeface="Cambria Math" panose="02040503050406030204" pitchFamily="18" charset="0"/>
                                    </a:rPr>
                                    <m:t>𝜃</m:t>
                                  </m:r>
                                </m:sub>
                                <m:sup>
                                  <m:r>
                                    <a:rPr lang="en-AU" sz="1800" i="1">
                                      <a:solidFill>
                                        <a:schemeClr val="accent1"/>
                                      </a:solidFill>
                                      <a:latin typeface="Cambria Math" panose="02040503050406030204" pitchFamily="18" charset="0"/>
                                    </a:rPr>
                                    <m:t>2</m:t>
                                  </m:r>
                                </m:sup>
                              </m:sSubSup>
                            </m:num>
                            <m:den>
                              <m:sSup>
                                <m:sSupPr>
                                  <m:ctrlPr>
                                    <a:rPr lang="en-AU" sz="1800" b="0" i="1" smtClean="0">
                                      <a:solidFill>
                                        <a:schemeClr val="accent1"/>
                                      </a:solidFill>
                                      <a:latin typeface="Cambria Math" panose="02040503050406030204" pitchFamily="18" charset="0"/>
                                    </a:rPr>
                                  </m:ctrlPr>
                                </m:sSupPr>
                                <m:e>
                                  <m:r>
                                    <a:rPr lang="en-AU" sz="1800" b="0" i="1" smtClean="0">
                                      <a:solidFill>
                                        <a:schemeClr val="accent1"/>
                                      </a:solidFill>
                                      <a:latin typeface="Cambria Math" panose="02040503050406030204" pitchFamily="18" charset="0"/>
                                    </a:rPr>
                                    <m:t>𝐼</m:t>
                                  </m:r>
                                </m:e>
                                <m:sup>
                                  <m:r>
                                    <a:rPr lang="en-AU" sz="1800" b="0" i="1" smtClean="0">
                                      <a:solidFill>
                                        <a:schemeClr val="accent1"/>
                                      </a:solidFill>
                                      <a:latin typeface="Cambria Math" panose="02040503050406030204" pitchFamily="18" charset="0"/>
                                    </a:rPr>
                                    <m:t>2</m:t>
                                  </m:r>
                                </m:sup>
                              </m:sSup>
                            </m:den>
                          </m:f>
                          <m:r>
                            <a:rPr lang="en-AU" sz="1800" i="1">
                              <a:solidFill>
                                <a:schemeClr val="accent1"/>
                              </a:solidFill>
                              <a:latin typeface="Cambria Math" panose="02040503050406030204" pitchFamily="18" charset="0"/>
                            </a:rPr>
                            <m:t>+</m:t>
                          </m:r>
                          <m:f>
                            <m:fPr>
                              <m:ctrlPr>
                                <a:rPr lang="en-AU" sz="1800" b="0" i="1" smtClean="0">
                                  <a:solidFill>
                                    <a:schemeClr val="accent1"/>
                                  </a:solidFill>
                                  <a:latin typeface="Cambria Math" panose="02040503050406030204" pitchFamily="18" charset="0"/>
                                </a:rPr>
                              </m:ctrlPr>
                            </m:fPr>
                            <m:num>
                              <m:sSubSup>
                                <m:sSubSupPr>
                                  <m:ctrlPr>
                                    <a:rPr lang="en-AU" sz="1800" b="0" i="1" smtClean="0">
                                      <a:solidFill>
                                        <a:schemeClr val="accent1"/>
                                      </a:solidFill>
                                      <a:latin typeface="Cambria Math" panose="02040503050406030204" pitchFamily="18" charset="0"/>
                                    </a:rPr>
                                  </m:ctrlPr>
                                </m:sSubSupPr>
                                <m:e>
                                  <m:r>
                                    <a:rPr lang="en-AU" sz="1800" b="0" i="1" smtClean="0">
                                      <a:solidFill>
                                        <a:schemeClr val="accent1"/>
                                      </a:solidFill>
                                      <a:latin typeface="Cambria Math" panose="02040503050406030204" pitchFamily="18" charset="0"/>
                                    </a:rPr>
                                    <m:t>𝑝</m:t>
                                  </m:r>
                                </m:e>
                                <m:sub>
                                  <m:r>
                                    <a:rPr lang="en-AU" sz="1800" b="0" i="1" smtClean="0">
                                      <a:solidFill>
                                        <a:schemeClr val="accent1"/>
                                      </a:solidFill>
                                      <a:latin typeface="Cambria Math" panose="02040503050406030204" pitchFamily="18" charset="0"/>
                                    </a:rPr>
                                    <m:t>𝜙</m:t>
                                  </m:r>
                                </m:sub>
                                <m:sup>
                                  <m:r>
                                    <a:rPr lang="en-AU" sz="1800" b="0" i="1" smtClean="0">
                                      <a:solidFill>
                                        <a:schemeClr val="accent1"/>
                                      </a:solidFill>
                                      <a:latin typeface="Cambria Math" panose="02040503050406030204" pitchFamily="18" charset="0"/>
                                    </a:rPr>
                                    <m:t>2</m:t>
                                  </m:r>
                                </m:sup>
                              </m:sSubSup>
                            </m:num>
                            <m:den>
                              <m:sSup>
                                <m:sSupPr>
                                  <m:ctrlPr>
                                    <a:rPr lang="en-AU" sz="1800" b="0" i="1" smtClean="0">
                                      <a:solidFill>
                                        <a:schemeClr val="accent1"/>
                                      </a:solidFill>
                                      <a:latin typeface="Cambria Math" panose="02040503050406030204" pitchFamily="18" charset="0"/>
                                    </a:rPr>
                                  </m:ctrlPr>
                                </m:sSupPr>
                                <m:e>
                                  <m:r>
                                    <a:rPr lang="en-AU" sz="1800" b="0" i="1" smtClean="0">
                                      <a:solidFill>
                                        <a:schemeClr val="accent1"/>
                                      </a:solidFill>
                                      <a:latin typeface="Cambria Math" panose="02040503050406030204" pitchFamily="18" charset="0"/>
                                    </a:rPr>
                                    <m:t>𝐼</m:t>
                                  </m:r>
                                </m:e>
                                <m:sup>
                                  <m:r>
                                    <a:rPr lang="en-AU" sz="1800" b="0" i="1" smtClean="0">
                                      <a:solidFill>
                                        <a:schemeClr val="accent1"/>
                                      </a:solidFill>
                                      <a:latin typeface="Cambria Math" panose="02040503050406030204" pitchFamily="18" charset="0"/>
                                    </a:rPr>
                                    <m:t>2</m:t>
                                  </m:r>
                                </m:sup>
                              </m:sSup>
                              <m:func>
                                <m:funcPr>
                                  <m:ctrlPr>
                                    <a:rPr lang="en-AU" sz="1800" b="0" i="1" smtClean="0">
                                      <a:solidFill>
                                        <a:schemeClr val="accent1"/>
                                      </a:solidFill>
                                      <a:latin typeface="Cambria Math" panose="02040503050406030204" pitchFamily="18" charset="0"/>
                                    </a:rPr>
                                  </m:ctrlPr>
                                </m:funcPr>
                                <m:fName>
                                  <m:sSup>
                                    <m:sSupPr>
                                      <m:ctrlPr>
                                        <a:rPr lang="en-AU" sz="1800" b="0" i="1" smtClean="0">
                                          <a:solidFill>
                                            <a:schemeClr val="accent1"/>
                                          </a:solidFill>
                                          <a:latin typeface="Cambria Math" panose="02040503050406030204" pitchFamily="18" charset="0"/>
                                        </a:rPr>
                                      </m:ctrlPr>
                                    </m:sSupPr>
                                    <m:e>
                                      <m:r>
                                        <m:rPr>
                                          <m:sty m:val="p"/>
                                        </m:rPr>
                                        <a:rPr lang="en-AU" sz="1800" b="0" i="0" smtClean="0">
                                          <a:solidFill>
                                            <a:schemeClr val="accent1"/>
                                          </a:solidFill>
                                          <a:latin typeface="Cambria Math" panose="02040503050406030204" pitchFamily="18" charset="0"/>
                                        </a:rPr>
                                        <m:t>sin</m:t>
                                      </m:r>
                                    </m:e>
                                    <m:sup>
                                      <m:r>
                                        <a:rPr lang="en-AU" sz="1800" b="0" i="1" smtClean="0">
                                          <a:solidFill>
                                            <a:schemeClr val="accent1"/>
                                          </a:solidFill>
                                          <a:latin typeface="Cambria Math" panose="02040503050406030204" pitchFamily="18" charset="0"/>
                                        </a:rPr>
                                        <m:t>4</m:t>
                                      </m:r>
                                    </m:sup>
                                  </m:sSup>
                                </m:fName>
                                <m:e>
                                  <m:r>
                                    <a:rPr lang="en-AU" sz="1800" b="0" i="1" smtClean="0">
                                      <a:solidFill>
                                        <a:schemeClr val="accent1"/>
                                      </a:solidFill>
                                      <a:latin typeface="Cambria Math" panose="02040503050406030204" pitchFamily="18" charset="0"/>
                                    </a:rPr>
                                    <m:t>𝜃</m:t>
                                  </m:r>
                                </m:e>
                              </m:func>
                            </m:den>
                          </m:f>
                          <m:func>
                            <m:funcPr>
                              <m:ctrlPr>
                                <a:rPr lang="en-AU" sz="1800" i="1">
                                  <a:solidFill>
                                    <a:schemeClr val="accent1"/>
                                  </a:solidFill>
                                  <a:latin typeface="Cambria Math" panose="02040503050406030204" pitchFamily="18" charset="0"/>
                                </a:rPr>
                              </m:ctrlPr>
                            </m:funcPr>
                            <m:fName>
                              <m:sSup>
                                <m:sSupPr>
                                  <m:ctrlPr>
                                    <a:rPr lang="en-AU" sz="1800" i="1">
                                      <a:solidFill>
                                        <a:schemeClr val="accent1"/>
                                      </a:solidFill>
                                      <a:latin typeface="Cambria Math" panose="02040503050406030204" pitchFamily="18" charset="0"/>
                                    </a:rPr>
                                  </m:ctrlPr>
                                </m:sSupPr>
                                <m:e>
                                  <m:r>
                                    <m:rPr>
                                      <m:sty m:val="p"/>
                                    </m:rPr>
                                    <a:rPr lang="en-AU" sz="1800">
                                      <a:solidFill>
                                        <a:schemeClr val="accent1"/>
                                      </a:solidFill>
                                      <a:latin typeface="Cambria Math" panose="02040503050406030204" pitchFamily="18" charset="0"/>
                                    </a:rPr>
                                    <m:t>sin</m:t>
                                  </m:r>
                                </m:e>
                                <m:sup>
                                  <m:r>
                                    <a:rPr lang="en-AU" sz="1800" i="1">
                                      <a:solidFill>
                                        <a:schemeClr val="accent1"/>
                                      </a:solidFill>
                                      <a:latin typeface="Cambria Math" panose="02040503050406030204" pitchFamily="18" charset="0"/>
                                    </a:rPr>
                                    <m:t>2</m:t>
                                  </m:r>
                                </m:sup>
                              </m:sSup>
                            </m:fName>
                            <m:e>
                              <m:r>
                                <a:rPr lang="en-AU" sz="1800" i="1">
                                  <a:solidFill>
                                    <a:schemeClr val="accent1"/>
                                  </a:solidFill>
                                  <a:latin typeface="Cambria Math" panose="02040503050406030204" pitchFamily="18" charset="0"/>
                                </a:rPr>
                                <m:t>𝜃</m:t>
                              </m:r>
                            </m:e>
                          </m:func>
                        </m:e>
                      </m:d>
                      <m:r>
                        <a:rPr lang="en-AU" sz="1800" i="1">
                          <a:solidFill>
                            <a:schemeClr val="accent1"/>
                          </a:solidFill>
                          <a:latin typeface="Cambria Math" panose="02040503050406030204" pitchFamily="18" charset="0"/>
                        </a:rPr>
                        <m:t>−</m:t>
                      </m:r>
                      <m:r>
                        <a:rPr lang="en-AU" sz="1800" i="1">
                          <a:solidFill>
                            <a:schemeClr val="accent1"/>
                          </a:solidFill>
                          <a:latin typeface="Cambria Math" panose="02040503050406030204" pitchFamily="18" charset="0"/>
                        </a:rPr>
                        <m:t>𝜇</m:t>
                      </m:r>
                      <m:r>
                        <a:rPr lang="en-AU" sz="1800" i="1">
                          <a:solidFill>
                            <a:schemeClr val="accent1"/>
                          </a:solidFill>
                          <a:latin typeface="Cambria Math" panose="02040503050406030204" pitchFamily="18" charset="0"/>
                        </a:rPr>
                        <m:t>𝐸</m:t>
                      </m:r>
                      <m:func>
                        <m:funcPr>
                          <m:ctrlPr>
                            <a:rPr lang="en-AU" sz="1800" i="1">
                              <a:solidFill>
                                <a:schemeClr val="accent1"/>
                              </a:solidFill>
                              <a:latin typeface="Cambria Math" panose="02040503050406030204" pitchFamily="18" charset="0"/>
                            </a:rPr>
                          </m:ctrlPr>
                        </m:funcPr>
                        <m:fName>
                          <m:r>
                            <m:rPr>
                              <m:sty m:val="p"/>
                            </m:rPr>
                            <a:rPr lang="en-AU" sz="1800">
                              <a:solidFill>
                                <a:schemeClr val="accent1"/>
                              </a:solidFill>
                              <a:latin typeface="Cambria Math" panose="02040503050406030204" pitchFamily="18" charset="0"/>
                            </a:rPr>
                            <m:t>cos</m:t>
                          </m:r>
                        </m:fName>
                        <m:e>
                          <m:r>
                            <a:rPr lang="en-AU" sz="1800" i="1">
                              <a:solidFill>
                                <a:schemeClr val="accent1"/>
                              </a:solidFill>
                              <a:latin typeface="Cambria Math" panose="02040503050406030204" pitchFamily="18" charset="0"/>
                            </a:rPr>
                            <m:t>𝜃</m:t>
                          </m:r>
                        </m:e>
                      </m:func>
                      <m:r>
                        <a:rPr lang="en-AU" sz="1800" b="0" i="1" smtClean="0">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sSup>
                            <m:sSupPr>
                              <m:ctrlPr>
                                <a:rPr lang="en-AU" sz="1800" i="1">
                                  <a:solidFill>
                                    <a:schemeClr val="accent1"/>
                                  </a:solidFill>
                                  <a:latin typeface="Cambria Math" panose="02040503050406030204" pitchFamily="18" charset="0"/>
                                </a:rPr>
                              </m:ctrlPr>
                            </m:sSupPr>
                            <m:e>
                              <m:acc>
                                <m:accPr>
                                  <m:chr m:val="⃗"/>
                                  <m:ctrlPr>
                                    <a:rPr lang="en-AU" sz="1800" i="1">
                                      <a:solidFill>
                                        <a:schemeClr val="accent1"/>
                                      </a:solidFill>
                                      <a:latin typeface="Cambria Math" panose="02040503050406030204" pitchFamily="18" charset="0"/>
                                    </a:rPr>
                                  </m:ctrlPr>
                                </m:accPr>
                                <m:e>
                                  <m:r>
                                    <a:rPr lang="en-AU" sz="1800" i="1">
                                      <a:solidFill>
                                        <a:schemeClr val="accent1"/>
                                      </a:solidFill>
                                      <a:latin typeface="Cambria Math" panose="02040503050406030204" pitchFamily="18" charset="0"/>
                                    </a:rPr>
                                    <m:t>𝑝</m:t>
                                  </m:r>
                                </m:e>
                              </m:acc>
                            </m:e>
                            <m:sup>
                              <m:r>
                                <a:rPr lang="en-AU" sz="1800" i="1">
                                  <a:solidFill>
                                    <a:schemeClr val="accent1"/>
                                  </a:solidFill>
                                  <a:latin typeface="Cambria Math" panose="02040503050406030204" pitchFamily="18" charset="0"/>
                                </a:rPr>
                                <m:t>2</m:t>
                              </m:r>
                            </m:sup>
                          </m:sSup>
                        </m:num>
                        <m:den>
                          <m:r>
                            <a:rPr lang="en-AU" sz="1800" i="1">
                              <a:solidFill>
                                <a:schemeClr val="accent1"/>
                              </a:solidFill>
                              <a:latin typeface="Cambria Math" panose="02040503050406030204" pitchFamily="18" charset="0"/>
                            </a:rPr>
                            <m:t>2</m:t>
                          </m:r>
                          <m:r>
                            <a:rPr lang="en-AU" sz="1800" i="1">
                              <a:solidFill>
                                <a:schemeClr val="accent1"/>
                              </a:solidFill>
                              <a:latin typeface="Cambria Math" panose="02040503050406030204" pitchFamily="18" charset="0"/>
                            </a:rPr>
                            <m:t>𝑚</m:t>
                          </m:r>
                        </m:den>
                      </m:f>
                      <m:r>
                        <a:rPr lang="en-AU" sz="1800" i="1">
                          <a:solidFill>
                            <a:schemeClr val="accent1"/>
                          </a:solidFill>
                          <a:latin typeface="Cambria Math" panose="02040503050406030204" pitchFamily="18" charset="0"/>
                        </a:rPr>
                        <m:t> +</m:t>
                      </m:r>
                      <m:f>
                        <m:fPr>
                          <m:ctrlPr>
                            <a:rPr lang="en-AU" sz="1800" i="1">
                              <a:solidFill>
                                <a:schemeClr val="accent1"/>
                              </a:solidFill>
                              <a:latin typeface="Cambria Math" panose="02040503050406030204" pitchFamily="18" charset="0"/>
                            </a:rPr>
                          </m:ctrlPr>
                        </m:fPr>
                        <m:num>
                          <m:r>
                            <a:rPr lang="en-AU" sz="1800" i="1">
                              <a:solidFill>
                                <a:schemeClr val="accent1"/>
                              </a:solidFill>
                              <a:latin typeface="Cambria Math" panose="02040503050406030204" pitchFamily="18" charset="0"/>
                            </a:rPr>
                            <m:t>1</m:t>
                          </m:r>
                        </m:num>
                        <m:den>
                          <m:r>
                            <a:rPr lang="en-AU" sz="1800" i="1">
                              <a:solidFill>
                                <a:schemeClr val="accent1"/>
                              </a:solidFill>
                              <a:latin typeface="Cambria Math" panose="02040503050406030204" pitchFamily="18" charset="0"/>
                            </a:rPr>
                            <m:t>2</m:t>
                          </m:r>
                          <m:r>
                            <a:rPr lang="en-AU" sz="1800" i="1">
                              <a:solidFill>
                                <a:schemeClr val="accent1"/>
                              </a:solidFill>
                              <a:latin typeface="Cambria Math" panose="02040503050406030204" pitchFamily="18" charset="0"/>
                            </a:rPr>
                            <m:t>𝐼</m:t>
                          </m:r>
                        </m:den>
                      </m:f>
                      <m:sSubSup>
                        <m:sSubSupPr>
                          <m:ctrlPr>
                            <a:rPr lang="en-AU" sz="1800" i="1">
                              <a:solidFill>
                                <a:schemeClr val="accent1"/>
                              </a:solidFill>
                              <a:latin typeface="Cambria Math" panose="02040503050406030204" pitchFamily="18" charset="0"/>
                            </a:rPr>
                          </m:ctrlPr>
                        </m:sSubSupPr>
                        <m:e>
                          <m:r>
                            <a:rPr lang="en-AU" sz="1800" i="1">
                              <a:solidFill>
                                <a:schemeClr val="accent1"/>
                              </a:solidFill>
                              <a:latin typeface="Cambria Math" panose="02040503050406030204" pitchFamily="18" charset="0"/>
                            </a:rPr>
                            <m:t>𝑝</m:t>
                          </m:r>
                        </m:e>
                        <m:sub>
                          <m:r>
                            <a:rPr lang="en-AU" sz="1800" i="1">
                              <a:solidFill>
                                <a:schemeClr val="accent1"/>
                              </a:solidFill>
                              <a:latin typeface="Cambria Math" panose="02040503050406030204" pitchFamily="18" charset="0"/>
                            </a:rPr>
                            <m:t>𝜃</m:t>
                          </m:r>
                        </m:sub>
                        <m:sup>
                          <m:r>
                            <a:rPr lang="en-AU" sz="1800" i="1">
                              <a:solidFill>
                                <a:schemeClr val="accent1"/>
                              </a:solidFill>
                              <a:latin typeface="Cambria Math" panose="02040503050406030204" pitchFamily="18" charset="0"/>
                            </a:rPr>
                            <m:t>2</m:t>
                          </m:r>
                        </m:sup>
                      </m:sSubSup>
                      <m:r>
                        <a:rPr lang="en-AU" sz="1800" i="1">
                          <a:solidFill>
                            <a:schemeClr val="accent1"/>
                          </a:solidFill>
                          <a:latin typeface="Cambria Math" panose="02040503050406030204" pitchFamily="18" charset="0"/>
                        </a:rPr>
                        <m:t>+</m:t>
                      </m:r>
                      <m:f>
                        <m:fPr>
                          <m:ctrlPr>
                            <a:rPr lang="en-AU" sz="1800" i="1">
                              <a:solidFill>
                                <a:schemeClr val="accent1"/>
                              </a:solidFill>
                              <a:latin typeface="Cambria Math" panose="02040503050406030204" pitchFamily="18" charset="0"/>
                            </a:rPr>
                          </m:ctrlPr>
                        </m:fPr>
                        <m:num>
                          <m:r>
                            <a:rPr lang="en-AU" sz="1800" i="1">
                              <a:solidFill>
                                <a:schemeClr val="accent1"/>
                              </a:solidFill>
                              <a:latin typeface="Cambria Math" panose="02040503050406030204" pitchFamily="18" charset="0"/>
                            </a:rPr>
                            <m:t>1</m:t>
                          </m:r>
                        </m:num>
                        <m:den>
                          <m:r>
                            <a:rPr lang="en-AU" sz="1800" i="1">
                              <a:solidFill>
                                <a:schemeClr val="accent1"/>
                              </a:solidFill>
                              <a:latin typeface="Cambria Math" panose="02040503050406030204" pitchFamily="18" charset="0"/>
                            </a:rPr>
                            <m:t>2</m:t>
                          </m:r>
                          <m:r>
                            <a:rPr lang="en-AU" sz="1800" i="1">
                              <a:solidFill>
                                <a:schemeClr val="accent1"/>
                              </a:solidFill>
                              <a:latin typeface="Cambria Math" panose="02040503050406030204" pitchFamily="18" charset="0"/>
                            </a:rPr>
                            <m:t>𝐼</m:t>
                          </m:r>
                          <m:func>
                            <m:funcPr>
                              <m:ctrlPr>
                                <a:rPr lang="en-AU" sz="1800" i="1">
                                  <a:solidFill>
                                    <a:schemeClr val="accent1"/>
                                  </a:solidFill>
                                  <a:latin typeface="Cambria Math" panose="02040503050406030204" pitchFamily="18" charset="0"/>
                                </a:rPr>
                              </m:ctrlPr>
                            </m:funcPr>
                            <m:fName>
                              <m:sSup>
                                <m:sSupPr>
                                  <m:ctrlPr>
                                    <a:rPr lang="en-AU" sz="1800" i="1">
                                      <a:solidFill>
                                        <a:schemeClr val="accent1"/>
                                      </a:solidFill>
                                      <a:latin typeface="Cambria Math" panose="02040503050406030204" pitchFamily="18" charset="0"/>
                                    </a:rPr>
                                  </m:ctrlPr>
                                </m:sSupPr>
                                <m:e>
                                  <m:r>
                                    <m:rPr>
                                      <m:sty m:val="p"/>
                                    </m:rPr>
                                    <a:rPr lang="en-AU" sz="1800">
                                      <a:solidFill>
                                        <a:schemeClr val="accent1"/>
                                      </a:solidFill>
                                      <a:latin typeface="Cambria Math" panose="02040503050406030204" pitchFamily="18" charset="0"/>
                                    </a:rPr>
                                    <m:t>sin</m:t>
                                  </m:r>
                                </m:e>
                                <m:sup>
                                  <m:r>
                                    <a:rPr lang="en-AU" sz="1800" i="1">
                                      <a:solidFill>
                                        <a:schemeClr val="accent1"/>
                                      </a:solidFill>
                                      <a:latin typeface="Cambria Math" panose="02040503050406030204" pitchFamily="18" charset="0"/>
                                    </a:rPr>
                                    <m:t>2</m:t>
                                  </m:r>
                                </m:sup>
                              </m:sSup>
                            </m:fName>
                            <m:e>
                              <m:r>
                                <a:rPr lang="en-AU" sz="1800" i="1">
                                  <a:solidFill>
                                    <a:schemeClr val="accent1"/>
                                  </a:solidFill>
                                  <a:latin typeface="Cambria Math" panose="02040503050406030204" pitchFamily="18" charset="0"/>
                                </a:rPr>
                                <m:t>𝜃</m:t>
                              </m:r>
                            </m:e>
                          </m:func>
                        </m:den>
                      </m:f>
                      <m:sSubSup>
                        <m:sSubSupPr>
                          <m:ctrlPr>
                            <a:rPr lang="en-AU" sz="1800" i="1">
                              <a:solidFill>
                                <a:schemeClr val="accent1"/>
                              </a:solidFill>
                              <a:latin typeface="Cambria Math" panose="02040503050406030204" pitchFamily="18" charset="0"/>
                            </a:rPr>
                          </m:ctrlPr>
                        </m:sSubSupPr>
                        <m:e>
                          <m:r>
                            <a:rPr lang="en-AU" sz="1800" i="1">
                              <a:solidFill>
                                <a:schemeClr val="accent1"/>
                              </a:solidFill>
                              <a:latin typeface="Cambria Math" panose="02040503050406030204" pitchFamily="18" charset="0"/>
                            </a:rPr>
                            <m:t>𝑝</m:t>
                          </m:r>
                        </m:e>
                        <m:sub>
                          <m:r>
                            <a:rPr lang="en-AU" sz="1800" i="1">
                              <a:solidFill>
                                <a:schemeClr val="accent1"/>
                              </a:solidFill>
                              <a:latin typeface="Cambria Math" panose="02040503050406030204" pitchFamily="18" charset="0"/>
                            </a:rPr>
                            <m:t>𝜙</m:t>
                          </m:r>
                        </m:sub>
                        <m:sup>
                          <m:r>
                            <a:rPr lang="en-AU" sz="1800" i="1">
                              <a:solidFill>
                                <a:schemeClr val="accent1"/>
                              </a:solidFill>
                              <a:latin typeface="Cambria Math" panose="02040503050406030204" pitchFamily="18" charset="0"/>
                            </a:rPr>
                            <m:t>2</m:t>
                          </m:r>
                        </m:sup>
                      </m:sSubSup>
                      <m:r>
                        <a:rPr lang="en-AU" sz="1800" i="1">
                          <a:solidFill>
                            <a:schemeClr val="accent1"/>
                          </a:solidFill>
                          <a:latin typeface="Cambria Math" panose="02040503050406030204" pitchFamily="18" charset="0"/>
                        </a:rPr>
                        <m:t>−</m:t>
                      </m:r>
                      <m:r>
                        <a:rPr lang="en-AU" sz="1800" i="1">
                          <a:solidFill>
                            <a:schemeClr val="accent1"/>
                          </a:solidFill>
                          <a:latin typeface="Cambria Math" panose="02040503050406030204" pitchFamily="18" charset="0"/>
                        </a:rPr>
                        <m:t>𝜇</m:t>
                      </m:r>
                      <m:r>
                        <a:rPr lang="en-AU" sz="1800" i="1">
                          <a:solidFill>
                            <a:schemeClr val="accent1"/>
                          </a:solidFill>
                          <a:latin typeface="Cambria Math" panose="02040503050406030204" pitchFamily="18" charset="0"/>
                        </a:rPr>
                        <m:t>𝐸</m:t>
                      </m:r>
                      <m:func>
                        <m:funcPr>
                          <m:ctrlPr>
                            <a:rPr lang="en-AU" sz="1800" i="1">
                              <a:solidFill>
                                <a:schemeClr val="accent1"/>
                              </a:solidFill>
                              <a:latin typeface="Cambria Math" panose="02040503050406030204" pitchFamily="18" charset="0"/>
                            </a:rPr>
                          </m:ctrlPr>
                        </m:funcPr>
                        <m:fName>
                          <m:r>
                            <m:rPr>
                              <m:sty m:val="p"/>
                            </m:rPr>
                            <a:rPr lang="en-AU" sz="1800">
                              <a:solidFill>
                                <a:schemeClr val="accent1"/>
                              </a:solidFill>
                              <a:latin typeface="Cambria Math" panose="02040503050406030204" pitchFamily="18" charset="0"/>
                            </a:rPr>
                            <m:t>cos</m:t>
                          </m:r>
                        </m:fName>
                        <m:e>
                          <m:r>
                            <a:rPr lang="en-AU" sz="1800" i="1">
                              <a:solidFill>
                                <a:schemeClr val="accent1"/>
                              </a:solidFill>
                              <a:latin typeface="Cambria Math" panose="02040503050406030204" pitchFamily="18" charset="0"/>
                            </a:rPr>
                            <m:t>𝜃</m:t>
                          </m:r>
                        </m:e>
                      </m:func>
                    </m:oMath>
                  </m:oMathPara>
                </a14:m>
                <a:endParaRPr lang="en-AU" sz="1800" dirty="0">
                  <a:solidFill>
                    <a:schemeClr val="accent1"/>
                  </a:solidFill>
                </a:endParaRPr>
              </a:p>
              <a:p>
                <a:endParaRPr lang="en-AU" sz="1800" dirty="0">
                  <a:solidFill>
                    <a:schemeClr val="accent1"/>
                  </a:solidFill>
                </a:endParaRPr>
              </a:p>
            </p:txBody>
          </p:sp>
        </mc:Choice>
        <mc:Fallback xmlns="">
          <p:sp>
            <p:nvSpPr>
              <p:cNvPr id="2" name="Title 4">
                <a:extLst>
                  <a:ext uri="{FF2B5EF4-FFF2-40B4-BE49-F238E27FC236}">
                    <a16:creationId xmlns:a16="http://schemas.microsoft.com/office/drawing/2014/main" id="{47CFB5E8-AD5E-35FE-3E44-02506E6E6057}"/>
                  </a:ext>
                </a:extLst>
              </p:cNvPr>
              <p:cNvSpPr txBox="1">
                <a:spLocks noRot="1" noChangeAspect="1" noMove="1" noResize="1" noEditPoints="1" noAdjustHandles="1" noChangeArrowheads="1" noChangeShapeType="1" noTextEdit="1"/>
              </p:cNvSpPr>
              <p:nvPr/>
            </p:nvSpPr>
            <p:spPr>
              <a:xfrm>
                <a:off x="426667" y="3930467"/>
                <a:ext cx="11338666" cy="2763521"/>
              </a:xfrm>
              <a:prstGeom prst="rect">
                <a:avLst/>
              </a:prstGeom>
              <a:blipFill>
                <a:blip r:embed="rId3"/>
                <a:stretch>
                  <a:fillRect l="-447" t="-4566"/>
                </a:stretch>
              </a:blipFill>
            </p:spPr>
            <p:txBody>
              <a:bodyPr/>
              <a:lstStyle/>
              <a:p>
                <a:r>
                  <a:rPr lang="en-US">
                    <a:noFill/>
                  </a:rPr>
                  <a:t> </a:t>
                </a:r>
              </a:p>
            </p:txBody>
          </p:sp>
        </mc:Fallback>
      </mc:AlternateContent>
    </p:spTree>
    <p:extLst>
      <p:ext uri="{BB962C8B-B14F-4D97-AF65-F5344CB8AC3E}">
        <p14:creationId xmlns:p14="http://schemas.microsoft.com/office/powerpoint/2010/main" val="89441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66427-9520-ADE9-9CC9-BF463DCDC98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7C5617-416E-6FE2-5F8C-08C2B7E3843C}"/>
                  </a:ext>
                </a:extLst>
              </p:cNvPr>
              <p:cNvSpPr txBox="1"/>
              <p:nvPr/>
            </p:nvSpPr>
            <p:spPr>
              <a:xfrm>
                <a:off x="134257" y="0"/>
                <a:ext cx="11923486" cy="69946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solidFill>
                            <a:schemeClr val="accent1"/>
                          </a:solidFill>
                          <a:latin typeface="Cambria Math" panose="02040503050406030204" pitchFamily="18" charset="0"/>
                        </a:rPr>
                        <m:t>𝐻</m:t>
                      </m:r>
                      <m:r>
                        <a:rPr lang="en-AU" b="0" i="1" smtClean="0">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sSup>
                            <m:sSupPr>
                              <m:ctrlPr>
                                <a:rPr lang="en-AU" i="1">
                                  <a:solidFill>
                                    <a:schemeClr val="accent1"/>
                                  </a:solidFill>
                                  <a:latin typeface="Cambria Math" panose="02040503050406030204" pitchFamily="18" charset="0"/>
                                </a:rPr>
                              </m:ctrlPr>
                            </m:sSupPr>
                            <m:e>
                              <m:acc>
                                <m:accPr>
                                  <m:chr m:val="⃗"/>
                                  <m:ctrlPr>
                                    <a:rPr lang="en-AU" i="1">
                                      <a:solidFill>
                                        <a:schemeClr val="accent1"/>
                                      </a:solidFill>
                                      <a:latin typeface="Cambria Math" panose="02040503050406030204" pitchFamily="18" charset="0"/>
                                    </a:rPr>
                                  </m:ctrlPr>
                                </m:accPr>
                                <m:e>
                                  <m:r>
                                    <a:rPr lang="en-AU" i="1">
                                      <a:solidFill>
                                        <a:schemeClr val="accent1"/>
                                      </a:solidFill>
                                      <a:latin typeface="Cambria Math" panose="02040503050406030204" pitchFamily="18" charset="0"/>
                                    </a:rPr>
                                    <m:t>𝑝</m:t>
                                  </m:r>
                                </m:e>
                              </m:acc>
                            </m:e>
                            <m:sup>
                              <m:r>
                                <a:rPr lang="en-AU" i="1">
                                  <a:solidFill>
                                    <a:schemeClr val="accent1"/>
                                  </a:solidFill>
                                  <a:latin typeface="Cambria Math" panose="02040503050406030204" pitchFamily="18" charset="0"/>
                                </a:rPr>
                                <m:t>2</m:t>
                              </m:r>
                            </m:sup>
                          </m:sSup>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𝑚</m:t>
                          </m:r>
                        </m:den>
                      </m:f>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oMath>
                  </m:oMathPara>
                </a14:m>
                <a:endParaRPr lang="en-AU" dirty="0">
                  <a:solidFill>
                    <a:schemeClr val="accent1"/>
                  </a:solidFill>
                </a:endParaRPr>
              </a:p>
              <a:p>
                <a:r>
                  <a:rPr lang="en-AU" dirty="0">
                    <a:solidFill>
                      <a:schemeClr val="accent1"/>
                    </a:solidFill>
                  </a:rPr>
                  <a:t>To build our partition function, we start with </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𝐻</m:t>
                          </m:r>
                        </m:sup>
                      </m:sSup>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oMath>
                  </m:oMathPara>
                </a14:m>
                <a:endParaRPr lang="en-AU" dirty="0">
                  <a:solidFill>
                    <a:schemeClr val="accent1"/>
                  </a:solidFill>
                </a:endParaRPr>
              </a:p>
              <a:p>
                <a:r>
                  <a:rPr lang="en-AU" dirty="0">
                    <a:solidFill>
                      <a:schemeClr val="accent1"/>
                    </a:solidFill>
                  </a:rPr>
                  <a:t>3. Figure out density of states. For the rotational information, we have </a:t>
                </a:r>
                <a:r>
                  <a:rPr lang="en-AU" b="1" dirty="0">
                    <a:solidFill>
                      <a:schemeClr val="accent1"/>
                    </a:solidFill>
                  </a:rPr>
                  <a:t>2 angular dimensions</a:t>
                </a:r>
                <a:r>
                  <a:rPr lang="en-AU" dirty="0">
                    <a:solidFill>
                      <a:schemeClr val="accent1"/>
                    </a:solidFill>
                  </a:rPr>
                  <a:t> here- </a:t>
                </a:r>
                <a14:m>
                  <m:oMath xmlns:m="http://schemas.openxmlformats.org/officeDocument/2006/math">
                    <m:r>
                      <a:rPr lang="en-AU" i="1">
                        <a:solidFill>
                          <a:schemeClr val="accent1"/>
                        </a:solidFill>
                        <a:latin typeface="Cambria Math" panose="02040503050406030204" pitchFamily="18" charset="0"/>
                      </a:rPr>
                      <m:t>𝜃</m:t>
                    </m:r>
                  </m:oMath>
                </a14:m>
                <a:r>
                  <a:rPr lang="en-AU" dirty="0">
                    <a:solidFill>
                      <a:schemeClr val="accent1"/>
                    </a:solidFill>
                  </a:rPr>
                  <a:t> (that goes from 0 to </a:t>
                </a:r>
                <a14:m>
                  <m:oMath xmlns:m="http://schemas.openxmlformats.org/officeDocument/2006/math">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 </m:t>
                    </m:r>
                  </m:oMath>
                </a14:m>
                <a:r>
                  <a:rPr lang="en-AU" dirty="0">
                    <a:solidFill>
                      <a:schemeClr val="accent1"/>
                    </a:solidFill>
                  </a:rPr>
                  <a:t>and the </a:t>
                </a:r>
                <a14:m>
                  <m:oMath xmlns:m="http://schemas.openxmlformats.org/officeDocument/2006/math">
                    <m:r>
                      <a:rPr lang="en-AU" i="1">
                        <a:solidFill>
                          <a:schemeClr val="accent1"/>
                        </a:solidFill>
                        <a:latin typeface="Cambria Math" panose="02040503050406030204" pitchFamily="18" charset="0"/>
                      </a:rPr>
                      <m:t>𝜙</m:t>
                    </m:r>
                    <m:r>
                      <a:rPr lang="en-AU" i="1">
                        <a:solidFill>
                          <a:schemeClr val="accent1"/>
                        </a:solidFill>
                        <a:latin typeface="Cambria Math" panose="02040503050406030204" pitchFamily="18" charset="0"/>
                      </a:rPr>
                      <m:t> (</m:t>
                    </m:r>
                  </m:oMath>
                </a14:m>
                <a:r>
                  <a:rPr lang="en-AU" dirty="0">
                    <a:solidFill>
                      <a:schemeClr val="accent1"/>
                    </a:solidFill>
                  </a:rPr>
                  <a:t>going from </a:t>
                </a:r>
                <a14:m>
                  <m:oMath xmlns:m="http://schemas.openxmlformats.org/officeDocument/2006/math">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𝜋</m:t>
                    </m:r>
                  </m:oMath>
                </a14:m>
                <a:r>
                  <a:rPr lang="en-AU" dirty="0">
                    <a:solidFill>
                      <a:schemeClr val="accent1"/>
                    </a:solidFill>
                  </a:rPr>
                  <a:t> to </a:t>
                </a:r>
                <a14:m>
                  <m:oMath xmlns:m="http://schemas.openxmlformats.org/officeDocument/2006/math">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m:t>
                    </m:r>
                  </m:oMath>
                </a14:m>
                <a:r>
                  <a:rPr lang="en-AU" dirty="0">
                    <a:solidFill>
                      <a:schemeClr val="accent1"/>
                    </a:solidFill>
                  </a:rPr>
                  <a:t>. So,</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h</m:t>
                              </m:r>
                            </m:e>
                            <m:sup>
                              <m:r>
                                <a:rPr lang="en-AU" b="0" i="1" smtClean="0">
                                  <a:solidFill>
                                    <a:schemeClr val="accent1"/>
                                  </a:solidFill>
                                  <a:latin typeface="Cambria Math" panose="02040503050406030204" pitchFamily="18" charset="0"/>
                                </a:rPr>
                                <m:t>2</m:t>
                              </m:r>
                            </m:sup>
                          </m:sSup>
                        </m:den>
                      </m:f>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Sub>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Sub>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𝜃</m:t>
                      </m:r>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𝜙</m:t>
                      </m:r>
                    </m:oMath>
                  </m:oMathPara>
                </a14:m>
                <a:endParaRPr lang="en-AU" dirty="0">
                  <a:solidFill>
                    <a:schemeClr val="accent1"/>
                  </a:solidFill>
                </a:endParaRPr>
              </a:p>
              <a:p>
                <a:r>
                  <a:rPr lang="en-AU" dirty="0">
                    <a:solidFill>
                      <a:schemeClr val="accent1"/>
                    </a:solidFill>
                  </a:rPr>
                  <a:t>Therefore, plugging all that in, we have a </a:t>
                </a:r>
                <a:r>
                  <a:rPr lang="en-AU" dirty="0" err="1">
                    <a:solidFill>
                      <a:schemeClr val="accent1"/>
                    </a:solidFill>
                  </a:rPr>
                  <a:t>verrry</a:t>
                </a:r>
                <a:r>
                  <a:rPr lang="en-AU" dirty="0">
                    <a:solidFill>
                      <a:schemeClr val="accent1"/>
                    </a:solidFill>
                  </a:rPr>
                  <a:t> ugly equation:</a:t>
                </a:r>
              </a:p>
              <a:p>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b="0" i="1" smtClean="0">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1</m:t>
                          </m:r>
                        </m:num>
                        <m:den>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h</m:t>
                              </m:r>
                            </m:e>
                            <m:sup>
                              <m:r>
                                <a:rPr lang="en-AU" b="0" i="1" smtClean="0">
                                  <a:solidFill>
                                    <a:schemeClr val="accent1"/>
                                  </a:solidFill>
                                  <a:latin typeface="Cambria Math" panose="02040503050406030204" pitchFamily="18" charset="0"/>
                                </a:rPr>
                                <m:t>2</m:t>
                              </m:r>
                            </m:sup>
                          </m:sSup>
                        </m:den>
                      </m:f>
                      <m:func>
                        <m:funcPr>
                          <m:ctrlPr>
                            <a:rPr lang="en-AU" b="0" i="1" smtClean="0">
                              <a:solidFill>
                                <a:schemeClr val="accent1"/>
                              </a:solidFill>
                              <a:latin typeface="Cambria Math" panose="02040503050406030204" pitchFamily="18" charset="0"/>
                            </a:rPr>
                          </m:ctrlPr>
                        </m:funcPr>
                        <m:fName>
                          <m:r>
                            <a:rPr lang="en-AU" i="1">
                              <a:solidFill>
                                <a:schemeClr val="accent1"/>
                              </a:solidFill>
                              <a:latin typeface="Cambria Math" panose="02040503050406030204" pitchFamily="18" charset="0"/>
                            </a:rPr>
                            <m:t>∫</m:t>
                          </m:r>
                        </m:fName>
                        <m:e>
                          <m:func>
                            <m:funcPr>
                              <m:ctrlPr>
                                <a:rPr lang="en-AU" b="0" i="1" smtClean="0">
                                  <a:solidFill>
                                    <a:schemeClr val="accent1"/>
                                  </a:solidFill>
                                  <a:latin typeface="Cambria Math" panose="02040503050406030204" pitchFamily="18" charset="0"/>
                                </a:rPr>
                              </m:ctrlPr>
                            </m:funcPr>
                            <m:fName>
                              <m:r>
                                <m:rPr>
                                  <m:sty m:val="p"/>
                                </m:rPr>
                                <a:rPr lang="en-AU" b="0" i="0" smtClean="0">
                                  <a:solidFill>
                                    <a:schemeClr val="accent1"/>
                                  </a:solidFill>
                                  <a:latin typeface="Cambria Math" panose="02040503050406030204" pitchFamily="18" charset="0"/>
                                </a:rPr>
                                <m:t>exp</m:t>
                              </m:r>
                            </m:fName>
                            <m:e>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e>
                                  </m:d>
                                </m:e>
                              </m:d>
                            </m:e>
                          </m:func>
                        </m:e>
                      </m:func>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Sub>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Sub>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𝜃</m:t>
                      </m:r>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𝜙</m:t>
                      </m:r>
                    </m:oMath>
                  </m:oMathPara>
                </a14:m>
                <a:endParaRPr lang="en-AU" dirty="0">
                  <a:solidFill>
                    <a:schemeClr val="accent1"/>
                  </a:solidFill>
                </a:endParaRPr>
              </a:p>
              <a:p>
                <a:r>
                  <a:rPr lang="en-AU" dirty="0">
                    <a:solidFill>
                      <a:schemeClr val="accent1"/>
                    </a:solidFill>
                  </a:rPr>
                  <a:t>Let’s do the easy stuff first- integrate over </a:t>
                </a:r>
                <a14:m>
                  <m:oMath xmlns:m="http://schemas.openxmlformats.org/officeDocument/2006/math">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𝜙</m:t>
                    </m:r>
                    <m:r>
                      <a:rPr lang="en-AU" b="0" i="0" smtClean="0">
                        <a:solidFill>
                          <a:schemeClr val="accent1"/>
                        </a:solidFill>
                        <a:latin typeface="Cambria Math" panose="02040503050406030204" pitchFamily="18" charset="0"/>
                      </a:rPr>
                      <m:t>, </m:t>
                    </m:r>
                  </m:oMath>
                </a14:m>
                <a:r>
                  <a:rPr lang="en-AU" dirty="0">
                    <a:solidFill>
                      <a:schemeClr val="accent1"/>
                    </a:solidFill>
                  </a:rPr>
                  <a:t>(which conveniently gives a factor of </a:t>
                </a:r>
                <a14:m>
                  <m:oMath xmlns:m="http://schemas.openxmlformats.org/officeDocument/2006/math">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oMath>
                </a14:m>
                <a:r>
                  <a:rPr lang="en-AU" dirty="0">
                    <a:solidFill>
                      <a:schemeClr val="accent1"/>
                    </a:solidFill>
                  </a:rPr>
                  <a:t> out the front, and then </a:t>
                </a:r>
                <a14:m>
                  <m:oMath xmlns:m="http://schemas.openxmlformats.org/officeDocument/2006/math">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Sub>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𝑑</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Sub>
                    <m:r>
                      <a:rPr lang="en-AU" i="1">
                        <a:solidFill>
                          <a:schemeClr val="accent1"/>
                        </a:solidFill>
                        <a:latin typeface="Cambria Math" panose="02040503050406030204" pitchFamily="18" charset="0"/>
                      </a:rPr>
                      <m:t> </m:t>
                    </m:r>
                  </m:oMath>
                </a14:m>
                <a:r>
                  <a:rPr lang="en-AU" dirty="0">
                    <a:solidFill>
                      <a:schemeClr val="accent1"/>
                    </a:solidFill>
                  </a:rPr>
                  <a:t>(holding theta stuff as constant) as these ones all seem relatively straightforward. </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2</m:t>
                          </m:r>
                          <m:r>
                            <a:rPr lang="en-AU" b="0" i="1" smtClean="0">
                              <a:solidFill>
                                <a:schemeClr val="accent1"/>
                              </a:solidFill>
                              <a:latin typeface="Cambria Math" panose="02040503050406030204" pitchFamily="18" charset="0"/>
                            </a:rPr>
                            <m:t>𝜋</m:t>
                          </m:r>
                        </m:num>
                        <m:den>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h</m:t>
                              </m:r>
                            </m:e>
                            <m:sup>
                              <m:r>
                                <a:rPr lang="en-AU" b="0" i="1" smtClean="0">
                                  <a:solidFill>
                                    <a:schemeClr val="accent1"/>
                                  </a:solidFill>
                                  <a:latin typeface="Cambria Math" panose="02040503050406030204" pitchFamily="18" charset="0"/>
                                </a:rPr>
                                <m:t>2</m:t>
                              </m:r>
                            </m:sup>
                          </m:sSup>
                        </m:den>
                      </m:f>
                      <m:func>
                        <m:funcPr>
                          <m:ctrlPr>
                            <a:rPr lang="en-AU" i="1">
                              <a:solidFill>
                                <a:schemeClr val="accent1"/>
                              </a:solidFill>
                              <a:latin typeface="Cambria Math" panose="02040503050406030204" pitchFamily="18" charset="0"/>
                            </a:rPr>
                          </m:ctrlPr>
                        </m:funcPr>
                        <m:fName>
                          <m:nary>
                            <m:naryPr>
                              <m:subHide m:val="on"/>
                              <m:supHide m:val="on"/>
                              <m:ctrlPr>
                                <a:rPr lang="en-AU" b="0" i="1" smtClean="0">
                                  <a:solidFill>
                                    <a:schemeClr val="accent1"/>
                                  </a:solidFill>
                                  <a:latin typeface="Cambria Math" panose="02040503050406030204" pitchFamily="18" charset="0"/>
                                </a:rPr>
                              </m:ctrlPr>
                            </m:naryPr>
                            <m:sub/>
                            <m:sup/>
                            <m:e>
                              <m:rad>
                                <m:radPr>
                                  <m:degHide m:val="on"/>
                                  <m:ctrlPr>
                                    <a:rPr lang="en-AU" i="1">
                                      <a:solidFill>
                                        <a:schemeClr val="accent1"/>
                                      </a:solidFill>
                                      <a:latin typeface="Cambria Math" panose="02040503050406030204" pitchFamily="18" charset="0"/>
                                    </a:rPr>
                                  </m:ctrlPr>
                                </m:radPr>
                                <m:deg/>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𝐼</m:t>
                                      </m:r>
                                    </m:num>
                                    <m:den>
                                      <m:r>
                                        <a:rPr lang="en-AU" i="1">
                                          <a:solidFill>
                                            <a:schemeClr val="accent1"/>
                                          </a:solidFill>
                                          <a:latin typeface="Cambria Math" panose="02040503050406030204" pitchFamily="18" charset="0"/>
                                        </a:rPr>
                                        <m:t>𝛽</m:t>
                                      </m:r>
                                    </m:den>
                                  </m:f>
                                </m:e>
                              </m:rad>
                              <m:r>
                                <a:rPr lang="en-AU" i="1">
                                  <a:solidFill>
                                    <a:schemeClr val="accent1"/>
                                  </a:solidFill>
                                  <a:latin typeface="Cambria Math" panose="02040503050406030204" pitchFamily="18" charset="0"/>
                                </a:rPr>
                                <m:t> </m:t>
                              </m:r>
                              <m:func>
                                <m:funcPr>
                                  <m:ctrlPr>
                                    <a:rPr lang="en-AU" i="1">
                                      <a:solidFill>
                                        <a:schemeClr val="accent1"/>
                                      </a:solidFill>
                                      <a:latin typeface="Cambria Math" panose="02040503050406030204" pitchFamily="18" charset="0"/>
                                    </a:rPr>
                                  </m:ctrlPr>
                                </m:funcPr>
                                <m:fName>
                                  <m:rad>
                                    <m:radPr>
                                      <m:degHide m:val="on"/>
                                      <m:ctrlPr>
                                        <a:rPr lang="en-AU" i="1">
                                          <a:solidFill>
                                            <a:schemeClr val="accent1"/>
                                          </a:solidFill>
                                          <a:latin typeface="Cambria Math" panose="02040503050406030204" pitchFamily="18" charset="0"/>
                                        </a:rPr>
                                      </m:ctrlPr>
                                    </m:radPr>
                                    <m:deg/>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𝜋</m:t>
                                          </m:r>
                                          <m:r>
                                            <a:rPr lang="en-AU" i="1">
                                              <a:solidFill>
                                                <a:schemeClr val="accent1"/>
                                              </a:solidFill>
                                              <a:latin typeface="Cambria Math" panose="02040503050406030204" pitchFamily="18" charset="0"/>
                                            </a:rPr>
                                            <m:t>𝐼</m:t>
                                          </m:r>
                                        </m:num>
                                        <m:den>
                                          <m:r>
                                            <a:rPr lang="en-AU" i="1">
                                              <a:solidFill>
                                                <a:schemeClr val="accent1"/>
                                              </a:solidFill>
                                              <a:latin typeface="Cambria Math" panose="02040503050406030204" pitchFamily="18" charset="0"/>
                                            </a:rPr>
                                            <m:t>𝛽</m:t>
                                          </m:r>
                                        </m:den>
                                      </m:f>
                                    </m:e>
                                  </m:rad>
                                  <m:r>
                                    <a:rPr lang="en-AU" i="1">
                                      <a:solidFill>
                                        <a:schemeClr val="accent1"/>
                                      </a:solidFill>
                                      <a:latin typeface="Cambria Math" panose="02040503050406030204" pitchFamily="18" charset="0"/>
                                    </a:rPr>
                                    <m:t>𝑠𝑖𝑛</m:t>
                                  </m:r>
                                  <m:r>
                                    <a:rPr lang="en-AU" i="1">
                                      <a:solidFill>
                                        <a:schemeClr val="accent1"/>
                                      </a:solidFill>
                                      <a:latin typeface="Cambria Math" panose="02040503050406030204" pitchFamily="18" charset="0"/>
                                    </a:rPr>
                                    <m:t>𝜃</m:t>
                                  </m:r>
                                  <m:r>
                                    <a:rPr lang="en-AU" i="1">
                                      <a:solidFill>
                                        <a:schemeClr val="accent1"/>
                                      </a:solidFill>
                                      <a:latin typeface="Cambria Math" panose="02040503050406030204" pitchFamily="18" charset="0"/>
                                    </a:rPr>
                                    <m:t> </m:t>
                                  </m:r>
                                  <m:r>
                                    <m:rPr>
                                      <m:sty m:val="p"/>
                                    </m:rPr>
                                    <a:rPr lang="en-AU">
                                      <a:solidFill>
                                        <a:schemeClr val="accent1"/>
                                      </a:solidFill>
                                      <a:latin typeface="Cambria Math" panose="02040503050406030204" pitchFamily="18" charset="0"/>
                                    </a:rPr>
                                    <m:t>exp</m:t>
                                  </m:r>
                                </m:fName>
                                <m:e>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e>
                                      </m:d>
                                    </m:e>
                                  </m:d>
                                </m:e>
                              </m:func>
                            </m:e>
                          </m:nary>
                          <m:r>
                            <a:rPr lang="en-AU" b="0" i="1" smtClean="0">
                              <a:solidFill>
                                <a:schemeClr val="accent1"/>
                              </a:solidFill>
                              <a:latin typeface="Cambria Math" panose="02040503050406030204" pitchFamily="18" charset="0"/>
                            </a:rPr>
                            <m:t> </m:t>
                          </m:r>
                        </m:fName>
                        <m:e>
                          <m:r>
                            <a:rPr lang="en-AU" b="0" i="1" smtClean="0">
                              <a:solidFill>
                                <a:schemeClr val="accent1"/>
                              </a:solidFill>
                              <a:latin typeface="Cambria Math" panose="02040503050406030204" pitchFamily="18" charset="0"/>
                            </a:rPr>
                            <m:t>𝑑</m:t>
                          </m:r>
                          <m:r>
                            <a:rPr lang="en-AU" b="0" i="1" smtClean="0">
                              <a:solidFill>
                                <a:schemeClr val="accent1"/>
                              </a:solidFill>
                              <a:latin typeface="Cambria Math" panose="02040503050406030204" pitchFamily="18" charset="0"/>
                            </a:rPr>
                            <m:t>𝜃</m:t>
                          </m:r>
                        </m:e>
                      </m:func>
                      <m:r>
                        <a:rPr lang="en-AU" b="0" i="1" smtClean="0">
                          <a:solidFill>
                            <a:schemeClr val="accent1"/>
                          </a:solidFill>
                          <a:latin typeface="Cambria Math" panose="02040503050406030204" pitchFamily="18" charset="0"/>
                        </a:rPr>
                        <m:t>=</m:t>
                      </m:r>
                      <m:f>
                        <m:fPr>
                          <m:ctrlPr>
                            <a:rPr lang="en-AU" b="0" i="1" smtClean="0">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4</m:t>
                          </m:r>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𝜋</m:t>
                              </m:r>
                            </m:e>
                            <m:sup>
                              <m:r>
                                <a:rPr lang="en-AU" b="0" i="1" smtClean="0">
                                  <a:solidFill>
                                    <a:schemeClr val="accent1"/>
                                  </a:solidFill>
                                  <a:latin typeface="Cambria Math" panose="02040503050406030204" pitchFamily="18" charset="0"/>
                                </a:rPr>
                                <m:t>2</m:t>
                              </m:r>
                            </m:sup>
                          </m:sSup>
                        </m:num>
                        <m:den>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h</m:t>
                              </m:r>
                            </m:e>
                            <m:sup>
                              <m:r>
                                <a:rPr lang="en-AU" b="0" i="1" smtClean="0">
                                  <a:solidFill>
                                    <a:schemeClr val="accent1"/>
                                  </a:solidFill>
                                  <a:latin typeface="Cambria Math" panose="02040503050406030204" pitchFamily="18" charset="0"/>
                                </a:rPr>
                                <m:t>2</m:t>
                              </m:r>
                            </m:sup>
                          </m:sSup>
                        </m:den>
                      </m:f>
                      <m:f>
                        <m:fPr>
                          <m:ctrlPr>
                            <a:rPr lang="en-AU" b="0" i="1" smtClean="0">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𝑙</m:t>
                          </m:r>
                        </m:num>
                        <m:den>
                          <m:r>
                            <a:rPr lang="en-AU" b="0" i="1" smtClean="0">
                              <a:solidFill>
                                <a:schemeClr val="accent1"/>
                              </a:solidFill>
                              <a:latin typeface="Cambria Math" panose="02040503050406030204" pitchFamily="18" charset="0"/>
                            </a:rPr>
                            <m:t>𝛽</m:t>
                          </m:r>
                        </m:den>
                      </m:f>
                      <m:nary>
                        <m:naryPr>
                          <m:subHide m:val="on"/>
                          <m:supHide m:val="on"/>
                          <m:ctrlPr>
                            <a:rPr lang="en-AU" b="0" i="1" smtClean="0">
                              <a:solidFill>
                                <a:schemeClr val="accent1"/>
                              </a:solidFill>
                              <a:latin typeface="Cambria Math" panose="02040503050406030204" pitchFamily="18" charset="0"/>
                            </a:rPr>
                          </m:ctrlPr>
                        </m:naryPr>
                        <m:sub/>
                        <m:sup/>
                        <m:e>
                          <m:r>
                            <a:rPr lang="en-AU" i="1">
                              <a:solidFill>
                                <a:schemeClr val="accent1"/>
                              </a:solidFill>
                              <a:latin typeface="Cambria Math" panose="02040503050406030204" pitchFamily="18" charset="0"/>
                            </a:rPr>
                            <m:t>𝑠𝑖𝑛</m:t>
                          </m:r>
                          <m:r>
                            <a:rPr lang="en-AU" i="1">
                              <a:solidFill>
                                <a:schemeClr val="accent1"/>
                              </a:solidFill>
                              <a:latin typeface="Cambria Math" panose="02040503050406030204" pitchFamily="18" charset="0"/>
                            </a:rPr>
                            <m:t>𝜃</m:t>
                          </m:r>
                        </m:e>
                      </m:nary>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𝑒</m:t>
                          </m:r>
                        </m:e>
                        <m:sup>
                          <m:r>
                            <a:rPr lang="en-AU" b="0" i="1" smtClean="0">
                              <a:solidFill>
                                <a:schemeClr val="accent1"/>
                              </a:solidFill>
                              <a:latin typeface="Cambria Math" panose="02040503050406030204" pitchFamily="18" charset="0"/>
                            </a:rPr>
                            <m:t>𝛽𝜇</m:t>
                          </m:r>
                          <m:r>
                            <a:rPr lang="en-AU" b="0" i="1" smtClean="0">
                              <a:solidFill>
                                <a:schemeClr val="accent1"/>
                              </a:solidFill>
                              <a:latin typeface="Cambria Math" panose="02040503050406030204" pitchFamily="18" charset="0"/>
                            </a:rPr>
                            <m:t>𝐸</m:t>
                          </m:r>
                          <m:r>
                            <a:rPr lang="en-AU" b="0" i="1" smtClean="0">
                              <a:solidFill>
                                <a:schemeClr val="accent1"/>
                              </a:solidFill>
                              <a:latin typeface="Cambria Math" panose="02040503050406030204" pitchFamily="18" charset="0"/>
                            </a:rPr>
                            <m:t> </m:t>
                          </m:r>
                          <m:r>
                            <a:rPr lang="en-AU" b="0" i="1" smtClean="0">
                              <a:solidFill>
                                <a:schemeClr val="accent1"/>
                              </a:solidFill>
                              <a:latin typeface="Cambria Math" panose="02040503050406030204" pitchFamily="18" charset="0"/>
                            </a:rPr>
                            <m:t>𝑐𝑜𝑠</m:t>
                          </m:r>
                          <m:r>
                            <a:rPr lang="en-AU" b="0" i="1" smtClean="0">
                              <a:solidFill>
                                <a:schemeClr val="accent1"/>
                              </a:solidFill>
                              <a:latin typeface="Cambria Math" panose="02040503050406030204" pitchFamily="18" charset="0"/>
                            </a:rPr>
                            <m:t>𝜃</m:t>
                          </m:r>
                        </m:sup>
                      </m:sSup>
                      <m:r>
                        <a:rPr lang="en-AU" b="0" i="1" smtClean="0">
                          <a:solidFill>
                            <a:schemeClr val="accent1"/>
                          </a:solidFill>
                          <a:latin typeface="Cambria Math" panose="02040503050406030204" pitchFamily="18" charset="0"/>
                        </a:rPr>
                        <m:t>𝑑</m:t>
                      </m:r>
                      <m:r>
                        <a:rPr lang="en-AU" b="0" i="1" smtClean="0">
                          <a:solidFill>
                            <a:schemeClr val="accent1"/>
                          </a:solidFill>
                          <a:latin typeface="Cambria Math" panose="02040503050406030204" pitchFamily="18" charset="0"/>
                        </a:rPr>
                        <m:t>𝜃</m:t>
                      </m:r>
                    </m:oMath>
                  </m:oMathPara>
                </a14:m>
                <a:endParaRPr lang="en-AU" b="0" dirty="0">
                  <a:solidFill>
                    <a:schemeClr val="accent1"/>
                  </a:solidFill>
                </a:endParaRPr>
              </a:p>
              <a:p>
                <a:endParaRPr lang="en-AU" dirty="0">
                  <a:solidFill>
                    <a:schemeClr val="accent1"/>
                  </a:solidFill>
                </a:endParaRPr>
              </a:p>
              <a:p>
                <a:r>
                  <a:rPr lang="en-AU" dirty="0">
                    <a:solidFill>
                      <a:schemeClr val="accent1"/>
                    </a:solidFill>
                  </a:rPr>
                  <a:t>Now this last integral has a fun integration trick:</a:t>
                </a:r>
              </a:p>
              <a:p>
                <a:r>
                  <a:rPr lang="en-AU" dirty="0">
                    <a:solidFill>
                      <a:schemeClr val="accent1"/>
                    </a:solidFill>
                  </a:rPr>
                  <a:t>You know how </a:t>
                </a:r>
                <a14:m>
                  <m:oMath xmlns:m="http://schemas.openxmlformats.org/officeDocument/2006/math">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𝑑𝑥</m:t>
                        </m:r>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𝑓</m:t>
                        </m:r>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𝑥</m:t>
                            </m:r>
                          </m:e>
                        </m:d>
                      </m:sup>
                    </m:sSup>
                    <m:r>
                      <a:rPr lang="en-AU" i="1">
                        <a:solidFill>
                          <a:schemeClr val="accent1"/>
                        </a:solidFill>
                        <a:latin typeface="Cambria Math" panose="02040503050406030204" pitchFamily="18" charset="0"/>
                      </a:rPr>
                      <m:t>=</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𝑓</m:t>
                        </m:r>
                      </m:e>
                      <m:sup>
                        <m:r>
                          <a:rPr lang="en-AU" i="1">
                            <a:solidFill>
                              <a:schemeClr val="accent1"/>
                            </a:solidFill>
                            <a:latin typeface="Cambria Math" panose="02040503050406030204" pitchFamily="18" charset="0"/>
                          </a:rPr>
                          <m:t>′</m:t>
                        </m:r>
                      </m:sup>
                    </m:sSup>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𝑥</m:t>
                        </m:r>
                      </m:e>
                    </m:d>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𝑓</m:t>
                        </m:r>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𝑥</m:t>
                            </m:r>
                          </m:e>
                        </m:d>
                      </m:sup>
                    </m:sSup>
                  </m:oMath>
                </a14:m>
                <a:r>
                  <a:rPr lang="en-AU" dirty="0">
                    <a:solidFill>
                      <a:schemeClr val="accent1"/>
                    </a:solidFill>
                  </a:rPr>
                  <a:t> ? So </a:t>
                </a:r>
                <a14:m>
                  <m:oMath xmlns:m="http://schemas.openxmlformats.org/officeDocument/2006/math">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𝜃</m:t>
                        </m:r>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sup>
                    </m:s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sin</m:t>
                        </m:r>
                      </m:fName>
                      <m:e>
                        <m:r>
                          <a:rPr lang="en-AU" i="1">
                            <a:solidFill>
                              <a:schemeClr val="accent1"/>
                            </a:solidFill>
                            <a:latin typeface="Cambria Math" panose="02040503050406030204" pitchFamily="18" charset="0"/>
                          </a:rPr>
                          <m:t>𝜃</m:t>
                        </m:r>
                      </m:e>
                    </m:func>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sup>
                    </m:sSup>
                  </m:oMath>
                </a14:m>
                <a:r>
                  <a:rPr lang="en-AU" dirty="0">
                    <a:solidFill>
                      <a:schemeClr val="accent1"/>
                    </a:solidFill>
                  </a:rPr>
                  <a:t>. Which means because of that sine out the front, we can write this integral as</a:t>
                </a:r>
              </a:p>
              <a:p>
                <a:pPr/>
                <a14:m>
                  <m:oMathPara xmlns:m="http://schemas.openxmlformats.org/officeDocument/2006/math">
                    <m:oMathParaPr>
                      <m:jc m:val="centerGroup"/>
                    </m:oMathParaPr>
                    <m:oMath xmlns:m="http://schemas.openxmlformats.org/officeDocument/2006/math">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𝑟𝑜𝑡</m:t>
                          </m:r>
                        </m:sub>
                      </m:sSub>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4</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𝜋</m:t>
                              </m:r>
                            </m:e>
                            <m:sup>
                              <m:r>
                                <a:rPr lang="en-AU" i="1">
                                  <a:solidFill>
                                    <a:schemeClr val="accent1"/>
                                  </a:solidFill>
                                  <a:latin typeface="Cambria Math" panose="02040503050406030204" pitchFamily="18" charset="0"/>
                                </a:rPr>
                                <m:t>2</m:t>
                              </m:r>
                            </m:sup>
                          </m:sSup>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2</m:t>
                              </m:r>
                            </m:sup>
                          </m:sSup>
                        </m:den>
                      </m:f>
                      <m:f>
                        <m:fPr>
                          <m:ctrlPr>
                            <a:rPr lang="en-AU" i="1">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𝐼</m:t>
                          </m:r>
                        </m:num>
                        <m:den>
                          <m:r>
                            <a:rPr lang="en-AU" i="1">
                              <a:solidFill>
                                <a:schemeClr val="accent1"/>
                              </a:solidFill>
                              <a:latin typeface="Cambria Math" panose="02040503050406030204" pitchFamily="18" charset="0"/>
                            </a:rPr>
                            <m:t>𝛽</m:t>
                          </m:r>
                        </m:den>
                      </m:f>
                      <m:nary>
                        <m:naryPr>
                          <m:ctrlPr>
                            <a:rPr lang="en-AU" i="1">
                              <a:solidFill>
                                <a:schemeClr val="accent1"/>
                              </a:solidFill>
                              <a:latin typeface="Cambria Math" panose="02040503050406030204" pitchFamily="18" charset="0"/>
                            </a:rPr>
                          </m:ctrlPr>
                        </m:naryPr>
                        <m:sub>
                          <m:r>
                            <a:rPr lang="en-AU" i="1">
                              <a:solidFill>
                                <a:schemeClr val="accent1"/>
                              </a:solidFill>
                              <a:latin typeface="Cambria Math" panose="02040503050406030204" pitchFamily="18" charset="0"/>
                            </a:rPr>
                            <m:t>0</m:t>
                          </m:r>
                        </m:sub>
                        <m:sup>
                          <m:r>
                            <a:rPr lang="en-AU" i="1">
                              <a:solidFill>
                                <a:schemeClr val="accent1"/>
                              </a:solidFill>
                              <a:latin typeface="Cambria Math" panose="02040503050406030204" pitchFamily="18" charset="0"/>
                            </a:rPr>
                            <m:t>𝜋</m:t>
                          </m:r>
                        </m:sup>
                        <m:e>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𝜃</m:t>
                          </m:r>
                        </m:e>
                      </m:nary>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den>
                          </m:f>
                        </m:e>
                      </m:d>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m:t>
                          </m:r>
                          <m:r>
                            <a:rPr lang="en-AU" i="1">
                              <a:solidFill>
                                <a:schemeClr val="accent1"/>
                              </a:solidFill>
                              <a:latin typeface="Cambria Math" panose="02040503050406030204" pitchFamily="18" charset="0"/>
                            </a:rPr>
                            <m:t>𝜃</m:t>
                          </m:r>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a:rPr lang="en-AU" i="1">
                                  <a:solidFill>
                                    <a:schemeClr val="accent1"/>
                                  </a:solidFill>
                                  <a:latin typeface="Cambria Math" panose="02040503050406030204" pitchFamily="18" charset="0"/>
                                </a:rPr>
                                <m:t>𝑐𝑜𝑠</m:t>
                              </m:r>
                            </m:fName>
                            <m:e>
                              <m:r>
                                <a:rPr lang="en-AU" i="1">
                                  <a:solidFill>
                                    <a:schemeClr val="accent1"/>
                                  </a:solidFill>
                                  <a:latin typeface="Cambria Math" panose="02040503050406030204" pitchFamily="18" charset="0"/>
                                </a:rPr>
                                <m:t>𝜃</m:t>
                              </m:r>
                            </m:e>
                          </m:func>
                        </m:sup>
                      </m:sSup>
                      <m:r>
                        <a:rPr lang="en-AU" b="0" i="1" smtClean="0">
                          <a:solidFill>
                            <a:schemeClr val="accent1"/>
                          </a:solidFill>
                          <a:latin typeface="Cambria Math" panose="02040503050406030204" pitchFamily="18" charset="0"/>
                        </a:rPr>
                        <m:t>=</m:t>
                      </m:r>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𝑍</m:t>
                          </m:r>
                        </m:e>
                        <m:sub>
                          <m:r>
                            <a:rPr lang="en-AU" i="1">
                              <a:solidFill>
                                <a:schemeClr val="accent1"/>
                              </a:solidFill>
                              <a:latin typeface="Cambria Math" panose="02040503050406030204" pitchFamily="18" charset="0"/>
                            </a:rPr>
                            <m:t>𝑟𝑜𝑡</m:t>
                          </m:r>
                        </m:sub>
                      </m:sSub>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4</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𝜋</m:t>
                              </m:r>
                            </m:e>
                            <m:sup>
                              <m:r>
                                <a:rPr lang="en-AU" i="1">
                                  <a:solidFill>
                                    <a:schemeClr val="accent1"/>
                                  </a:solidFill>
                                  <a:latin typeface="Cambria Math" panose="02040503050406030204" pitchFamily="18" charset="0"/>
                                </a:rPr>
                                <m:t>2</m:t>
                              </m:r>
                            </m:sup>
                          </m:sSup>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2</m:t>
                              </m:r>
                            </m:sup>
                          </m:sSup>
                        </m:den>
                      </m:f>
                      <m:f>
                        <m:fPr>
                          <m:ctrlPr>
                            <a:rPr lang="en-AU" i="1">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𝐼</m:t>
                          </m:r>
                        </m:num>
                        <m:den>
                          <m:r>
                            <a:rPr lang="en-AU" i="1">
                              <a:solidFill>
                                <a:schemeClr val="accent1"/>
                              </a:solidFill>
                              <a:latin typeface="Cambria Math" panose="02040503050406030204" pitchFamily="18" charset="0"/>
                            </a:rPr>
                            <m:t>𝛽</m:t>
                          </m:r>
                        </m:den>
                      </m:f>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den>
                          </m:f>
                        </m:e>
                      </m:d>
                      <m:r>
                        <a:rPr lang="en-AU" i="1">
                          <a:solidFill>
                            <a:schemeClr val="accent1"/>
                          </a:solidFill>
                          <a:latin typeface="Cambria Math" panose="02040503050406030204" pitchFamily="18" charset="0"/>
                        </a:rPr>
                        <m:t> </m:t>
                      </m:r>
                      <m:sSubSup>
                        <m:sSubSupPr>
                          <m:ctrlPr>
                            <a:rPr lang="en-AU" i="1">
                              <a:solidFill>
                                <a:schemeClr val="accent1"/>
                              </a:solidFill>
                              <a:latin typeface="Cambria Math" panose="02040503050406030204" pitchFamily="18" charset="0"/>
                            </a:rPr>
                          </m:ctrlPr>
                        </m:sSubSupPr>
                        <m:e>
                          <m:d>
                            <m:dPr>
                              <m:ctrlPr>
                                <a:rPr lang="en-AU" i="1">
                                  <a:solidFill>
                                    <a:schemeClr val="accent1"/>
                                  </a:solidFill>
                                  <a:latin typeface="Cambria Math" panose="02040503050406030204" pitchFamily="18" charset="0"/>
                                </a:rPr>
                              </m:ctrlPr>
                            </m:dPr>
                            <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a:rPr lang="en-AU" i="1">
                                          <a:solidFill>
                                            <a:schemeClr val="accent1"/>
                                          </a:solidFill>
                                          <a:latin typeface="Cambria Math" panose="02040503050406030204" pitchFamily="18" charset="0"/>
                                        </a:rPr>
                                        <m:t>𝑐𝑜𝑠</m:t>
                                      </m:r>
                                    </m:fName>
                                    <m:e>
                                      <m:r>
                                        <a:rPr lang="en-AU" i="1">
                                          <a:solidFill>
                                            <a:schemeClr val="accent1"/>
                                          </a:solidFill>
                                          <a:latin typeface="Cambria Math" panose="02040503050406030204" pitchFamily="18" charset="0"/>
                                        </a:rPr>
                                        <m:t>𝜃</m:t>
                                      </m:r>
                                    </m:e>
                                  </m:func>
                                </m:sup>
                              </m:sSup>
                            </m:e>
                          </m:d>
                        </m:e>
                        <m:sub>
                          <m:r>
                            <a:rPr lang="en-AU" i="1">
                              <a:solidFill>
                                <a:schemeClr val="accent1"/>
                              </a:solidFill>
                              <a:latin typeface="Cambria Math" panose="02040503050406030204" pitchFamily="18" charset="0"/>
                            </a:rPr>
                            <m:t>0</m:t>
                          </m:r>
                        </m:sub>
                        <m:sup>
                          <m:r>
                            <a:rPr lang="en-AU" i="1">
                              <a:solidFill>
                                <a:schemeClr val="accent1"/>
                              </a:solidFill>
                              <a:latin typeface="Cambria Math" panose="02040503050406030204" pitchFamily="18" charset="0"/>
                            </a:rPr>
                            <m:t>𝜋</m:t>
                          </m:r>
                        </m:sup>
                      </m:sSubSup>
                      <m:r>
                        <a:rPr lang="en-AU" b="0" i="1" smtClean="0">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b="0" i="1" smtClean="0">
                              <a:solidFill>
                                <a:schemeClr val="accent1"/>
                              </a:solidFill>
                              <a:latin typeface="Cambria Math" panose="02040503050406030204" pitchFamily="18" charset="0"/>
                            </a:rPr>
                            <m:t>8</m:t>
                          </m:r>
                          <m:sSup>
                            <m:sSupPr>
                              <m:ctrlPr>
                                <a:rPr lang="en-AU" b="0" i="1" smtClean="0">
                                  <a:solidFill>
                                    <a:schemeClr val="accent1"/>
                                  </a:solidFill>
                                  <a:latin typeface="Cambria Math" panose="02040503050406030204" pitchFamily="18" charset="0"/>
                                </a:rPr>
                              </m:ctrlPr>
                            </m:sSupPr>
                            <m:e>
                              <m:r>
                                <a:rPr lang="en-AU" b="0" i="1" smtClean="0">
                                  <a:solidFill>
                                    <a:schemeClr val="accent1"/>
                                  </a:solidFill>
                                  <a:latin typeface="Cambria Math" panose="02040503050406030204" pitchFamily="18" charset="0"/>
                                </a:rPr>
                                <m:t>𝜋</m:t>
                              </m:r>
                            </m:e>
                            <m:sup>
                              <m:r>
                                <a:rPr lang="en-AU" b="0" i="1" smtClean="0">
                                  <a:solidFill>
                                    <a:schemeClr val="accent1"/>
                                  </a:solidFill>
                                  <a:latin typeface="Cambria Math" panose="02040503050406030204" pitchFamily="18" charset="0"/>
                                </a:rPr>
                                <m:t>2</m:t>
                              </m:r>
                            </m:sup>
                          </m:sSup>
                          <m:r>
                            <a:rPr lang="en-AU" i="1">
                              <a:solidFill>
                                <a:schemeClr val="accent1"/>
                              </a:solidFill>
                              <a:latin typeface="Cambria Math" panose="02040503050406030204" pitchFamily="18" charset="0"/>
                            </a:rPr>
                            <m:t>𝐼</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2</m:t>
                              </m:r>
                            </m:sup>
                          </m:sSup>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𝛽</m:t>
                              </m:r>
                            </m:e>
                            <m:sup>
                              <m:r>
                                <a:rPr lang="en-AU" i="1">
                                  <a:solidFill>
                                    <a:schemeClr val="accent1"/>
                                  </a:solidFill>
                                  <a:latin typeface="Cambria Math" panose="02040503050406030204" pitchFamily="18" charset="0"/>
                                </a:rPr>
                                <m:t>2</m:t>
                              </m:r>
                            </m:sup>
                          </m:sSup>
                          <m:r>
                            <a:rPr lang="en-AU" i="1">
                              <a:solidFill>
                                <a:schemeClr val="accent1"/>
                              </a:solidFill>
                              <a:latin typeface="Cambria Math" panose="02040503050406030204" pitchFamily="18" charset="0"/>
                            </a:rPr>
                            <m:t>𝜇</m:t>
                          </m:r>
                          <m:r>
                            <a:rPr lang="en-AU" i="1">
                              <a:solidFill>
                                <a:schemeClr val="accent1"/>
                              </a:solidFill>
                              <a:latin typeface="Cambria Math" panose="02040503050406030204" pitchFamily="18" charset="0"/>
                            </a:rPr>
                            <m:t>𝐸</m:t>
                          </m:r>
                        </m:den>
                      </m:f>
                      <m:r>
                        <m:rPr>
                          <m:sty m:val="p"/>
                        </m:rPr>
                        <a:rPr lang="en-AU">
                          <a:solidFill>
                            <a:schemeClr val="accent1"/>
                          </a:solidFill>
                          <a:latin typeface="Cambria Math" panose="02040503050406030204" pitchFamily="18" charset="0"/>
                        </a:rPr>
                        <m:t>sinh</m:t>
                      </m:r>
                      <m:r>
                        <a:rPr lang="en-AU">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r>
                        <a:rPr lang="en-AU" i="1">
                          <a:solidFill>
                            <a:schemeClr val="accent1"/>
                          </a:solidFill>
                          <a:latin typeface="Cambria Math" panose="02040503050406030204" pitchFamily="18" charset="0"/>
                        </a:rPr>
                        <m:t>)</m:t>
                      </m:r>
                    </m:oMath>
                  </m:oMathPara>
                </a14:m>
                <a:endParaRPr lang="en-AU" dirty="0">
                  <a:solidFill>
                    <a:schemeClr val="accent1"/>
                  </a:solidFill>
                </a:endParaRPr>
              </a:p>
              <a:p>
                <a:endParaRPr lang="en-AU" dirty="0">
                  <a:solidFill>
                    <a:schemeClr val="accent1"/>
                  </a:solidFill>
                </a:endParaRPr>
              </a:p>
            </p:txBody>
          </p:sp>
        </mc:Choice>
        <mc:Fallback xmlns="">
          <p:sp>
            <p:nvSpPr>
              <p:cNvPr id="6" name="TextBox 5">
                <a:extLst>
                  <a:ext uri="{FF2B5EF4-FFF2-40B4-BE49-F238E27FC236}">
                    <a16:creationId xmlns:a16="http://schemas.microsoft.com/office/drawing/2014/main" id="{E57C5617-416E-6FE2-5F8C-08C2B7E3843C}"/>
                  </a:ext>
                </a:extLst>
              </p:cNvPr>
              <p:cNvSpPr txBox="1">
                <a:spLocks noRot="1" noChangeAspect="1" noMove="1" noResize="1" noEditPoints="1" noAdjustHandles="1" noChangeArrowheads="1" noChangeShapeType="1" noTextEdit="1"/>
              </p:cNvSpPr>
              <p:nvPr/>
            </p:nvSpPr>
            <p:spPr>
              <a:xfrm>
                <a:off x="134257" y="0"/>
                <a:ext cx="11923486" cy="6994607"/>
              </a:xfrm>
              <a:prstGeom prst="rect">
                <a:avLst/>
              </a:prstGeom>
              <a:blipFill>
                <a:blip r:embed="rId2"/>
                <a:stretch>
                  <a:fillRect l="-426" t="-726" r="-532" b="-18875"/>
                </a:stretch>
              </a:blipFill>
            </p:spPr>
            <p:txBody>
              <a:bodyPr/>
              <a:lstStyle/>
              <a:p>
                <a:r>
                  <a:rPr lang="en-US">
                    <a:noFill/>
                  </a:rPr>
                  <a:t> </a:t>
                </a:r>
              </a:p>
            </p:txBody>
          </p:sp>
        </mc:Fallback>
      </mc:AlternateContent>
    </p:spTree>
    <p:extLst>
      <p:ext uri="{BB962C8B-B14F-4D97-AF65-F5344CB8AC3E}">
        <p14:creationId xmlns:p14="http://schemas.microsoft.com/office/powerpoint/2010/main" val="412958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FB11-68CA-C20C-7D3A-CDFEF1F6C2A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B2E76F-8990-196C-6D8A-4D1E0955F891}"/>
                  </a:ext>
                </a:extLst>
              </p:cNvPr>
              <p:cNvSpPr txBox="1"/>
              <p:nvPr/>
            </p:nvSpPr>
            <p:spPr>
              <a:xfrm>
                <a:off x="524546" y="1365504"/>
                <a:ext cx="11923486" cy="3963073"/>
              </a:xfrm>
              <a:prstGeom prst="rect">
                <a:avLst/>
              </a:prstGeom>
              <a:noFill/>
            </p:spPr>
            <p:txBody>
              <a:bodyPr wrap="square" rtlCol="0">
                <a:spAutoFit/>
              </a:bodyPr>
              <a:lstStyle/>
              <a:p>
                <a:pPr lvl="0"/>
                <a14:m>
                  <m:oMathPara xmlns:m="http://schemas.openxmlformats.org/officeDocument/2006/math">
                    <m:oMathParaPr>
                      <m:jc m:val="centerGroup"/>
                    </m:oMathParaPr>
                    <m:oMath xmlns:m="http://schemas.openxmlformats.org/officeDocument/2006/math">
                      <m:sSub>
                        <m:sSubPr>
                          <m:ctrlPr>
                            <a:rPr lang="en-AU" b="0" i="1" smtClean="0">
                              <a:solidFill>
                                <a:schemeClr val="tx1"/>
                              </a:solidFill>
                              <a:latin typeface="Cambria Math" panose="02040503050406030204" pitchFamily="18" charset="0"/>
                            </a:rPr>
                          </m:ctrlPr>
                        </m:sSubPr>
                        <m:e>
                          <m:r>
                            <a:rPr lang="en-AU" i="1" smtClean="0">
                              <a:solidFill>
                                <a:schemeClr val="tx1"/>
                              </a:solidFill>
                              <a:latin typeface="Cambria Math" panose="02040503050406030204" pitchFamily="18" charset="0"/>
                            </a:rPr>
                            <m:t>𝐻</m:t>
                          </m:r>
                        </m:e>
                        <m:sub>
                          <m:r>
                            <a:rPr lang="en-AU" b="0" i="1" smtClean="0">
                              <a:solidFill>
                                <a:schemeClr val="tx1"/>
                              </a:solidFill>
                              <a:latin typeface="Cambria Math" panose="02040503050406030204" pitchFamily="18" charset="0"/>
                            </a:rPr>
                            <m:t>𝑟𝑜𝑡</m:t>
                          </m:r>
                        </m:sub>
                      </m:sSub>
                      <m:r>
                        <a:rPr lang="en-AU" i="1" smtClean="0">
                          <a:solidFill>
                            <a:schemeClr val="tx1"/>
                          </a:solidFill>
                          <a:latin typeface="Cambria Math" panose="02040503050406030204" pitchFamily="18" charset="0"/>
                        </a:rPr>
                        <m:t>=</m:t>
                      </m:r>
                      <m:f>
                        <m:fPr>
                          <m:ctrlPr>
                            <a:rPr lang="en-AU" i="1">
                              <a:solidFill>
                                <a:schemeClr val="tx1"/>
                              </a:solidFill>
                              <a:latin typeface="Cambria Math" panose="02040503050406030204" pitchFamily="18" charset="0"/>
                            </a:rPr>
                          </m:ctrlPr>
                        </m:fPr>
                        <m:num>
                          <m:r>
                            <a:rPr lang="en-AU" i="1">
                              <a:solidFill>
                                <a:schemeClr val="tx1"/>
                              </a:solidFill>
                              <a:latin typeface="Cambria Math" panose="02040503050406030204" pitchFamily="18" charset="0"/>
                            </a:rPr>
                            <m:t>1</m:t>
                          </m:r>
                        </m:num>
                        <m:den>
                          <m:r>
                            <a:rPr lang="en-AU" i="1">
                              <a:solidFill>
                                <a:schemeClr val="tx1"/>
                              </a:solidFill>
                              <a:latin typeface="Cambria Math" panose="02040503050406030204" pitchFamily="18" charset="0"/>
                            </a:rPr>
                            <m:t>2</m:t>
                          </m:r>
                          <m:r>
                            <a:rPr lang="en-AU" i="1">
                              <a:solidFill>
                                <a:schemeClr val="tx1"/>
                              </a:solidFill>
                              <a:latin typeface="Cambria Math" panose="02040503050406030204" pitchFamily="18" charset="0"/>
                            </a:rPr>
                            <m:t>𝐼</m:t>
                          </m:r>
                        </m:den>
                      </m:f>
                      <m:sSubSup>
                        <m:sSubSupPr>
                          <m:ctrlPr>
                            <a:rPr lang="en-AU" i="1">
                              <a:solidFill>
                                <a:schemeClr val="tx1"/>
                              </a:solidFill>
                              <a:latin typeface="Cambria Math" panose="02040503050406030204" pitchFamily="18" charset="0"/>
                            </a:rPr>
                          </m:ctrlPr>
                        </m:sSubSupPr>
                        <m:e>
                          <m:r>
                            <a:rPr lang="en-AU" i="1">
                              <a:solidFill>
                                <a:schemeClr val="tx1"/>
                              </a:solidFill>
                              <a:latin typeface="Cambria Math" panose="02040503050406030204" pitchFamily="18" charset="0"/>
                            </a:rPr>
                            <m:t>𝑝</m:t>
                          </m:r>
                        </m:e>
                        <m:sub>
                          <m:r>
                            <a:rPr lang="en-AU" i="1">
                              <a:solidFill>
                                <a:schemeClr val="tx1"/>
                              </a:solidFill>
                              <a:latin typeface="Cambria Math" panose="02040503050406030204" pitchFamily="18" charset="0"/>
                            </a:rPr>
                            <m:t>𝜃</m:t>
                          </m:r>
                        </m:sub>
                        <m:sup>
                          <m:r>
                            <a:rPr lang="en-AU" i="1">
                              <a:solidFill>
                                <a:schemeClr val="tx1"/>
                              </a:solidFill>
                              <a:latin typeface="Cambria Math" panose="02040503050406030204" pitchFamily="18" charset="0"/>
                            </a:rPr>
                            <m:t>2</m:t>
                          </m:r>
                        </m:sup>
                      </m:sSubSup>
                      <m:r>
                        <a:rPr lang="en-AU" i="1">
                          <a:solidFill>
                            <a:schemeClr val="tx1"/>
                          </a:solidFill>
                          <a:latin typeface="Cambria Math" panose="02040503050406030204" pitchFamily="18" charset="0"/>
                        </a:rPr>
                        <m:t>+</m:t>
                      </m:r>
                      <m:f>
                        <m:fPr>
                          <m:ctrlPr>
                            <a:rPr lang="en-AU" i="1">
                              <a:solidFill>
                                <a:schemeClr val="tx1"/>
                              </a:solidFill>
                              <a:latin typeface="Cambria Math" panose="02040503050406030204" pitchFamily="18" charset="0"/>
                            </a:rPr>
                          </m:ctrlPr>
                        </m:fPr>
                        <m:num>
                          <m:r>
                            <a:rPr lang="en-AU" i="1">
                              <a:solidFill>
                                <a:schemeClr val="tx1"/>
                              </a:solidFill>
                              <a:latin typeface="Cambria Math" panose="02040503050406030204" pitchFamily="18" charset="0"/>
                            </a:rPr>
                            <m:t>1</m:t>
                          </m:r>
                        </m:num>
                        <m:den>
                          <m:r>
                            <a:rPr lang="en-AU" i="1">
                              <a:solidFill>
                                <a:schemeClr val="tx1"/>
                              </a:solidFill>
                              <a:latin typeface="Cambria Math" panose="02040503050406030204" pitchFamily="18" charset="0"/>
                            </a:rPr>
                            <m:t>2</m:t>
                          </m:r>
                          <m:r>
                            <a:rPr lang="en-AU" i="1">
                              <a:solidFill>
                                <a:schemeClr val="tx1"/>
                              </a:solidFill>
                              <a:latin typeface="Cambria Math" panose="02040503050406030204" pitchFamily="18" charset="0"/>
                            </a:rPr>
                            <m:t>𝐼</m:t>
                          </m:r>
                          <m:func>
                            <m:funcPr>
                              <m:ctrlPr>
                                <a:rPr lang="en-AU" i="1">
                                  <a:solidFill>
                                    <a:schemeClr val="tx1"/>
                                  </a:solidFill>
                                  <a:latin typeface="Cambria Math" panose="02040503050406030204" pitchFamily="18" charset="0"/>
                                </a:rPr>
                              </m:ctrlPr>
                            </m:funcPr>
                            <m:fName>
                              <m:sSup>
                                <m:sSupPr>
                                  <m:ctrlPr>
                                    <a:rPr lang="en-AU" i="1">
                                      <a:solidFill>
                                        <a:schemeClr val="tx1"/>
                                      </a:solidFill>
                                      <a:latin typeface="Cambria Math" panose="02040503050406030204" pitchFamily="18" charset="0"/>
                                    </a:rPr>
                                  </m:ctrlPr>
                                </m:sSupPr>
                                <m:e>
                                  <m:r>
                                    <m:rPr>
                                      <m:sty m:val="p"/>
                                    </m:rPr>
                                    <a:rPr lang="en-AU">
                                      <a:solidFill>
                                        <a:schemeClr val="tx1"/>
                                      </a:solidFill>
                                      <a:latin typeface="Cambria Math" panose="02040503050406030204" pitchFamily="18" charset="0"/>
                                    </a:rPr>
                                    <m:t>sin</m:t>
                                  </m:r>
                                </m:e>
                                <m:sup>
                                  <m:r>
                                    <a:rPr lang="en-AU" i="1">
                                      <a:solidFill>
                                        <a:schemeClr val="tx1"/>
                                      </a:solidFill>
                                      <a:latin typeface="Cambria Math" panose="02040503050406030204" pitchFamily="18" charset="0"/>
                                    </a:rPr>
                                    <m:t>2</m:t>
                                  </m:r>
                                </m:sup>
                              </m:sSup>
                            </m:fName>
                            <m:e>
                              <m:r>
                                <a:rPr lang="en-AU" i="1">
                                  <a:solidFill>
                                    <a:schemeClr val="tx1"/>
                                  </a:solidFill>
                                  <a:latin typeface="Cambria Math" panose="02040503050406030204" pitchFamily="18" charset="0"/>
                                </a:rPr>
                                <m:t>𝜃</m:t>
                              </m:r>
                            </m:e>
                          </m:func>
                        </m:den>
                      </m:f>
                      <m:sSubSup>
                        <m:sSubSupPr>
                          <m:ctrlPr>
                            <a:rPr lang="en-AU" i="1">
                              <a:solidFill>
                                <a:schemeClr val="tx1"/>
                              </a:solidFill>
                              <a:latin typeface="Cambria Math" panose="02040503050406030204" pitchFamily="18" charset="0"/>
                            </a:rPr>
                          </m:ctrlPr>
                        </m:sSubSupPr>
                        <m:e>
                          <m:r>
                            <a:rPr lang="en-AU" i="1">
                              <a:solidFill>
                                <a:schemeClr val="tx1"/>
                              </a:solidFill>
                              <a:latin typeface="Cambria Math" panose="02040503050406030204" pitchFamily="18" charset="0"/>
                            </a:rPr>
                            <m:t>𝑝</m:t>
                          </m:r>
                        </m:e>
                        <m:sub>
                          <m:r>
                            <a:rPr lang="en-AU" i="1">
                              <a:solidFill>
                                <a:schemeClr val="tx1"/>
                              </a:solidFill>
                              <a:latin typeface="Cambria Math" panose="02040503050406030204" pitchFamily="18" charset="0"/>
                            </a:rPr>
                            <m:t>𝜙</m:t>
                          </m:r>
                        </m:sub>
                        <m:sup>
                          <m:r>
                            <a:rPr lang="en-AU" i="1">
                              <a:solidFill>
                                <a:schemeClr val="tx1"/>
                              </a:solidFill>
                              <a:latin typeface="Cambria Math" panose="02040503050406030204" pitchFamily="18" charset="0"/>
                            </a:rPr>
                            <m:t>2</m:t>
                          </m:r>
                        </m:sup>
                      </m:sSubSup>
                      <m:r>
                        <a:rPr lang="en-AU" i="1">
                          <a:solidFill>
                            <a:schemeClr val="tx1"/>
                          </a:solidFill>
                          <a:latin typeface="Cambria Math" panose="02040503050406030204" pitchFamily="18" charset="0"/>
                        </a:rPr>
                        <m:t>−</m:t>
                      </m:r>
                      <m:r>
                        <a:rPr lang="en-AU" i="1">
                          <a:solidFill>
                            <a:schemeClr val="tx1"/>
                          </a:solidFill>
                          <a:latin typeface="Cambria Math" panose="02040503050406030204" pitchFamily="18" charset="0"/>
                        </a:rPr>
                        <m:t>𝜇</m:t>
                      </m:r>
                      <m:r>
                        <a:rPr lang="en-AU" i="1">
                          <a:solidFill>
                            <a:schemeClr val="tx1"/>
                          </a:solidFill>
                          <a:latin typeface="Cambria Math" panose="02040503050406030204" pitchFamily="18" charset="0"/>
                        </a:rPr>
                        <m:t>𝐸</m:t>
                      </m:r>
                      <m:func>
                        <m:funcPr>
                          <m:ctrlPr>
                            <a:rPr lang="en-AU" i="1">
                              <a:solidFill>
                                <a:schemeClr val="tx1"/>
                              </a:solidFill>
                              <a:latin typeface="Cambria Math" panose="02040503050406030204" pitchFamily="18" charset="0"/>
                            </a:rPr>
                          </m:ctrlPr>
                        </m:funcPr>
                        <m:fName>
                          <m:r>
                            <m:rPr>
                              <m:sty m:val="p"/>
                            </m:rPr>
                            <a:rPr lang="en-AU">
                              <a:solidFill>
                                <a:schemeClr val="tx1"/>
                              </a:solidFill>
                              <a:latin typeface="Cambria Math" panose="02040503050406030204" pitchFamily="18" charset="0"/>
                            </a:rPr>
                            <m:t>cos</m:t>
                          </m:r>
                        </m:fName>
                        <m:e>
                          <m:r>
                            <a:rPr lang="en-AU" i="1">
                              <a:solidFill>
                                <a:schemeClr val="tx1"/>
                              </a:solidFill>
                              <a:latin typeface="Cambria Math" panose="02040503050406030204" pitchFamily="18" charset="0"/>
                            </a:rPr>
                            <m:t>𝜃</m:t>
                          </m:r>
                        </m:e>
                      </m:func>
                    </m:oMath>
                  </m:oMathPara>
                </a14:m>
                <a:endParaRPr lang="en-AU" dirty="0">
                  <a:solidFill>
                    <a:schemeClr val="tx1"/>
                  </a:solidFill>
                </a:endParaRPr>
              </a:p>
              <a:p>
                <a:pPr lvl="0"/>
                <a:endParaRPr lang="en-AU" dirty="0"/>
              </a:p>
              <a:p>
                <a:pP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𝑍</m:t>
                          </m:r>
                        </m:e>
                        <m:sub>
                          <m:r>
                            <a:rPr lang="en-AU" i="1">
                              <a:latin typeface="Cambria Math" panose="02040503050406030204" pitchFamily="18" charset="0"/>
                            </a:rPr>
                            <m:t>𝑟𝑜</m:t>
                          </m:r>
                          <m:sSub>
                            <m:sSubPr>
                              <m:ctrlPr>
                                <a:rPr lang="en-AU" i="1">
                                  <a:latin typeface="Cambria Math" panose="02040503050406030204" pitchFamily="18" charset="0"/>
                                </a:rPr>
                              </m:ctrlPr>
                            </m:sSubPr>
                            <m:e>
                              <m:r>
                                <a:rPr lang="en-AU" i="1">
                                  <a:latin typeface="Cambria Math" panose="02040503050406030204" pitchFamily="18" charset="0"/>
                                </a:rPr>
                                <m:t>𝑡</m:t>
                              </m:r>
                            </m:e>
                            <m:sub>
                              <m:r>
                                <a:rPr lang="en-AU" i="1">
                                  <a:latin typeface="Cambria Math" panose="02040503050406030204" pitchFamily="18" charset="0"/>
                                </a:rPr>
                                <m:t>1</m:t>
                              </m:r>
                            </m:sub>
                          </m:sSub>
                        </m:sub>
                      </m:sSub>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8</m:t>
                          </m:r>
                          <m:sSup>
                            <m:sSupPr>
                              <m:ctrlPr>
                                <a:rPr lang="en-AU" i="1">
                                  <a:latin typeface="Cambria Math" panose="02040503050406030204" pitchFamily="18" charset="0"/>
                                </a:rPr>
                              </m:ctrlPr>
                            </m:sSupPr>
                            <m:e>
                              <m:r>
                                <a:rPr lang="en-AU" i="1">
                                  <a:latin typeface="Cambria Math" panose="02040503050406030204" pitchFamily="18" charset="0"/>
                                </a:rPr>
                                <m:t>𝜋</m:t>
                              </m:r>
                            </m:e>
                            <m:sup>
                              <m:r>
                                <a:rPr lang="en-AU" i="1">
                                  <a:latin typeface="Cambria Math" panose="02040503050406030204" pitchFamily="18" charset="0"/>
                                </a:rPr>
                                <m:t>2</m:t>
                              </m:r>
                            </m:sup>
                          </m:sSup>
                          <m:r>
                            <a:rPr lang="en-AU" i="1">
                              <a:latin typeface="Cambria Math" panose="02040503050406030204" pitchFamily="18" charset="0"/>
                            </a:rPr>
                            <m:t>𝐼</m:t>
                          </m:r>
                        </m:num>
                        <m:den>
                          <m:sSup>
                            <m:sSupPr>
                              <m:ctrlPr>
                                <a:rPr lang="en-AU" i="1">
                                  <a:latin typeface="Cambria Math" panose="02040503050406030204" pitchFamily="18" charset="0"/>
                                </a:rPr>
                              </m:ctrlPr>
                            </m:sSupPr>
                            <m:e>
                              <m:r>
                                <a:rPr lang="en-AU" i="1">
                                  <a:latin typeface="Cambria Math" panose="02040503050406030204" pitchFamily="18" charset="0"/>
                                </a:rPr>
                                <m:t>h</m:t>
                              </m:r>
                            </m:e>
                            <m:sup>
                              <m:r>
                                <a:rPr lang="en-AU" i="1">
                                  <a:latin typeface="Cambria Math" panose="02040503050406030204" pitchFamily="18" charset="0"/>
                                </a:rPr>
                                <m:t>2</m:t>
                              </m:r>
                            </m:sup>
                          </m:sSup>
                          <m:sSup>
                            <m:sSupPr>
                              <m:ctrlPr>
                                <a:rPr lang="en-AU" i="1">
                                  <a:latin typeface="Cambria Math" panose="02040503050406030204" pitchFamily="18" charset="0"/>
                                </a:rPr>
                              </m:ctrlPr>
                            </m:sSupPr>
                            <m:e>
                              <m:r>
                                <a:rPr lang="en-AU" i="1">
                                  <a:latin typeface="Cambria Math" panose="02040503050406030204" pitchFamily="18" charset="0"/>
                                </a:rPr>
                                <m:t>𝛽</m:t>
                              </m:r>
                            </m:e>
                            <m:sup>
                              <m:r>
                                <a:rPr lang="en-AU" i="1">
                                  <a:latin typeface="Cambria Math" panose="02040503050406030204" pitchFamily="18" charset="0"/>
                                </a:rPr>
                                <m:t>2</m:t>
                              </m:r>
                            </m:sup>
                          </m:sSup>
                          <m:r>
                            <a:rPr lang="en-AU" i="1">
                              <a:latin typeface="Cambria Math" panose="02040503050406030204" pitchFamily="18" charset="0"/>
                            </a:rPr>
                            <m:t>𝜇</m:t>
                          </m:r>
                          <m:r>
                            <a:rPr lang="en-AU" i="1">
                              <a:latin typeface="Cambria Math" panose="02040503050406030204" pitchFamily="18" charset="0"/>
                            </a:rPr>
                            <m:t>𝐸</m:t>
                          </m:r>
                        </m:den>
                      </m:f>
                      <m:r>
                        <m:rPr>
                          <m:sty m:val="p"/>
                        </m:rPr>
                        <a:rPr lang="en-AU">
                          <a:latin typeface="Cambria Math" panose="02040503050406030204" pitchFamily="18" charset="0"/>
                        </a:rPr>
                        <m:t>sinh</m:t>
                      </m:r>
                      <m:r>
                        <a:rPr lang="en-AU" i="1">
                          <a:latin typeface="Cambria Math" panose="02040503050406030204" pitchFamily="18" charset="0"/>
                        </a:rPr>
                        <m:t>(</m:t>
                      </m:r>
                      <m:r>
                        <a:rPr lang="en-AU" i="1">
                          <a:latin typeface="Cambria Math" panose="02040503050406030204" pitchFamily="18" charset="0"/>
                        </a:rPr>
                        <m:t>𝛽𝜇</m:t>
                      </m:r>
                      <m:r>
                        <a:rPr lang="en-AU" i="1">
                          <a:latin typeface="Cambria Math" panose="02040503050406030204" pitchFamily="18" charset="0"/>
                        </a:rPr>
                        <m:t>𝐸</m:t>
                      </m:r>
                      <m:r>
                        <a:rPr lang="en-AU" i="1">
                          <a:latin typeface="Cambria Math" panose="02040503050406030204" pitchFamily="18" charset="0"/>
                        </a:rPr>
                        <m:t>)</m:t>
                      </m:r>
                    </m:oMath>
                  </m:oMathPara>
                </a14:m>
                <a:endParaRPr lang="en-AU" dirty="0"/>
              </a:p>
              <a:p>
                <a:pPr lvl="0"/>
                <a:endParaRPr lang="en-AU" dirty="0"/>
              </a:p>
              <a:p>
                <a:r>
                  <a:rPr lang="en-AU" b="1" dirty="0"/>
                  <a:t>Extension:</a:t>
                </a:r>
              </a:p>
              <a:p>
                <a:pPr lvl="0"/>
                <a:endParaRPr lang="en-AU" dirty="0"/>
              </a:p>
              <a:p>
                <a:pPr lvl="0"/>
                <a:r>
                  <a:rPr lang="en-AU" dirty="0"/>
                  <a:t>Show that polarisation </a:t>
                </a:r>
                <a14:m>
                  <m:oMath xmlns:m="http://schemas.openxmlformats.org/officeDocument/2006/math">
                    <m:r>
                      <a:rPr lang="en-AU" i="1">
                        <a:latin typeface="Cambria Math" panose="02040503050406030204" pitchFamily="18" charset="0"/>
                      </a:rPr>
                      <m:t>𝑃</m:t>
                    </m:r>
                    <m:r>
                      <a:rPr lang="en-AU" i="1">
                        <a:latin typeface="Cambria Math" panose="02040503050406030204" pitchFamily="18" charset="0"/>
                      </a:rPr>
                      <m:t>=</m:t>
                    </m:r>
                    <m:r>
                      <a:rPr lang="en-AU" i="1">
                        <a:latin typeface="Cambria Math" panose="02040503050406030204" pitchFamily="18" charset="0"/>
                      </a:rPr>
                      <m:t>𝑛</m:t>
                    </m:r>
                    <m:r>
                      <a:rPr lang="en-AU" i="1">
                        <a:latin typeface="Cambria Math" panose="02040503050406030204" pitchFamily="18" charset="0"/>
                      </a:rPr>
                      <m:t>&lt;</m:t>
                    </m:r>
                    <m:r>
                      <a:rPr lang="en-AU" i="1">
                        <a:latin typeface="Cambria Math" panose="02040503050406030204" pitchFamily="18" charset="0"/>
                      </a:rPr>
                      <m:t>𝜇</m:t>
                    </m:r>
                    <m:func>
                      <m:funcPr>
                        <m:ctrlPr>
                          <a:rPr lang="en-AU" i="1">
                            <a:latin typeface="Cambria Math" panose="02040503050406030204" pitchFamily="18" charset="0"/>
                          </a:rPr>
                        </m:ctrlPr>
                      </m:funcPr>
                      <m:fName>
                        <m:r>
                          <m:rPr>
                            <m:sty m:val="p"/>
                          </m:rPr>
                          <a:rPr lang="en-AU">
                            <a:latin typeface="Cambria Math" panose="02040503050406030204" pitchFamily="18" charset="0"/>
                          </a:rPr>
                          <m:t>cos</m:t>
                        </m:r>
                      </m:fName>
                      <m:e>
                        <m:r>
                          <a:rPr lang="en-AU" i="1">
                            <a:latin typeface="Cambria Math" panose="02040503050406030204" pitchFamily="18" charset="0"/>
                          </a:rPr>
                          <m:t>𝜃</m:t>
                        </m:r>
                        <m:r>
                          <a:rPr lang="en-AU" i="1">
                            <a:latin typeface="Cambria Math" panose="02040503050406030204" pitchFamily="18" charset="0"/>
                          </a:rPr>
                          <m:t>&gt; </m:t>
                        </m:r>
                      </m:e>
                    </m:func>
                  </m:oMath>
                </a14:m>
                <a:r>
                  <a:rPr lang="en-AU" dirty="0"/>
                  <a:t>satisfies</a:t>
                </a:r>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𝑃</m:t>
                      </m:r>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𝑛</m:t>
                          </m:r>
                        </m:e>
                        <m:sub>
                          <m:r>
                            <a:rPr lang="en-AU" i="1">
                              <a:latin typeface="Cambria Math" panose="02040503050406030204" pitchFamily="18" charset="0"/>
                            </a:rPr>
                            <m:t>0</m:t>
                          </m:r>
                        </m:sub>
                      </m:sSub>
                      <m:d>
                        <m:dPr>
                          <m:ctrlPr>
                            <a:rPr lang="en-AU" i="1">
                              <a:latin typeface="Cambria Math" panose="02040503050406030204" pitchFamily="18" charset="0"/>
                            </a:rPr>
                          </m:ctrlPr>
                        </m:dPr>
                        <m:e>
                          <m:r>
                            <a:rPr lang="en-AU" i="1">
                              <a:latin typeface="Cambria Math" panose="02040503050406030204" pitchFamily="18" charset="0"/>
                            </a:rPr>
                            <m:t>𝜇</m:t>
                          </m:r>
                          <m:func>
                            <m:funcPr>
                              <m:ctrlPr>
                                <a:rPr lang="en-AU" i="1">
                                  <a:latin typeface="Cambria Math" panose="02040503050406030204" pitchFamily="18" charset="0"/>
                                </a:rPr>
                              </m:ctrlPr>
                            </m:funcPr>
                            <m:fName>
                              <m:r>
                                <m:rPr>
                                  <m:sty m:val="p"/>
                                </m:rPr>
                                <a:rPr lang="en-AU">
                                  <a:latin typeface="Cambria Math" panose="02040503050406030204" pitchFamily="18" charset="0"/>
                                </a:rPr>
                                <m:t>coth</m:t>
                              </m:r>
                            </m:fName>
                            <m:e>
                              <m:d>
                                <m:dPr>
                                  <m:ctrlPr>
                                    <a:rPr lang="en-AU" i="1">
                                      <a:latin typeface="Cambria Math" panose="02040503050406030204" pitchFamily="18" charset="0"/>
                                    </a:rPr>
                                  </m:ctrlPr>
                                </m:dPr>
                                <m:e>
                                  <m:r>
                                    <a:rPr lang="en-AU" i="1">
                                      <a:latin typeface="Cambria Math" panose="02040503050406030204" pitchFamily="18" charset="0"/>
                                    </a:rPr>
                                    <m:t>𝛽𝜇</m:t>
                                  </m:r>
                                  <m:r>
                                    <a:rPr lang="en-AU" i="1">
                                      <a:latin typeface="Cambria Math" panose="02040503050406030204" pitchFamily="18" charset="0"/>
                                    </a:rPr>
                                    <m:t>𝐸</m:t>
                                  </m:r>
                                </m:e>
                              </m:d>
                            </m:e>
                          </m:func>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𝑘𝑇</m:t>
                              </m:r>
                            </m:num>
                            <m:den>
                              <m:r>
                                <a:rPr lang="en-AU" i="1">
                                  <a:latin typeface="Cambria Math" panose="02040503050406030204" pitchFamily="18" charset="0"/>
                                </a:rPr>
                                <m:t>𝐸</m:t>
                              </m:r>
                            </m:den>
                          </m:f>
                        </m:e>
                      </m:d>
                    </m:oMath>
                  </m:oMathPara>
                </a14:m>
                <a:endParaRPr lang="en-AU" dirty="0"/>
              </a:p>
              <a:p>
                <a:r>
                  <a:rPr lang="en-AU" dirty="0"/>
                  <a:t>where </a:t>
                </a:r>
                <a14:m>
                  <m:oMath xmlns:m="http://schemas.openxmlformats.org/officeDocument/2006/math">
                    <m:r>
                      <a:rPr lang="en-AU" i="1">
                        <a:latin typeface="Cambria Math" panose="02040503050406030204" pitchFamily="18" charset="0"/>
                      </a:rPr>
                      <m:t>𝑛</m:t>
                    </m:r>
                  </m:oMath>
                </a14:m>
                <a:r>
                  <a:rPr lang="en-AU" dirty="0"/>
                  <a:t> is the number density of dipoles</a:t>
                </a:r>
              </a:p>
              <a:p>
                <a:endParaRPr lang="en-AU" dirty="0">
                  <a:solidFill>
                    <a:schemeClr val="accent1"/>
                  </a:solidFill>
                </a:endParaRPr>
              </a:p>
              <a:p>
                <a:endParaRPr lang="en-AU" dirty="0">
                  <a:solidFill>
                    <a:schemeClr val="accent1"/>
                  </a:solidFill>
                </a:endParaRPr>
              </a:p>
            </p:txBody>
          </p:sp>
        </mc:Choice>
        <mc:Fallback xmlns="">
          <p:sp>
            <p:nvSpPr>
              <p:cNvPr id="6" name="TextBox 5">
                <a:extLst>
                  <a:ext uri="{FF2B5EF4-FFF2-40B4-BE49-F238E27FC236}">
                    <a16:creationId xmlns:a16="http://schemas.microsoft.com/office/drawing/2014/main" id="{50B2E76F-8990-196C-6D8A-4D1E0955F891}"/>
                  </a:ext>
                </a:extLst>
              </p:cNvPr>
              <p:cNvSpPr txBox="1">
                <a:spLocks noRot="1" noChangeAspect="1" noMove="1" noResize="1" noEditPoints="1" noAdjustHandles="1" noChangeArrowheads="1" noChangeShapeType="1" noTextEdit="1"/>
              </p:cNvSpPr>
              <p:nvPr/>
            </p:nvSpPr>
            <p:spPr>
              <a:xfrm>
                <a:off x="524546" y="1365504"/>
                <a:ext cx="11923486" cy="3963073"/>
              </a:xfrm>
              <a:prstGeom prst="rect">
                <a:avLst/>
              </a:prstGeom>
              <a:blipFill>
                <a:blip r:embed="rId2"/>
                <a:stretch>
                  <a:fillRect l="-426"/>
                </a:stretch>
              </a:blipFill>
            </p:spPr>
            <p:txBody>
              <a:bodyPr/>
              <a:lstStyle/>
              <a:p>
                <a:r>
                  <a:rPr lang="en-US">
                    <a:noFill/>
                  </a:rPr>
                  <a:t> </a:t>
                </a:r>
              </a:p>
            </p:txBody>
          </p:sp>
        </mc:Fallback>
      </mc:AlternateContent>
    </p:spTree>
    <p:extLst>
      <p:ext uri="{BB962C8B-B14F-4D97-AF65-F5344CB8AC3E}">
        <p14:creationId xmlns:p14="http://schemas.microsoft.com/office/powerpoint/2010/main" val="1958439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B55F0-302C-9729-3FD4-0D97F0DC85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2A9FCD-0B17-1A20-B3A8-E2734ECD12D7}"/>
                  </a:ext>
                </a:extLst>
              </p:cNvPr>
              <p:cNvSpPr txBox="1"/>
              <p:nvPr/>
            </p:nvSpPr>
            <p:spPr>
              <a:xfrm>
                <a:off x="134257" y="0"/>
                <a:ext cx="11923486" cy="7104637"/>
              </a:xfrm>
              <a:prstGeom prst="rect">
                <a:avLst/>
              </a:prstGeom>
              <a:noFill/>
            </p:spPr>
            <p:txBody>
              <a:bodyPr wrap="square" rtlCol="0">
                <a:spAutoFit/>
              </a:bodyPr>
              <a:lstStyle/>
              <a:p>
                <a:pPr lvl="0"/>
                <a:r>
                  <a:rPr lang="en-AU" dirty="0"/>
                  <a:t>Extension:</a:t>
                </a:r>
              </a:p>
              <a:p>
                <a:pPr lvl="0"/>
                <a:r>
                  <a:rPr lang="en-AU" dirty="0"/>
                  <a:t>Show that the polarisation </a:t>
                </a:r>
                <a14:m>
                  <m:oMath xmlns:m="http://schemas.openxmlformats.org/officeDocument/2006/math">
                    <m:r>
                      <a:rPr lang="en-AU" i="1">
                        <a:latin typeface="Cambria Math" panose="02040503050406030204" pitchFamily="18" charset="0"/>
                      </a:rPr>
                      <m:t>𝑃</m:t>
                    </m:r>
                    <m:r>
                      <a:rPr lang="en-AU" i="1">
                        <a:latin typeface="Cambria Math" panose="02040503050406030204" pitchFamily="18" charset="0"/>
                      </a:rPr>
                      <m:t>=</m:t>
                    </m:r>
                    <m:r>
                      <a:rPr lang="en-AU" i="1">
                        <a:latin typeface="Cambria Math" panose="02040503050406030204" pitchFamily="18" charset="0"/>
                      </a:rPr>
                      <m:t>𝑛</m:t>
                    </m:r>
                    <m:r>
                      <a:rPr lang="en-AU" i="1">
                        <a:latin typeface="Cambria Math" panose="02040503050406030204" pitchFamily="18" charset="0"/>
                      </a:rPr>
                      <m:t>&lt;</m:t>
                    </m:r>
                    <m:r>
                      <a:rPr lang="en-AU" i="1">
                        <a:latin typeface="Cambria Math" panose="02040503050406030204" pitchFamily="18" charset="0"/>
                      </a:rPr>
                      <m:t>𝜇</m:t>
                    </m:r>
                    <m:func>
                      <m:funcPr>
                        <m:ctrlPr>
                          <a:rPr lang="en-AU" i="1">
                            <a:latin typeface="Cambria Math" panose="02040503050406030204" pitchFamily="18" charset="0"/>
                          </a:rPr>
                        </m:ctrlPr>
                      </m:funcPr>
                      <m:fName>
                        <m:r>
                          <m:rPr>
                            <m:sty m:val="p"/>
                          </m:rPr>
                          <a:rPr lang="en-AU">
                            <a:latin typeface="Cambria Math" panose="02040503050406030204" pitchFamily="18" charset="0"/>
                          </a:rPr>
                          <m:t>cos</m:t>
                        </m:r>
                      </m:fName>
                      <m:e>
                        <m:r>
                          <a:rPr lang="en-AU" i="1">
                            <a:latin typeface="Cambria Math" panose="02040503050406030204" pitchFamily="18" charset="0"/>
                          </a:rPr>
                          <m:t>𝜃</m:t>
                        </m:r>
                        <m:r>
                          <a:rPr lang="en-AU" i="1">
                            <a:latin typeface="Cambria Math" panose="02040503050406030204" pitchFamily="18" charset="0"/>
                          </a:rPr>
                          <m:t>&gt; </m:t>
                        </m:r>
                      </m:e>
                    </m:func>
                  </m:oMath>
                </a14:m>
                <a:r>
                  <a:rPr lang="en-AU" dirty="0"/>
                  <a:t>satisfies</a:t>
                </a:r>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𝑃</m:t>
                      </m:r>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𝑛</m:t>
                          </m:r>
                        </m:e>
                        <m:sub>
                          <m:r>
                            <a:rPr lang="en-AU" i="1">
                              <a:latin typeface="Cambria Math" panose="02040503050406030204" pitchFamily="18" charset="0"/>
                            </a:rPr>
                            <m:t>0</m:t>
                          </m:r>
                        </m:sub>
                      </m:sSub>
                      <m:d>
                        <m:dPr>
                          <m:ctrlPr>
                            <a:rPr lang="en-AU" i="1">
                              <a:latin typeface="Cambria Math" panose="02040503050406030204" pitchFamily="18" charset="0"/>
                            </a:rPr>
                          </m:ctrlPr>
                        </m:dPr>
                        <m:e>
                          <m:r>
                            <a:rPr lang="en-AU" i="1">
                              <a:latin typeface="Cambria Math" panose="02040503050406030204" pitchFamily="18" charset="0"/>
                            </a:rPr>
                            <m:t>𝜇</m:t>
                          </m:r>
                          <m:func>
                            <m:funcPr>
                              <m:ctrlPr>
                                <a:rPr lang="en-AU" i="1">
                                  <a:latin typeface="Cambria Math" panose="02040503050406030204" pitchFamily="18" charset="0"/>
                                </a:rPr>
                              </m:ctrlPr>
                            </m:funcPr>
                            <m:fName>
                              <m:r>
                                <m:rPr>
                                  <m:sty m:val="p"/>
                                </m:rPr>
                                <a:rPr lang="en-AU">
                                  <a:latin typeface="Cambria Math" panose="02040503050406030204" pitchFamily="18" charset="0"/>
                                </a:rPr>
                                <m:t>coth</m:t>
                              </m:r>
                            </m:fName>
                            <m:e>
                              <m:d>
                                <m:dPr>
                                  <m:ctrlPr>
                                    <a:rPr lang="en-AU" i="1">
                                      <a:latin typeface="Cambria Math" panose="02040503050406030204" pitchFamily="18" charset="0"/>
                                    </a:rPr>
                                  </m:ctrlPr>
                                </m:dPr>
                                <m:e>
                                  <m:r>
                                    <a:rPr lang="en-AU" i="1">
                                      <a:latin typeface="Cambria Math" panose="02040503050406030204" pitchFamily="18" charset="0"/>
                                    </a:rPr>
                                    <m:t>𝛽𝜇</m:t>
                                  </m:r>
                                  <m:r>
                                    <a:rPr lang="en-AU" i="1">
                                      <a:latin typeface="Cambria Math" panose="02040503050406030204" pitchFamily="18" charset="0"/>
                                    </a:rPr>
                                    <m:t>𝐸</m:t>
                                  </m:r>
                                </m:e>
                              </m:d>
                            </m:e>
                          </m:func>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𝑘𝑇</m:t>
                              </m:r>
                            </m:num>
                            <m:den>
                              <m:r>
                                <a:rPr lang="en-AU" i="1">
                                  <a:latin typeface="Cambria Math" panose="02040503050406030204" pitchFamily="18" charset="0"/>
                                </a:rPr>
                                <m:t>𝐸</m:t>
                              </m:r>
                            </m:den>
                          </m:f>
                        </m:e>
                      </m:d>
                    </m:oMath>
                  </m:oMathPara>
                </a14:m>
                <a:endParaRPr lang="en-AU" dirty="0"/>
              </a:p>
              <a:p>
                <a:r>
                  <a:rPr lang="en-AU" dirty="0"/>
                  <a:t>where </a:t>
                </a:r>
                <a14:m>
                  <m:oMath xmlns:m="http://schemas.openxmlformats.org/officeDocument/2006/math">
                    <m:r>
                      <a:rPr lang="en-AU" i="1">
                        <a:latin typeface="Cambria Math" panose="02040503050406030204" pitchFamily="18" charset="0"/>
                      </a:rPr>
                      <m:t>𝑛</m:t>
                    </m:r>
                  </m:oMath>
                </a14:m>
                <a:r>
                  <a:rPr lang="en-AU" dirty="0"/>
                  <a:t> is the number density of dipoles</a:t>
                </a:r>
              </a:p>
              <a:p>
                <a:endParaRPr lang="en-AU" dirty="0">
                  <a:solidFill>
                    <a:schemeClr val="accent1"/>
                  </a:solidFill>
                </a:endParaRPr>
              </a:p>
              <a:p>
                <a:r>
                  <a:rPr lang="en-AU" dirty="0">
                    <a:solidFill>
                      <a:schemeClr val="accent1"/>
                    </a:solidFill>
                  </a:rPr>
                  <a:t>Starting with the definition of an expectation value,</a:t>
                </a: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&lt;</m:t>
                      </m:r>
                      <m:r>
                        <a:rPr lang="en-AU" i="1">
                          <a:solidFill>
                            <a:schemeClr val="accent1"/>
                          </a:solidFill>
                          <a:latin typeface="Cambria Math" panose="02040503050406030204" pitchFamily="18" charset="0"/>
                        </a:rPr>
                        <m:t>𝑥</m:t>
                      </m:r>
                      <m:r>
                        <a:rPr lang="en-AU" i="1">
                          <a:solidFill>
                            <a:schemeClr val="accent1"/>
                          </a:solidFill>
                          <a:latin typeface="Cambria Math" panose="02040503050406030204" pitchFamily="18" charset="0"/>
                        </a:rPr>
                        <m:t>&gt;=∫</m:t>
                      </m:r>
                      <m:r>
                        <a:rPr lang="en-AU" i="1">
                          <a:solidFill>
                            <a:schemeClr val="accent1"/>
                          </a:solidFill>
                          <a:latin typeface="Cambria Math" panose="02040503050406030204" pitchFamily="18" charset="0"/>
                        </a:rPr>
                        <m:t>𝑥</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𝑃</m:t>
                      </m:r>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𝑥</m:t>
                          </m:r>
                        </m:e>
                      </m:d>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𝑥</m:t>
                      </m:r>
                      <m:f>
                        <m:fPr>
                          <m:ctrlPr>
                            <a:rPr lang="en-AU" i="1">
                              <a:solidFill>
                                <a:schemeClr val="accent1"/>
                              </a:solidFill>
                              <a:latin typeface="Cambria Math" panose="02040503050406030204" pitchFamily="18" charset="0"/>
                            </a:rPr>
                          </m:ctrlPr>
                        </m:fPr>
                        <m:num>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𝐻</m:t>
                              </m:r>
                            </m:sup>
                          </m:sSup>
                        </m:num>
                        <m:den>
                          <m:r>
                            <a:rPr lang="en-AU" i="1">
                              <a:solidFill>
                                <a:schemeClr val="accent1"/>
                              </a:solidFill>
                              <a:latin typeface="Cambria Math" panose="02040503050406030204" pitchFamily="18" charset="0"/>
                            </a:rPr>
                            <m:t>𝑍</m:t>
                          </m:r>
                        </m:den>
                      </m:f>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𝑛</m:t>
                      </m:r>
                      <m:r>
                        <a:rPr lang="en-AU" i="1">
                          <a:solidFill>
                            <a:schemeClr val="accent1"/>
                          </a:solidFill>
                          <a:latin typeface="Cambria Math" panose="02040503050406030204" pitchFamily="18" charset="0"/>
                        </a:rPr>
                        <m:t>&lt;</m:t>
                      </m:r>
                      <m:r>
                        <a:rPr lang="en-AU" i="1">
                          <a:solidFill>
                            <a:schemeClr val="accent1"/>
                          </a:solidFill>
                          <a:latin typeface="Cambria Math" panose="02040503050406030204" pitchFamily="18" charset="0"/>
                        </a:rPr>
                        <m:t>𝜇</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r>
                        <a:rPr lang="en-AU" i="1">
                          <a:solidFill>
                            <a:schemeClr val="accent1"/>
                          </a:solidFill>
                          <a:latin typeface="Cambria Math" panose="02040503050406030204" pitchFamily="18" charset="0"/>
                        </a:rPr>
                        <m:t>&gt;=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𝑍</m:t>
                          </m:r>
                        </m:den>
                      </m:f>
                      <m:nary>
                        <m:naryPr>
                          <m:limLoc m:val="undOvr"/>
                          <m:subHide m:val="on"/>
                          <m:supHide m:val="on"/>
                          <m:ctrlPr>
                            <a:rPr lang="en-AU" i="1">
                              <a:solidFill>
                                <a:schemeClr val="accent1"/>
                              </a:solidFill>
                              <a:latin typeface="Cambria Math" panose="02040503050406030204" pitchFamily="18" charset="0"/>
                            </a:rPr>
                          </m:ctrlPr>
                        </m:naryPr>
                        <m:sub/>
                        <m:sup/>
                        <m:e>
                          <m:r>
                            <a:rPr lang="en-AU" i="1">
                              <a:solidFill>
                                <a:schemeClr val="accent1"/>
                              </a:solidFill>
                              <a:latin typeface="Cambria Math" panose="02040503050406030204" pitchFamily="18" charset="0"/>
                            </a:rPr>
                            <m:t>𝜇</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f>
                                <m:fPr>
                                  <m:ctrlPr>
                                    <a:rPr lang="en-AU" i="1">
                                      <a:solidFill>
                                        <a:schemeClr val="accent1"/>
                                      </a:solidFill>
                                      <a:latin typeface="Cambria Math" panose="02040503050406030204" pitchFamily="18" charset="0"/>
                                    </a:rPr>
                                  </m:ctrlPr>
                                </m:fPr>
                                <m:num>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𝜙</m:t>
                                          </m:r>
                                        </m:e>
                                        <m:sup>
                                          <m:r>
                                            <a:rPr lang="en-AU" i="1">
                                              <a:solidFill>
                                                <a:schemeClr val="accent1"/>
                                              </a:solidFill>
                                              <a:latin typeface="Cambria Math" panose="02040503050406030204" pitchFamily="18" charset="0"/>
                                            </a:rPr>
                                            <m:t>2</m:t>
                                          </m:r>
                                        </m:sup>
                                      </m:sSup>
                                    </m:sub>
                                  </m:sSub>
                                </m:num>
                                <m:den>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sup>
                          </m:sSup>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e>
                      </m:nary>
                    </m:oMath>
                  </m:oMathPara>
                </a14:m>
                <a:endParaRPr lang="en-AU" dirty="0"/>
              </a:p>
              <a:p>
                <a:endParaRPr lang="en-AU" dirty="0"/>
              </a:p>
              <a:p>
                <a:r>
                  <a:rPr lang="en-AU" dirty="0">
                    <a:solidFill>
                      <a:schemeClr val="accent1"/>
                    </a:solidFill>
                  </a:rPr>
                  <a:t>Before throwing ourselves into a crazy integral equation, let’s do my favourite hack! Like the one before, you just need to recognise that in front of the exponential of a function, we have some part of the function: </a:t>
                </a:r>
              </a:p>
              <a:p>
                <a:pPr/>
                <a14:m>
                  <m:oMathPara xmlns:m="http://schemas.openxmlformats.org/officeDocument/2006/math">
                    <m:oMathParaPr>
                      <m:jc m:val="centerGroup"/>
                    </m:oMathParaPr>
                    <m:oMath xmlns:m="http://schemas.openxmlformats.org/officeDocument/2006/math">
                      <m:func>
                        <m:funcPr>
                          <m:ctrlPr>
                            <a:rPr lang="en-AU" i="1" smtClean="0">
                              <a:solidFill>
                                <a:schemeClr val="accent5">
                                  <a:lumMod val="60000"/>
                                  <a:lumOff val="40000"/>
                                </a:schemeClr>
                              </a:solidFill>
                              <a:latin typeface="Cambria Math" panose="02040503050406030204" pitchFamily="18" charset="0"/>
                            </a:rPr>
                          </m:ctrlPr>
                        </m:funcPr>
                        <m:fName>
                          <m:r>
                            <m:rPr>
                              <m:sty m:val="p"/>
                            </m:rPr>
                            <a:rPr lang="en-AU">
                              <a:solidFill>
                                <a:schemeClr val="accent5">
                                  <a:lumMod val="60000"/>
                                  <a:lumOff val="40000"/>
                                </a:schemeClr>
                              </a:solidFill>
                              <a:latin typeface="Cambria Math" panose="02040503050406030204" pitchFamily="18" charset="0"/>
                            </a:rPr>
                            <m:t>μ</m:t>
                          </m:r>
                          <m:r>
                            <a:rPr lang="en-AU">
                              <a:solidFill>
                                <a:schemeClr val="accent5">
                                  <a:lumMod val="60000"/>
                                  <a:lumOff val="40000"/>
                                </a:schemeClr>
                              </a:solidFill>
                              <a:latin typeface="Cambria Math" panose="02040503050406030204" pitchFamily="18" charset="0"/>
                            </a:rPr>
                            <m:t> </m:t>
                          </m:r>
                          <m:r>
                            <m:rPr>
                              <m:sty m:val="p"/>
                            </m:rPr>
                            <a:rPr lang="en-AU">
                              <a:solidFill>
                                <a:schemeClr val="accent5">
                                  <a:lumMod val="60000"/>
                                  <a:lumOff val="40000"/>
                                </a:schemeClr>
                              </a:solidFill>
                              <a:latin typeface="Cambria Math" panose="02040503050406030204" pitchFamily="18" charset="0"/>
                            </a:rPr>
                            <m:t>cos</m:t>
                          </m:r>
                        </m:fName>
                        <m:e>
                          <m:r>
                            <a:rPr lang="en-AU" i="1">
                              <a:solidFill>
                                <a:schemeClr val="accent5">
                                  <a:lumMod val="60000"/>
                                  <a:lumOff val="40000"/>
                                </a:schemeClr>
                              </a:solidFill>
                              <a:latin typeface="Cambria Math" panose="02040503050406030204" pitchFamily="18" charset="0"/>
                            </a:rPr>
                            <m:t>𝜃</m:t>
                          </m:r>
                        </m:e>
                      </m:func>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f>
                            <m:fPr>
                              <m:ctrlPr>
                                <a:rPr lang="en-AU" i="1">
                                  <a:solidFill>
                                    <a:schemeClr val="accent1"/>
                                  </a:solidFill>
                                  <a:latin typeface="Cambria Math" panose="02040503050406030204" pitchFamily="18" charset="0"/>
                                </a:rPr>
                              </m:ctrlPr>
                            </m:fPr>
                            <m:num>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𝜙</m:t>
                                      </m:r>
                                    </m:e>
                                    <m:sup>
                                      <m:r>
                                        <a:rPr lang="en-AU" i="1">
                                          <a:solidFill>
                                            <a:schemeClr val="accent1"/>
                                          </a:solidFill>
                                          <a:latin typeface="Cambria Math" panose="02040503050406030204" pitchFamily="18" charset="0"/>
                                        </a:rPr>
                                        <m:t>2</m:t>
                                      </m:r>
                                    </m:sup>
                                  </m:sSup>
                                </m:sub>
                              </m:sSub>
                            </m:num>
                            <m:den>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r>
                            <a:rPr lang="en-AU" i="1">
                              <a:solidFill>
                                <a:schemeClr val="accent1"/>
                              </a:solidFill>
                              <a:latin typeface="Cambria Math" panose="02040503050406030204" pitchFamily="18" charset="0"/>
                            </a:rPr>
                            <m:t>+</m:t>
                          </m:r>
                          <m:r>
                            <a:rPr lang="en-AU" i="1" smtClean="0">
                              <a:solidFill>
                                <a:schemeClr val="accent5">
                                  <a:lumMod val="60000"/>
                                  <a:lumOff val="40000"/>
                                </a:schemeClr>
                              </a:solidFill>
                              <a:latin typeface="Cambria Math" panose="02040503050406030204" pitchFamily="18" charset="0"/>
                            </a:rPr>
                            <m:t>𝛽</m:t>
                          </m:r>
                          <m:r>
                            <a:rPr lang="en-AU" i="1" smtClean="0">
                              <a:solidFill>
                                <a:schemeClr val="accent5">
                                  <a:lumMod val="60000"/>
                                  <a:lumOff val="40000"/>
                                </a:schemeClr>
                              </a:solidFill>
                              <a:latin typeface="Cambria Math" panose="02040503050406030204" pitchFamily="18" charset="0"/>
                            </a:rPr>
                            <m:t>𝐸</m:t>
                          </m:r>
                          <m:r>
                            <a:rPr lang="en-AU" i="1" smtClean="0">
                              <a:solidFill>
                                <a:schemeClr val="accent5">
                                  <a:lumMod val="60000"/>
                                  <a:lumOff val="40000"/>
                                </a:schemeClr>
                              </a:solidFill>
                              <a:latin typeface="Cambria Math" panose="02040503050406030204" pitchFamily="18" charset="0"/>
                            </a:rPr>
                            <m:t>𝜇</m:t>
                          </m:r>
                          <m:func>
                            <m:funcPr>
                              <m:ctrlPr>
                                <a:rPr lang="en-AU" i="1">
                                  <a:solidFill>
                                    <a:schemeClr val="accent5">
                                      <a:lumMod val="60000"/>
                                      <a:lumOff val="40000"/>
                                    </a:schemeClr>
                                  </a:solidFill>
                                  <a:latin typeface="Cambria Math" panose="02040503050406030204" pitchFamily="18" charset="0"/>
                                </a:rPr>
                              </m:ctrlPr>
                            </m:funcPr>
                            <m:fName>
                              <m:r>
                                <m:rPr>
                                  <m:sty m:val="p"/>
                                </m:rPr>
                                <a:rPr lang="en-AU">
                                  <a:solidFill>
                                    <a:schemeClr val="accent5">
                                      <a:lumMod val="60000"/>
                                      <a:lumOff val="40000"/>
                                    </a:schemeClr>
                                  </a:solidFill>
                                  <a:latin typeface="Cambria Math" panose="02040503050406030204" pitchFamily="18" charset="0"/>
                                </a:rPr>
                                <m:t>cos</m:t>
                              </m:r>
                            </m:fName>
                            <m:e>
                              <m:r>
                                <a:rPr lang="en-AU" i="1">
                                  <a:solidFill>
                                    <a:schemeClr val="accent5">
                                      <a:lumMod val="60000"/>
                                      <a:lumOff val="40000"/>
                                    </a:schemeClr>
                                  </a:solidFill>
                                  <a:latin typeface="Cambria Math" panose="02040503050406030204" pitchFamily="18" charset="0"/>
                                </a:rPr>
                                <m:t>𝜃</m:t>
                              </m:r>
                            </m:e>
                          </m:func>
                        </m:sup>
                      </m:sSup>
                    </m:oMath>
                  </m:oMathPara>
                </a14:m>
                <a:endParaRPr lang="en-AU" dirty="0">
                  <a:solidFill>
                    <a:schemeClr val="accent1"/>
                  </a:solidFill>
                </a:endParaRPr>
              </a:p>
              <a:p>
                <a:r>
                  <a:rPr lang="en-AU" dirty="0">
                    <a:solidFill>
                      <a:schemeClr val="accent1"/>
                    </a:solidFill>
                  </a:rPr>
                  <a:t>So, lets rewrite this in terms of a differential: </a:t>
                </a:r>
              </a:p>
              <a:p>
                <a:pPr/>
                <a14:m>
                  <m:oMathPara xmlns:m="http://schemas.openxmlformats.org/officeDocument/2006/math">
                    <m:oMathParaPr>
                      <m:jc m:val="centerGroup"/>
                    </m:oMathParaPr>
                    <m:oMath xmlns:m="http://schemas.openxmlformats.org/officeDocument/2006/math">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μ</m:t>
                          </m:r>
                          <m:r>
                            <a:rPr lang="en-AU">
                              <a:solidFill>
                                <a:schemeClr val="accent1"/>
                              </a:solidFill>
                              <a:latin typeface="Cambria Math" panose="02040503050406030204" pitchFamily="18" charset="0"/>
                            </a:rPr>
                            <m:t> </m:t>
                          </m:r>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f>
                            <m:fPr>
                              <m:ctrlPr>
                                <a:rPr lang="en-AU" i="1">
                                  <a:solidFill>
                                    <a:schemeClr val="accent1"/>
                                  </a:solidFill>
                                  <a:latin typeface="Cambria Math" panose="02040503050406030204" pitchFamily="18" charset="0"/>
                                </a:rPr>
                              </m:ctrlPr>
                            </m:fPr>
                            <m:num>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𝜙</m:t>
                                      </m:r>
                                    </m:e>
                                    <m:sup>
                                      <m:r>
                                        <a:rPr lang="en-AU" i="1">
                                          <a:solidFill>
                                            <a:schemeClr val="accent1"/>
                                          </a:solidFill>
                                          <a:latin typeface="Cambria Math" panose="02040503050406030204" pitchFamily="18" charset="0"/>
                                        </a:rPr>
                                        <m:t>2</m:t>
                                      </m:r>
                                    </m:sup>
                                  </m:sSup>
                                </m:sub>
                              </m:sSub>
                            </m:num>
                            <m:den>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𝐸</m:t>
                          </m:r>
                          <m:r>
                            <a:rPr lang="en-AU" i="1">
                              <a:solidFill>
                                <a:schemeClr val="accent1"/>
                              </a:solidFill>
                              <a:latin typeface="Cambria Math" panose="02040503050406030204" pitchFamily="18" charset="0"/>
                            </a:rPr>
                            <m:t>𝜇</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sup>
                      </m:s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𝛽</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𝜃</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𝑠𝑖𝑛</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sSubSup>
                                <m:sSubSupPr>
                                  <m:ctrlPr>
                                    <a:rPr lang="en-AU" i="1">
                                      <a:solidFill>
                                        <a:schemeClr val="accent1"/>
                                      </a:solidFill>
                                      <a:latin typeface="Cambria Math" panose="02040503050406030204" pitchFamily="18" charset="0"/>
                                    </a:rPr>
                                  </m:ctrlPr>
                                </m:sSubSupPr>
                                <m:e>
                                  <m:r>
                                    <a:rPr lang="en-AU" i="1">
                                      <a:solidFill>
                                        <a:schemeClr val="accent1"/>
                                      </a:solidFill>
                                      <a:latin typeface="Cambria Math" panose="02040503050406030204" pitchFamily="18" charset="0"/>
                                    </a:rPr>
                                    <m:t>𝑝</m:t>
                                  </m:r>
                                </m:e>
                                <m:sub>
                                  <m:r>
                                    <a:rPr lang="en-AU" i="1">
                                      <a:solidFill>
                                        <a:schemeClr val="accent1"/>
                                      </a:solidFill>
                                      <a:latin typeface="Cambria Math" panose="02040503050406030204" pitchFamily="18" charset="0"/>
                                    </a:rPr>
                                    <m:t>𝜙</m:t>
                                  </m:r>
                                </m:sub>
                                <m:sup>
                                  <m:r>
                                    <a:rPr lang="en-AU" i="1">
                                      <a:solidFill>
                                        <a:schemeClr val="accent1"/>
                                      </a:solidFill>
                                      <a:latin typeface="Cambria Math" panose="02040503050406030204" pitchFamily="18" charset="0"/>
                                    </a:rPr>
                                    <m:t>2</m:t>
                                  </m:r>
                                </m:sup>
                              </m:sSubSup>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a:rPr lang="en-AU" i="1">
                                      <a:solidFill>
                                        <a:schemeClr val="accent1"/>
                                      </a:solidFill>
                                      <a:latin typeface="Cambria Math" panose="02040503050406030204" pitchFamily="18" charset="0"/>
                                    </a:rPr>
                                    <m:t>𝑐𝑜𝑠</m:t>
                                  </m:r>
                                </m:fName>
                                <m:e>
                                  <m:r>
                                    <a:rPr lang="en-AU" i="1">
                                      <a:solidFill>
                                        <a:schemeClr val="accent1"/>
                                      </a:solidFill>
                                      <a:latin typeface="Cambria Math" panose="02040503050406030204" pitchFamily="18" charset="0"/>
                                    </a:rPr>
                                    <m:t>𝜃</m:t>
                                  </m:r>
                                </m:e>
                              </m:func>
                            </m:e>
                          </m:d>
                        </m:sup>
                      </m:sSup>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b="0" i="1" smtClean="0">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𝑛</m:t>
                      </m:r>
                      <m:r>
                        <a:rPr lang="en-AU" i="1">
                          <a:solidFill>
                            <a:schemeClr val="accent1"/>
                          </a:solidFill>
                          <a:latin typeface="Cambria Math" panose="02040503050406030204" pitchFamily="18" charset="0"/>
                        </a:rPr>
                        <m:t>&lt;</m:t>
                      </m:r>
                      <m:r>
                        <a:rPr lang="en-AU" i="1">
                          <a:solidFill>
                            <a:schemeClr val="accent1"/>
                          </a:solidFill>
                          <a:latin typeface="Cambria Math" panose="02040503050406030204" pitchFamily="18" charset="0"/>
                        </a:rPr>
                        <m:t>𝜇</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r>
                        <a:rPr lang="en-AU" i="1">
                          <a:solidFill>
                            <a:schemeClr val="accent1"/>
                          </a:solidFill>
                          <a:latin typeface="Cambria Math" panose="02040503050406030204" pitchFamily="18" charset="0"/>
                        </a:rPr>
                        <m:t>&gt;=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𝑍</m:t>
                          </m:r>
                        </m:den>
                      </m:f>
                      <m:nary>
                        <m:naryPr>
                          <m:limLoc m:val="undOvr"/>
                          <m:subHide m:val="on"/>
                          <m:supHide m:val="on"/>
                          <m:ctrlPr>
                            <a:rPr lang="en-AU" i="1">
                              <a:solidFill>
                                <a:schemeClr val="accent1"/>
                              </a:solidFill>
                              <a:latin typeface="Cambria Math" panose="02040503050406030204" pitchFamily="18" charset="0"/>
                            </a:rPr>
                          </m:ctrlPr>
                        </m:naryPr>
                        <m:sub/>
                        <m:sup/>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r>
                            <a:rPr lang="en-AU" i="1">
                              <a:solidFill>
                                <a:schemeClr val="accent1"/>
                              </a:solidFill>
                              <a:latin typeface="Cambria Math" panose="02040503050406030204" pitchFamily="18" charset="0"/>
                            </a:rPr>
                            <m:t> </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𝑒</m:t>
                              </m:r>
                            </m:e>
                            <m:sup>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𝛽</m:t>
                                  </m:r>
                                </m:num>
                                <m:den>
                                  <m:r>
                                    <a:rPr lang="en-AU" i="1">
                                      <a:solidFill>
                                        <a:schemeClr val="accent1"/>
                                      </a:solidFill>
                                      <a:latin typeface="Cambria Math" panose="02040503050406030204" pitchFamily="18" charset="0"/>
                                    </a:rPr>
                                    <m:t>2</m:t>
                                  </m:r>
                                  <m:r>
                                    <a:rPr lang="en-AU" i="1">
                                      <a:solidFill>
                                        <a:schemeClr val="accent1"/>
                                      </a:solidFill>
                                      <a:latin typeface="Cambria Math" panose="02040503050406030204" pitchFamily="18" charset="0"/>
                                    </a:rPr>
                                    <m:t>𝐼</m:t>
                                  </m:r>
                                </m:den>
                              </m:f>
                              <m:f>
                                <m:fPr>
                                  <m:ctrlPr>
                                    <a:rPr lang="en-AU" i="1">
                                      <a:solidFill>
                                        <a:schemeClr val="accent1"/>
                                      </a:solidFill>
                                      <a:latin typeface="Cambria Math" panose="02040503050406030204" pitchFamily="18" charset="0"/>
                                    </a:rPr>
                                  </m:ctrlPr>
                                </m:fPr>
                                <m:num>
                                  <m:sSub>
                                    <m:sSubPr>
                                      <m:ctrlPr>
                                        <a:rPr lang="en-AU" i="1">
                                          <a:solidFill>
                                            <a:schemeClr val="accent1"/>
                                          </a:solidFill>
                                          <a:latin typeface="Cambria Math" panose="02040503050406030204" pitchFamily="18" charset="0"/>
                                        </a:rPr>
                                      </m:ctrlPr>
                                    </m:sSubPr>
                                    <m:e>
                                      <m:r>
                                        <a:rPr lang="en-AU" i="1">
                                          <a:solidFill>
                                            <a:schemeClr val="accent1"/>
                                          </a:solidFill>
                                          <a:latin typeface="Cambria Math" panose="02040503050406030204" pitchFamily="18" charset="0"/>
                                        </a:rPr>
                                        <m:t>𝑝</m:t>
                                      </m:r>
                                    </m:e>
                                    <m:sub>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𝜙</m:t>
                                          </m:r>
                                        </m:e>
                                        <m:sup>
                                          <m:r>
                                            <a:rPr lang="en-AU" i="1">
                                              <a:solidFill>
                                                <a:schemeClr val="accent1"/>
                                              </a:solidFill>
                                              <a:latin typeface="Cambria Math" panose="02040503050406030204" pitchFamily="18" charset="0"/>
                                            </a:rPr>
                                            <m:t>2</m:t>
                                          </m:r>
                                        </m:sup>
                                      </m:sSup>
                                    </m:sub>
                                  </m:sSub>
                                </m:num>
                                <m:den>
                                  <m:func>
                                    <m:funcPr>
                                      <m:ctrlPr>
                                        <a:rPr lang="en-AU" i="1">
                                          <a:solidFill>
                                            <a:schemeClr val="accent1"/>
                                          </a:solidFill>
                                          <a:latin typeface="Cambria Math" panose="02040503050406030204" pitchFamily="18" charset="0"/>
                                        </a:rPr>
                                      </m:ctrlPr>
                                    </m:funcPr>
                                    <m:fName>
                                      <m:sSup>
                                        <m:sSupPr>
                                          <m:ctrlPr>
                                            <a:rPr lang="en-AU" i="1">
                                              <a:solidFill>
                                                <a:schemeClr val="accent1"/>
                                              </a:solidFill>
                                              <a:latin typeface="Cambria Math" panose="02040503050406030204" pitchFamily="18" charset="0"/>
                                            </a:rPr>
                                          </m:ctrlPr>
                                        </m:sSupPr>
                                        <m:e>
                                          <m:r>
                                            <m:rPr>
                                              <m:sty m:val="p"/>
                                            </m:rPr>
                                            <a:rPr lang="en-AU">
                                              <a:solidFill>
                                                <a:schemeClr val="accent1"/>
                                              </a:solidFill>
                                              <a:latin typeface="Cambria Math" panose="02040503050406030204" pitchFamily="18" charset="0"/>
                                            </a:rPr>
                                            <m:t>sin</m:t>
                                          </m:r>
                                        </m:e>
                                        <m:sup>
                                          <m:r>
                                            <a:rPr lang="en-AU" i="1">
                                              <a:solidFill>
                                                <a:schemeClr val="accent1"/>
                                              </a:solidFill>
                                              <a:latin typeface="Cambria Math" panose="02040503050406030204" pitchFamily="18" charset="0"/>
                                            </a:rPr>
                                            <m:t>2</m:t>
                                          </m:r>
                                        </m:sup>
                                      </m:sSup>
                                    </m:fName>
                                    <m:e>
                                      <m:r>
                                        <a:rPr lang="en-AU" i="1">
                                          <a:solidFill>
                                            <a:schemeClr val="accent1"/>
                                          </a:solidFill>
                                          <a:latin typeface="Cambria Math" panose="02040503050406030204" pitchFamily="18" charset="0"/>
                                        </a:rPr>
                                        <m:t>𝜃</m:t>
                                      </m:r>
                                    </m:e>
                                  </m:func>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cos</m:t>
                                  </m:r>
                                </m:fName>
                                <m:e>
                                  <m:r>
                                    <a:rPr lang="en-AU" i="1">
                                      <a:solidFill>
                                        <a:schemeClr val="accent1"/>
                                      </a:solidFill>
                                      <a:latin typeface="Cambria Math" panose="02040503050406030204" pitchFamily="18" charset="0"/>
                                    </a:rPr>
                                    <m:t>𝜃</m:t>
                                  </m:r>
                                </m:e>
                              </m:func>
                            </m:sup>
                          </m:sSup>
                          <m:r>
                            <a:rPr lang="en-AU" i="1">
                              <a:solidFill>
                                <a:schemeClr val="accent1"/>
                              </a:solidFill>
                              <a:latin typeface="Cambria Math" panose="02040503050406030204" pitchFamily="18" charset="0"/>
                            </a:rPr>
                            <m:t>𝑑</m:t>
                          </m:r>
                          <m:r>
                            <m:rPr>
                              <m:sty m:val="p"/>
                            </m:rPr>
                            <a:rPr lang="en-AU">
                              <a:solidFill>
                                <a:schemeClr val="accent1"/>
                              </a:solidFill>
                              <a:latin typeface="Cambria Math" panose="02040503050406030204" pitchFamily="18" charset="0"/>
                            </a:rPr>
                            <m:t>Γ</m:t>
                          </m:r>
                        </m:e>
                      </m:nary>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𝑍</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𝑑𝑍</m:t>
                          </m:r>
                        </m:num>
                        <m:den>
                          <m:r>
                            <a:rPr lang="en-AU" i="1">
                              <a:solidFill>
                                <a:schemeClr val="accent1"/>
                              </a:solidFill>
                              <a:latin typeface="Cambria Math" panose="02040503050406030204" pitchFamily="18" charset="0"/>
                            </a:rPr>
                            <m:t>𝑑𝐸</m:t>
                          </m:r>
                        </m:den>
                      </m:f>
                      <m:r>
                        <a:rPr lang="en-AU" i="1">
                          <a:solidFill>
                            <a:schemeClr val="accent1"/>
                          </a:solidFill>
                          <a:latin typeface="Cambria Math" panose="02040503050406030204" pitchFamily="18" charset="0"/>
                        </a:rPr>
                        <m:t> =</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r>
                        <m:rPr>
                          <m:sty m:val="p"/>
                        </m:rPr>
                        <a:rPr lang="en-AU">
                          <a:solidFill>
                            <a:schemeClr val="accent1"/>
                          </a:solidFill>
                          <a:latin typeface="Cambria Math" panose="02040503050406030204" pitchFamily="18" charset="0"/>
                        </a:rPr>
                        <m:t>ln</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oMath>
                  </m:oMathPara>
                </a14:m>
                <a:endParaRPr lang="en-AU" dirty="0">
                  <a:solidFill>
                    <a:schemeClr val="accent1"/>
                  </a:solidFill>
                </a:endParaRPr>
              </a:p>
              <a:p>
                <a:endParaRPr lang="en-AU" dirty="0">
                  <a:solidFill>
                    <a:schemeClr val="accent1"/>
                  </a:solidFill>
                </a:endParaRPr>
              </a:p>
            </p:txBody>
          </p:sp>
        </mc:Choice>
        <mc:Fallback xmlns="">
          <p:sp>
            <p:nvSpPr>
              <p:cNvPr id="6" name="TextBox 5">
                <a:extLst>
                  <a:ext uri="{FF2B5EF4-FFF2-40B4-BE49-F238E27FC236}">
                    <a16:creationId xmlns:a16="http://schemas.microsoft.com/office/drawing/2014/main" id="{822A9FCD-0B17-1A20-B3A8-E2734ECD12D7}"/>
                  </a:ext>
                </a:extLst>
              </p:cNvPr>
              <p:cNvSpPr txBox="1">
                <a:spLocks noRot="1" noChangeAspect="1" noMove="1" noResize="1" noEditPoints="1" noAdjustHandles="1" noChangeArrowheads="1" noChangeShapeType="1" noTextEdit="1"/>
              </p:cNvSpPr>
              <p:nvPr/>
            </p:nvSpPr>
            <p:spPr>
              <a:xfrm>
                <a:off x="134257" y="0"/>
                <a:ext cx="11923486" cy="7104637"/>
              </a:xfrm>
              <a:prstGeom prst="rect">
                <a:avLst/>
              </a:prstGeom>
              <a:blipFill>
                <a:blip r:embed="rId2"/>
                <a:stretch>
                  <a:fillRect l="-426" t="-357" b="-9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3C57681-2CBA-95E9-8CBC-3CDF03F19497}"/>
                  </a:ext>
                </a:extLst>
              </p:cNvPr>
              <p:cNvSpPr txBox="1"/>
              <p:nvPr/>
            </p:nvSpPr>
            <p:spPr>
              <a:xfrm>
                <a:off x="9262269" y="36576"/>
                <a:ext cx="2905347" cy="971804"/>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𝑍</m:t>
                          </m:r>
                        </m:e>
                        <m:sub>
                          <m:r>
                            <a:rPr lang="en-AU" i="1">
                              <a:latin typeface="Cambria Math" panose="02040503050406030204" pitchFamily="18" charset="0"/>
                            </a:rPr>
                            <m:t>𝑟𝑜</m:t>
                          </m:r>
                          <m:sSub>
                            <m:sSubPr>
                              <m:ctrlPr>
                                <a:rPr lang="en-AU" i="1">
                                  <a:latin typeface="Cambria Math" panose="02040503050406030204" pitchFamily="18" charset="0"/>
                                </a:rPr>
                              </m:ctrlPr>
                            </m:sSubPr>
                            <m:e>
                              <m:r>
                                <a:rPr lang="en-AU" i="1">
                                  <a:latin typeface="Cambria Math" panose="02040503050406030204" pitchFamily="18" charset="0"/>
                                </a:rPr>
                                <m:t>𝑡</m:t>
                              </m:r>
                            </m:e>
                            <m:sub>
                              <m:r>
                                <a:rPr lang="en-AU" i="1">
                                  <a:latin typeface="Cambria Math" panose="02040503050406030204" pitchFamily="18" charset="0"/>
                                </a:rPr>
                                <m:t>1</m:t>
                              </m:r>
                            </m:sub>
                          </m:sSub>
                        </m:sub>
                      </m:sSub>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8</m:t>
                          </m:r>
                          <m:sSup>
                            <m:sSupPr>
                              <m:ctrlPr>
                                <a:rPr lang="en-AU" i="1">
                                  <a:latin typeface="Cambria Math" panose="02040503050406030204" pitchFamily="18" charset="0"/>
                                </a:rPr>
                              </m:ctrlPr>
                            </m:sSupPr>
                            <m:e>
                              <m:r>
                                <a:rPr lang="en-AU" i="1">
                                  <a:latin typeface="Cambria Math" panose="02040503050406030204" pitchFamily="18" charset="0"/>
                                </a:rPr>
                                <m:t>𝜋</m:t>
                              </m:r>
                            </m:e>
                            <m:sup>
                              <m:r>
                                <a:rPr lang="en-AU" i="1">
                                  <a:latin typeface="Cambria Math" panose="02040503050406030204" pitchFamily="18" charset="0"/>
                                </a:rPr>
                                <m:t>2</m:t>
                              </m:r>
                            </m:sup>
                          </m:sSup>
                          <m:r>
                            <a:rPr lang="en-AU" i="1">
                              <a:latin typeface="Cambria Math" panose="02040503050406030204" pitchFamily="18" charset="0"/>
                            </a:rPr>
                            <m:t>𝐼</m:t>
                          </m:r>
                        </m:num>
                        <m:den>
                          <m:sSup>
                            <m:sSupPr>
                              <m:ctrlPr>
                                <a:rPr lang="en-AU" i="1">
                                  <a:latin typeface="Cambria Math" panose="02040503050406030204" pitchFamily="18" charset="0"/>
                                </a:rPr>
                              </m:ctrlPr>
                            </m:sSupPr>
                            <m:e>
                              <m:r>
                                <a:rPr lang="en-AU" i="1">
                                  <a:latin typeface="Cambria Math" panose="02040503050406030204" pitchFamily="18" charset="0"/>
                                </a:rPr>
                                <m:t>h</m:t>
                              </m:r>
                            </m:e>
                            <m:sup>
                              <m:r>
                                <a:rPr lang="en-AU" i="1">
                                  <a:latin typeface="Cambria Math" panose="02040503050406030204" pitchFamily="18" charset="0"/>
                                </a:rPr>
                                <m:t>2</m:t>
                              </m:r>
                            </m:sup>
                          </m:sSup>
                          <m:sSup>
                            <m:sSupPr>
                              <m:ctrlPr>
                                <a:rPr lang="en-AU" i="1">
                                  <a:latin typeface="Cambria Math" panose="02040503050406030204" pitchFamily="18" charset="0"/>
                                </a:rPr>
                              </m:ctrlPr>
                            </m:sSupPr>
                            <m:e>
                              <m:r>
                                <a:rPr lang="en-AU" i="1">
                                  <a:latin typeface="Cambria Math" panose="02040503050406030204" pitchFamily="18" charset="0"/>
                                </a:rPr>
                                <m:t>𝛽</m:t>
                              </m:r>
                            </m:e>
                            <m:sup>
                              <m:r>
                                <a:rPr lang="en-AU" i="1">
                                  <a:latin typeface="Cambria Math" panose="02040503050406030204" pitchFamily="18" charset="0"/>
                                </a:rPr>
                                <m:t>2</m:t>
                              </m:r>
                            </m:sup>
                          </m:sSup>
                          <m:r>
                            <a:rPr lang="en-AU" i="1">
                              <a:latin typeface="Cambria Math" panose="02040503050406030204" pitchFamily="18" charset="0"/>
                            </a:rPr>
                            <m:t>𝜇</m:t>
                          </m:r>
                          <m:r>
                            <a:rPr lang="en-AU" i="1">
                              <a:latin typeface="Cambria Math" panose="02040503050406030204" pitchFamily="18" charset="0"/>
                            </a:rPr>
                            <m:t>𝐸</m:t>
                          </m:r>
                        </m:den>
                      </m:f>
                      <m:r>
                        <m:rPr>
                          <m:sty m:val="p"/>
                        </m:rPr>
                        <a:rPr lang="en-AU">
                          <a:latin typeface="Cambria Math" panose="02040503050406030204" pitchFamily="18" charset="0"/>
                        </a:rPr>
                        <m:t>sinh</m:t>
                      </m:r>
                      <m:r>
                        <a:rPr lang="en-AU" i="1">
                          <a:latin typeface="Cambria Math" panose="02040503050406030204" pitchFamily="18" charset="0"/>
                        </a:rPr>
                        <m:t>(</m:t>
                      </m:r>
                      <m:r>
                        <a:rPr lang="en-AU" i="1">
                          <a:latin typeface="Cambria Math" panose="02040503050406030204" pitchFamily="18" charset="0"/>
                        </a:rPr>
                        <m:t>𝛽𝜇</m:t>
                      </m:r>
                      <m:r>
                        <a:rPr lang="en-AU" i="1">
                          <a:latin typeface="Cambria Math" panose="02040503050406030204" pitchFamily="18" charset="0"/>
                        </a:rPr>
                        <m:t>𝐸</m:t>
                      </m:r>
                      <m:r>
                        <a:rPr lang="en-AU" i="1">
                          <a:latin typeface="Cambria Math" panose="02040503050406030204" pitchFamily="18" charset="0"/>
                        </a:rPr>
                        <m:t>)</m:t>
                      </m:r>
                    </m:oMath>
                  </m:oMathPara>
                </a14:m>
                <a:endParaRPr lang="en-AU" dirty="0"/>
              </a:p>
              <a:p>
                <a:endParaRPr lang="en-US" dirty="0"/>
              </a:p>
            </p:txBody>
          </p:sp>
        </mc:Choice>
        <mc:Fallback xmlns="">
          <p:sp>
            <p:nvSpPr>
              <p:cNvPr id="2" name="TextBox 1">
                <a:extLst>
                  <a:ext uri="{FF2B5EF4-FFF2-40B4-BE49-F238E27FC236}">
                    <a16:creationId xmlns:a16="http://schemas.microsoft.com/office/drawing/2014/main" id="{C3C57681-2CBA-95E9-8CBC-3CDF03F19497}"/>
                  </a:ext>
                </a:extLst>
              </p:cNvPr>
              <p:cNvSpPr txBox="1">
                <a:spLocks noRot="1" noChangeAspect="1" noMove="1" noResize="1" noEditPoints="1" noAdjustHandles="1" noChangeArrowheads="1" noChangeShapeType="1" noTextEdit="1"/>
              </p:cNvSpPr>
              <p:nvPr/>
            </p:nvSpPr>
            <p:spPr>
              <a:xfrm>
                <a:off x="9262269" y="36576"/>
                <a:ext cx="2905347" cy="9718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172257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88747-8EA2-5798-2027-D7216EBE97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A785150-C7C6-75BA-3646-942FF4367994}"/>
                  </a:ext>
                </a:extLst>
              </p:cNvPr>
              <p:cNvSpPr txBox="1"/>
              <p:nvPr/>
            </p:nvSpPr>
            <p:spPr>
              <a:xfrm>
                <a:off x="24384" y="522478"/>
                <a:ext cx="11923486" cy="29936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smtClean="0">
                          <a:solidFill>
                            <a:schemeClr val="accent1"/>
                          </a:solidFill>
                          <a:latin typeface="Cambria Math" panose="02040503050406030204" pitchFamily="18" charset="0"/>
                        </a:rPr>
                        <m:t>∴</m:t>
                      </m:r>
                      <m:r>
                        <a:rPr lang="en-AU" b="0" i="1" smtClean="0">
                          <a:solidFill>
                            <a:schemeClr val="accent1"/>
                          </a:solidFill>
                          <a:latin typeface="Cambria Math" panose="02040503050406030204" pitchFamily="18" charset="0"/>
                        </a:rPr>
                        <m:t>𝑃</m:t>
                      </m:r>
                      <m:r>
                        <a:rPr lang="en-AU" b="0" i="1" smtClean="0">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r>
                        <m:rPr>
                          <m:sty m:val="p"/>
                        </m:rPr>
                        <a:rPr lang="en-AU">
                          <a:solidFill>
                            <a:schemeClr val="accent1"/>
                          </a:solidFill>
                          <a:latin typeface="Cambria Math" panose="02040503050406030204" pitchFamily="18" charset="0"/>
                        </a:rPr>
                        <m:t>ln</m:t>
                      </m:r>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𝑍</m:t>
                      </m:r>
                      <m:r>
                        <a:rPr lang="en-AU" i="1">
                          <a:solidFill>
                            <a:schemeClr val="accent1"/>
                          </a:solidFill>
                          <a:latin typeface="Cambria Math" panose="02040503050406030204" pitchFamily="18" charset="0"/>
                        </a:rPr>
                        <m:t>)</m:t>
                      </m:r>
                    </m:oMath>
                  </m:oMathPara>
                </a14:m>
                <a:endParaRPr lang="en-AU" dirty="0">
                  <a:solidFill>
                    <a:schemeClr val="accent1"/>
                  </a:solidFill>
                </a:endParaRPr>
              </a:p>
              <a:p>
                <a:endParaRPr lang="en-AU" i="1"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𝑃</m:t>
                      </m:r>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ln</m:t>
                          </m:r>
                        </m:fName>
                        <m:e>
                          <m:d>
                            <m:dPr>
                              <m:ctrlPr>
                                <a:rPr lang="en-AU" i="1">
                                  <a:solidFill>
                                    <a:schemeClr val="accent1"/>
                                  </a:solidFill>
                                  <a:latin typeface="Cambria Math" panose="02040503050406030204" pitchFamily="18" charset="0"/>
                                </a:rPr>
                              </m:ctrlPr>
                            </m:dPr>
                            <m:e>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8</m:t>
                                  </m:r>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𝜋</m:t>
                                      </m:r>
                                    </m:e>
                                    <m:sup>
                                      <m:r>
                                        <a:rPr lang="en-AU" i="1">
                                          <a:solidFill>
                                            <a:schemeClr val="accent1"/>
                                          </a:solidFill>
                                          <a:latin typeface="Cambria Math" panose="02040503050406030204" pitchFamily="18" charset="0"/>
                                        </a:rPr>
                                        <m:t>2</m:t>
                                      </m:r>
                                    </m:sup>
                                  </m:sSup>
                                  <m:r>
                                    <a:rPr lang="en-AU" i="1">
                                      <a:solidFill>
                                        <a:schemeClr val="accent1"/>
                                      </a:solidFill>
                                      <a:latin typeface="Cambria Math" panose="02040503050406030204" pitchFamily="18" charset="0"/>
                                    </a:rPr>
                                    <m:t>𝐼</m:t>
                                  </m:r>
                                </m:num>
                                <m:den>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h</m:t>
                                      </m:r>
                                    </m:e>
                                    <m:sup>
                                      <m:r>
                                        <a:rPr lang="en-AU" i="1">
                                          <a:solidFill>
                                            <a:schemeClr val="accent1"/>
                                          </a:solidFill>
                                          <a:latin typeface="Cambria Math" panose="02040503050406030204" pitchFamily="18" charset="0"/>
                                        </a:rPr>
                                        <m:t>2</m:t>
                                      </m:r>
                                    </m:sup>
                                  </m:sSup>
                                  <m:sSup>
                                    <m:sSupPr>
                                      <m:ctrlPr>
                                        <a:rPr lang="en-AU" i="1">
                                          <a:solidFill>
                                            <a:schemeClr val="accent1"/>
                                          </a:solidFill>
                                          <a:latin typeface="Cambria Math" panose="02040503050406030204" pitchFamily="18" charset="0"/>
                                        </a:rPr>
                                      </m:ctrlPr>
                                    </m:sSupPr>
                                    <m:e>
                                      <m:r>
                                        <a:rPr lang="en-AU" i="1">
                                          <a:solidFill>
                                            <a:schemeClr val="accent1"/>
                                          </a:solidFill>
                                          <a:latin typeface="Cambria Math" panose="02040503050406030204" pitchFamily="18" charset="0"/>
                                        </a:rPr>
                                        <m:t>𝛽</m:t>
                                      </m:r>
                                    </m:e>
                                    <m:sup>
                                      <m:r>
                                        <a:rPr lang="en-AU" i="1">
                                          <a:solidFill>
                                            <a:schemeClr val="accent1"/>
                                          </a:solidFill>
                                          <a:latin typeface="Cambria Math" panose="02040503050406030204" pitchFamily="18" charset="0"/>
                                        </a:rPr>
                                        <m:t>2</m:t>
                                      </m:r>
                                    </m:sup>
                                  </m:sSup>
                                  <m:r>
                                    <a:rPr lang="en-AU" i="1">
                                      <a:solidFill>
                                        <a:schemeClr val="accent1"/>
                                      </a:solidFill>
                                      <a:latin typeface="Cambria Math" panose="02040503050406030204" pitchFamily="18" charset="0"/>
                                    </a:rPr>
                                    <m:t>𝜇</m:t>
                                  </m:r>
                                  <m:r>
                                    <a:rPr lang="en-AU" i="1">
                                      <a:solidFill>
                                        <a:schemeClr val="accent1"/>
                                      </a:solidFill>
                                      <a:latin typeface="Cambria Math" panose="02040503050406030204" pitchFamily="18" charset="0"/>
                                    </a:rPr>
                                    <m:t>𝐸</m:t>
                                  </m:r>
                                </m:den>
                              </m:f>
                              <m:func>
                                <m:funcPr>
                                  <m:ctrlPr>
                                    <a:rPr lang="en-AU" i="1">
                                      <a:solidFill>
                                        <a:schemeClr val="accent1"/>
                                      </a:solidFill>
                                      <a:latin typeface="Cambria Math" panose="02040503050406030204" pitchFamily="18" charset="0"/>
                                    </a:rPr>
                                  </m:ctrlPr>
                                </m:funcPr>
                                <m:fName>
                                  <m:r>
                                    <a:rPr lang="en-AU" i="1">
                                      <a:solidFill>
                                        <a:schemeClr val="accent1"/>
                                      </a:solidFill>
                                      <a:latin typeface="Cambria Math" panose="02040503050406030204" pitchFamily="18" charset="0"/>
                                    </a:rPr>
                                    <m:t>𝑠𝑖𝑛h</m:t>
                                  </m:r>
                                </m:fName>
                                <m:e>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e>
                                  </m:d>
                                </m:e>
                              </m:func>
                            </m:e>
                          </m:d>
                        </m:e>
                      </m:func>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den>
                      </m:f>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𝑑</m:t>
                          </m:r>
                        </m:num>
                        <m:den>
                          <m:r>
                            <a:rPr lang="en-AU" i="1">
                              <a:solidFill>
                                <a:schemeClr val="accent1"/>
                              </a:solidFill>
                              <a:latin typeface="Cambria Math" panose="02040503050406030204" pitchFamily="18" charset="0"/>
                            </a:rPr>
                            <m:t>𝑑𝐸</m:t>
                          </m:r>
                        </m:den>
                      </m:f>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ln</m:t>
                              </m:r>
                            </m:fName>
                            <m:e>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𝐸</m:t>
                                  </m:r>
                                </m:e>
                              </m:d>
                            </m:e>
                          </m:func>
                          <m:r>
                            <a:rPr lang="en-AU" i="1">
                              <a:solidFill>
                                <a:schemeClr val="accent1"/>
                              </a:solidFill>
                              <a:latin typeface="Cambria Math" panose="02040503050406030204" pitchFamily="18" charset="0"/>
                            </a:rPr>
                            <m:t>+</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ln</m:t>
                              </m:r>
                            </m:fName>
                            <m:e>
                              <m:d>
                                <m:dPr>
                                  <m:ctrlPr>
                                    <a:rPr lang="en-AU" i="1">
                                      <a:solidFill>
                                        <a:schemeClr val="accent1"/>
                                      </a:solidFill>
                                      <a:latin typeface="Cambria Math" panose="02040503050406030204" pitchFamily="18" charset="0"/>
                                    </a:rPr>
                                  </m:ctrlPr>
                                </m:dPr>
                                <m:e>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sinh</m:t>
                                      </m:r>
                                    </m:fName>
                                    <m:e>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e>
                                      </m:d>
                                    </m:e>
                                  </m:func>
                                </m:e>
                              </m:d>
                            </m:e>
                          </m:func>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𝑐𝑜𝑛𝑠𝑡𝑎𝑛𝑡𝑠</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𝑤𝑟𝑡</m:t>
                          </m:r>
                          <m:r>
                            <a:rPr lang="en-AU" i="1">
                              <a:solidFill>
                                <a:schemeClr val="accent1"/>
                              </a:solidFill>
                              <a:latin typeface="Cambria Math" panose="02040503050406030204" pitchFamily="18" charset="0"/>
                            </a:rPr>
                            <m:t> </m:t>
                          </m:r>
                          <m:r>
                            <a:rPr lang="en-AU" i="1">
                              <a:solidFill>
                                <a:schemeClr val="accent1"/>
                              </a:solidFill>
                              <a:latin typeface="Cambria Math" panose="02040503050406030204" pitchFamily="18" charset="0"/>
                            </a:rPr>
                            <m:t>𝐸</m:t>
                          </m:r>
                        </m:e>
                      </m:d>
                    </m:oMath>
                  </m:oMathPara>
                </a14:m>
                <a:endParaRPr lang="en-AU" dirty="0">
                  <a:solidFill>
                    <a:schemeClr val="accent1"/>
                  </a:solidFill>
                </a:endParaRPr>
              </a:p>
              <a:p>
                <a:pPr/>
                <a14:m>
                  <m:oMathPara xmlns:m="http://schemas.openxmlformats.org/officeDocument/2006/math">
                    <m:oMathParaPr>
                      <m:jc m:val="centerGroup"/>
                    </m:oMathParaPr>
                    <m:oMath xmlns:m="http://schemas.openxmlformats.org/officeDocument/2006/math">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den>
                      </m:f>
                      <m:d>
                        <m:dPr>
                          <m:ctrlPr>
                            <a:rPr lang="en-AU" i="1">
                              <a:solidFill>
                                <a:schemeClr val="accent1"/>
                              </a:solidFill>
                              <a:latin typeface="Cambria Math" panose="02040503050406030204" pitchFamily="18" charset="0"/>
                            </a:rPr>
                          </m:ctrlPr>
                        </m:dPr>
                        <m:e>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1</m:t>
                              </m:r>
                            </m:num>
                            <m:den>
                              <m:r>
                                <a:rPr lang="en-AU" i="1">
                                  <a:solidFill>
                                    <a:schemeClr val="accent1"/>
                                  </a:solidFill>
                                  <a:latin typeface="Cambria Math" panose="02040503050406030204" pitchFamily="18" charset="0"/>
                                </a:rPr>
                                <m:t>𝐸</m:t>
                              </m:r>
                            </m:den>
                          </m:f>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𝜇𝛽</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coth</m:t>
                              </m:r>
                            </m:fName>
                            <m:e>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e>
                          </m:func>
                        </m:e>
                      </m:d>
                      <m:r>
                        <a:rPr lang="en-AU" i="1">
                          <a:solidFill>
                            <a:schemeClr val="accent1"/>
                          </a:solidFill>
                          <a:latin typeface="Cambria Math" panose="02040503050406030204" pitchFamily="18" charset="0"/>
                        </a:rPr>
                        <m:t>=</m:t>
                      </m:r>
                      <m:r>
                        <a:rPr lang="en-AU" i="1">
                          <a:solidFill>
                            <a:schemeClr val="accent1"/>
                          </a:solidFill>
                          <a:latin typeface="Cambria Math" panose="02040503050406030204" pitchFamily="18" charset="0"/>
                        </a:rPr>
                        <m:t>𝑛</m:t>
                      </m:r>
                      <m:r>
                        <a:rPr lang="en-AU" i="1">
                          <a:solidFill>
                            <a:schemeClr val="accent1"/>
                          </a:solidFill>
                          <a:latin typeface="Cambria Math" panose="02040503050406030204" pitchFamily="18" charset="0"/>
                        </a:rPr>
                        <m:t>𝜇</m:t>
                      </m:r>
                      <m:func>
                        <m:funcPr>
                          <m:ctrlPr>
                            <a:rPr lang="en-AU" i="1">
                              <a:solidFill>
                                <a:schemeClr val="accent1"/>
                              </a:solidFill>
                              <a:latin typeface="Cambria Math" panose="02040503050406030204" pitchFamily="18" charset="0"/>
                            </a:rPr>
                          </m:ctrlPr>
                        </m:funcPr>
                        <m:fName>
                          <m:r>
                            <m:rPr>
                              <m:sty m:val="p"/>
                            </m:rPr>
                            <a:rPr lang="en-AU">
                              <a:solidFill>
                                <a:schemeClr val="accent1"/>
                              </a:solidFill>
                              <a:latin typeface="Cambria Math" panose="02040503050406030204" pitchFamily="18" charset="0"/>
                            </a:rPr>
                            <m:t>coth</m:t>
                          </m:r>
                        </m:fName>
                        <m:e>
                          <m:r>
                            <a:rPr lang="en-AU" i="1">
                              <a:solidFill>
                                <a:schemeClr val="accent1"/>
                              </a:solidFill>
                              <a:latin typeface="Cambria Math" panose="02040503050406030204" pitchFamily="18" charset="0"/>
                            </a:rPr>
                            <m:t>𝛽𝜇</m:t>
                          </m:r>
                          <m:r>
                            <a:rPr lang="en-AU" i="1">
                              <a:solidFill>
                                <a:schemeClr val="accent1"/>
                              </a:solidFill>
                              <a:latin typeface="Cambria Math" panose="02040503050406030204" pitchFamily="18" charset="0"/>
                            </a:rPr>
                            <m:t>𝐸</m:t>
                          </m:r>
                        </m:e>
                      </m:func>
                      <m:r>
                        <a:rPr lang="en-AU" i="1">
                          <a:solidFill>
                            <a:schemeClr val="accent1"/>
                          </a:solidFill>
                          <a:latin typeface="Cambria Math" panose="02040503050406030204" pitchFamily="18" charset="0"/>
                        </a:rPr>
                        <m:t>−</m:t>
                      </m:r>
                      <m:f>
                        <m:fPr>
                          <m:ctrlPr>
                            <a:rPr lang="en-AU" i="1">
                              <a:solidFill>
                                <a:schemeClr val="accent1"/>
                              </a:solidFill>
                              <a:latin typeface="Cambria Math" panose="02040503050406030204" pitchFamily="18" charset="0"/>
                            </a:rPr>
                          </m:ctrlPr>
                        </m:fPr>
                        <m:num>
                          <m:r>
                            <a:rPr lang="en-AU" i="1">
                              <a:solidFill>
                                <a:schemeClr val="accent1"/>
                              </a:solidFill>
                              <a:latin typeface="Cambria Math" panose="02040503050406030204" pitchFamily="18" charset="0"/>
                            </a:rPr>
                            <m:t>𝑛</m:t>
                          </m:r>
                        </m:num>
                        <m:den>
                          <m:r>
                            <a:rPr lang="en-AU" i="1">
                              <a:solidFill>
                                <a:schemeClr val="accent1"/>
                              </a:solidFill>
                              <a:latin typeface="Cambria Math" panose="02040503050406030204" pitchFamily="18" charset="0"/>
                            </a:rPr>
                            <m:t>𝛽</m:t>
                          </m:r>
                          <m:r>
                            <a:rPr lang="en-AU" i="1">
                              <a:solidFill>
                                <a:schemeClr val="accent1"/>
                              </a:solidFill>
                              <a:latin typeface="Cambria Math" panose="02040503050406030204" pitchFamily="18" charset="0"/>
                            </a:rPr>
                            <m:t>𝐸</m:t>
                          </m:r>
                        </m:den>
                      </m:f>
                    </m:oMath>
                  </m:oMathPara>
                </a14:m>
                <a:endParaRPr lang="en-AU" dirty="0">
                  <a:solidFill>
                    <a:schemeClr val="accent1"/>
                  </a:solidFill>
                </a:endParaRPr>
              </a:p>
              <a:p>
                <a:endParaRPr lang="en-AU" dirty="0">
                  <a:solidFill>
                    <a:schemeClr val="accent1"/>
                  </a:solidFill>
                </a:endParaRPr>
              </a:p>
            </p:txBody>
          </p:sp>
        </mc:Choice>
        <mc:Fallback xmlns="">
          <p:sp>
            <p:nvSpPr>
              <p:cNvPr id="6" name="TextBox 5">
                <a:extLst>
                  <a:ext uri="{FF2B5EF4-FFF2-40B4-BE49-F238E27FC236}">
                    <a16:creationId xmlns:a16="http://schemas.microsoft.com/office/drawing/2014/main" id="{FA785150-C7C6-75BA-3646-942FF4367994}"/>
                  </a:ext>
                </a:extLst>
              </p:cNvPr>
              <p:cNvSpPr txBox="1">
                <a:spLocks noRot="1" noChangeAspect="1" noMove="1" noResize="1" noEditPoints="1" noAdjustHandles="1" noChangeArrowheads="1" noChangeShapeType="1" noTextEdit="1"/>
              </p:cNvSpPr>
              <p:nvPr/>
            </p:nvSpPr>
            <p:spPr>
              <a:xfrm>
                <a:off x="24384" y="522478"/>
                <a:ext cx="11923486" cy="29936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466EACA-B790-A526-D076-792926DD0DD6}"/>
                  </a:ext>
                </a:extLst>
              </p:cNvPr>
              <p:cNvSpPr txBox="1"/>
              <p:nvPr/>
            </p:nvSpPr>
            <p:spPr>
              <a:xfrm>
                <a:off x="9262269" y="36576"/>
                <a:ext cx="2905347" cy="971804"/>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𝑍</m:t>
                          </m:r>
                        </m:e>
                        <m:sub>
                          <m:r>
                            <a:rPr lang="en-AU" i="1">
                              <a:latin typeface="Cambria Math" panose="02040503050406030204" pitchFamily="18" charset="0"/>
                            </a:rPr>
                            <m:t>𝑟𝑜</m:t>
                          </m:r>
                          <m:sSub>
                            <m:sSubPr>
                              <m:ctrlPr>
                                <a:rPr lang="en-AU" i="1">
                                  <a:latin typeface="Cambria Math" panose="02040503050406030204" pitchFamily="18" charset="0"/>
                                </a:rPr>
                              </m:ctrlPr>
                            </m:sSubPr>
                            <m:e>
                              <m:r>
                                <a:rPr lang="en-AU" i="1">
                                  <a:latin typeface="Cambria Math" panose="02040503050406030204" pitchFamily="18" charset="0"/>
                                </a:rPr>
                                <m:t>𝑡</m:t>
                              </m:r>
                            </m:e>
                            <m:sub>
                              <m:r>
                                <a:rPr lang="en-AU" i="1">
                                  <a:latin typeface="Cambria Math" panose="02040503050406030204" pitchFamily="18" charset="0"/>
                                </a:rPr>
                                <m:t>1</m:t>
                              </m:r>
                            </m:sub>
                          </m:sSub>
                        </m:sub>
                      </m:sSub>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8</m:t>
                          </m:r>
                          <m:sSup>
                            <m:sSupPr>
                              <m:ctrlPr>
                                <a:rPr lang="en-AU" i="1">
                                  <a:latin typeface="Cambria Math" panose="02040503050406030204" pitchFamily="18" charset="0"/>
                                </a:rPr>
                              </m:ctrlPr>
                            </m:sSupPr>
                            <m:e>
                              <m:r>
                                <a:rPr lang="en-AU" i="1">
                                  <a:latin typeface="Cambria Math" panose="02040503050406030204" pitchFamily="18" charset="0"/>
                                </a:rPr>
                                <m:t>𝜋</m:t>
                              </m:r>
                            </m:e>
                            <m:sup>
                              <m:r>
                                <a:rPr lang="en-AU" i="1">
                                  <a:latin typeface="Cambria Math" panose="02040503050406030204" pitchFamily="18" charset="0"/>
                                </a:rPr>
                                <m:t>2</m:t>
                              </m:r>
                            </m:sup>
                          </m:sSup>
                          <m:r>
                            <a:rPr lang="en-AU" i="1">
                              <a:latin typeface="Cambria Math" panose="02040503050406030204" pitchFamily="18" charset="0"/>
                            </a:rPr>
                            <m:t>𝐼</m:t>
                          </m:r>
                        </m:num>
                        <m:den>
                          <m:sSup>
                            <m:sSupPr>
                              <m:ctrlPr>
                                <a:rPr lang="en-AU" i="1">
                                  <a:latin typeface="Cambria Math" panose="02040503050406030204" pitchFamily="18" charset="0"/>
                                </a:rPr>
                              </m:ctrlPr>
                            </m:sSupPr>
                            <m:e>
                              <m:r>
                                <a:rPr lang="en-AU" i="1">
                                  <a:latin typeface="Cambria Math" panose="02040503050406030204" pitchFamily="18" charset="0"/>
                                </a:rPr>
                                <m:t>h</m:t>
                              </m:r>
                            </m:e>
                            <m:sup>
                              <m:r>
                                <a:rPr lang="en-AU" i="1">
                                  <a:latin typeface="Cambria Math" panose="02040503050406030204" pitchFamily="18" charset="0"/>
                                </a:rPr>
                                <m:t>2</m:t>
                              </m:r>
                            </m:sup>
                          </m:sSup>
                          <m:sSup>
                            <m:sSupPr>
                              <m:ctrlPr>
                                <a:rPr lang="en-AU" i="1">
                                  <a:latin typeface="Cambria Math" panose="02040503050406030204" pitchFamily="18" charset="0"/>
                                </a:rPr>
                              </m:ctrlPr>
                            </m:sSupPr>
                            <m:e>
                              <m:r>
                                <a:rPr lang="en-AU" i="1">
                                  <a:latin typeface="Cambria Math" panose="02040503050406030204" pitchFamily="18" charset="0"/>
                                </a:rPr>
                                <m:t>𝛽</m:t>
                              </m:r>
                            </m:e>
                            <m:sup>
                              <m:r>
                                <a:rPr lang="en-AU" i="1">
                                  <a:latin typeface="Cambria Math" panose="02040503050406030204" pitchFamily="18" charset="0"/>
                                </a:rPr>
                                <m:t>2</m:t>
                              </m:r>
                            </m:sup>
                          </m:sSup>
                          <m:r>
                            <a:rPr lang="en-AU" i="1">
                              <a:latin typeface="Cambria Math" panose="02040503050406030204" pitchFamily="18" charset="0"/>
                            </a:rPr>
                            <m:t>𝜇</m:t>
                          </m:r>
                          <m:r>
                            <a:rPr lang="en-AU" i="1">
                              <a:latin typeface="Cambria Math" panose="02040503050406030204" pitchFamily="18" charset="0"/>
                            </a:rPr>
                            <m:t>𝐸</m:t>
                          </m:r>
                        </m:den>
                      </m:f>
                      <m:r>
                        <m:rPr>
                          <m:sty m:val="p"/>
                        </m:rPr>
                        <a:rPr lang="en-AU">
                          <a:latin typeface="Cambria Math" panose="02040503050406030204" pitchFamily="18" charset="0"/>
                        </a:rPr>
                        <m:t>sinh</m:t>
                      </m:r>
                      <m:r>
                        <a:rPr lang="en-AU" i="1">
                          <a:latin typeface="Cambria Math" panose="02040503050406030204" pitchFamily="18" charset="0"/>
                        </a:rPr>
                        <m:t>(</m:t>
                      </m:r>
                      <m:r>
                        <a:rPr lang="en-AU" i="1">
                          <a:latin typeface="Cambria Math" panose="02040503050406030204" pitchFamily="18" charset="0"/>
                        </a:rPr>
                        <m:t>𝛽𝜇</m:t>
                      </m:r>
                      <m:r>
                        <a:rPr lang="en-AU" i="1">
                          <a:latin typeface="Cambria Math" panose="02040503050406030204" pitchFamily="18" charset="0"/>
                        </a:rPr>
                        <m:t>𝐸</m:t>
                      </m:r>
                      <m:r>
                        <a:rPr lang="en-AU" i="1">
                          <a:latin typeface="Cambria Math" panose="02040503050406030204" pitchFamily="18" charset="0"/>
                        </a:rPr>
                        <m:t>)</m:t>
                      </m:r>
                    </m:oMath>
                  </m:oMathPara>
                </a14:m>
                <a:endParaRPr lang="en-AU" dirty="0"/>
              </a:p>
              <a:p>
                <a:endParaRPr lang="en-US" dirty="0"/>
              </a:p>
            </p:txBody>
          </p:sp>
        </mc:Choice>
        <mc:Fallback xmlns="">
          <p:sp>
            <p:nvSpPr>
              <p:cNvPr id="2" name="TextBox 1">
                <a:extLst>
                  <a:ext uri="{FF2B5EF4-FFF2-40B4-BE49-F238E27FC236}">
                    <a16:creationId xmlns:a16="http://schemas.microsoft.com/office/drawing/2014/main" id="{D466EACA-B790-A526-D076-792926DD0DD6}"/>
                  </a:ext>
                </a:extLst>
              </p:cNvPr>
              <p:cNvSpPr txBox="1">
                <a:spLocks noRot="1" noChangeAspect="1" noMove="1" noResize="1" noEditPoints="1" noAdjustHandles="1" noChangeArrowheads="1" noChangeShapeType="1" noTextEdit="1"/>
              </p:cNvSpPr>
              <p:nvPr/>
            </p:nvSpPr>
            <p:spPr>
              <a:xfrm>
                <a:off x="9262269" y="36576"/>
                <a:ext cx="2905347" cy="9718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329687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2022</TotalTime>
  <Words>1877</Words>
  <Application>Microsoft Macintosh PowerPoint</Application>
  <PresentationFormat>Widescreen</PresentationFormat>
  <Paragraphs>115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 Math</vt:lpstr>
      <vt:lpstr>Wingdings</vt:lpstr>
      <vt:lpstr>Office Theme</vt:lpstr>
      <vt:lpstr>Week 8</vt:lpstr>
      <vt:lpstr>Warm up questions!</vt:lpstr>
      <vt:lpstr>PowerPoint Presentation</vt:lpstr>
      <vt:lpstr>PowerPoint Presentation</vt:lpstr>
      <vt:lpstr>PowerPoint Presentation</vt:lpstr>
      <vt:lpstr>PowerPoint Presentation</vt:lpstr>
      <vt:lpstr>PowerPoint Presentation</vt:lpstr>
      <vt:lpstr>Consider two different types of gas particles in a box: red particles and green particles. They have no internal degrees of freedom and do not interact. All red particles are indistinguishable from each other, as are all green ones. However, with trichromatic vision, red particles can be distinguished from green particles. All particles are nonrelativistic and have quadratic dispersion ϵ=p^2/2m,  where m is the mass of both red and green particles and p is the magnitude of the particle’s momentum. Inside the box are N_r red particles and N_g green particles. The box has volume V and is kept at temperature T. What is the partition function?</vt:lpstr>
      <vt:lpstr>Consider two different types of gas particles in a box: red particles and green particles. They have no internal degrees of freedom and do not interact. All red particles are indistinguishable from each other, as are all green ones. However, with trichromatic vision, red particles can be distinguished from green particles. All particles are nonrelativistic and have quadratic dispersion ϵ=p^2/2m,  where m is the mass of both red and green particles and p is the magnitude of the particle’s momentum. Inside the box are N_r red particles and N_g green particles. The box has volume V and is kept at temperature T. What is the partition function?</vt:lpstr>
      <vt:lpstr>PowerPoint Presentation</vt:lpstr>
      <vt:lpstr>PowerPoint Presentation</vt:lpstr>
      <vt:lpstr>PowerPoint Presentation</vt:lpstr>
      <vt:lpstr>Consider a dilute gas made up of molecules which have a permanent electric dipole moment μ. We treat the dipoles as classical rods with moment of inertia I. The Hamiltonian of a molecule in an electric field E pointing in the z-direction can be written as H=T_trans+T_rot-μEcosθ Where θ is the azimuthal angle and T_rot=1/2 I(θ ̇^2+ϕ ̇^2  sin^2⁡θ ).  The canonical partition function for the non-interacting gas can be written as Z=Z_1^N, where Z_1=Z_trans Z_rot.     a) Write H in terms of canonical momenta: p_θ=Iθ ̇, p_ϕ=I ϕ ̇ sin^2⁡θ   and hence show that Z_(rot_1 )=(8π^2 I)/(h^2 β^2 μE) sinh(βμE)</vt:lpstr>
      <vt:lpstr>Consider a dilute gas made up of molecules which have a permanent electric dipole moment μ. We treat the dipoles as classical rods with moment of inertia I. The Hamiltonian of a molecule in an electric field E pointing in the z-direction can be written as H=T_trans+T_rot-μEcosθ Where θ is the azimuthal angle and T_rot=1/2 I(θ ̇^2+ϕ ̇^2  sin^2⁡θ ).  The canonical partition function for the non-interacting gas can be written as Z=Z_1^N,. where Z_1=Z_trans Z_rot     Write H in terms of canonical momenta: p_θ=Iθ ̇, p_ϕ=I ϕ ̇ sin^2⁡θ   and hence show that Z_(rot_1 )=(8π^2 I)/(h^2 β^2 μE) sinh(βμE)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Alix Crowe</dc:creator>
  <cp:lastModifiedBy>Alix Crowe</cp:lastModifiedBy>
  <cp:revision>6</cp:revision>
  <dcterms:created xsi:type="dcterms:W3CDTF">2026-03-31T04:30:03Z</dcterms:created>
  <dcterms:modified xsi:type="dcterms:W3CDTF">2026-04-08T23:46:06Z</dcterms:modified>
</cp:coreProperties>
</file>